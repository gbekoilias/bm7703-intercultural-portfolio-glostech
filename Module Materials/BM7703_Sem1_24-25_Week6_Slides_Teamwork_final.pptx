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5"/>
    <p:sldMasterId id="2147483770" r:id="rId6"/>
    <p:sldMasterId id="2147483747" r:id="rId7"/>
    <p:sldMasterId id="2147483980" r:id="rId8"/>
  </p:sldMasterIdLst>
  <p:notesMasterIdLst>
    <p:notesMasterId r:id="rId87"/>
  </p:notesMasterIdLst>
  <p:handoutMasterIdLst>
    <p:handoutMasterId r:id="rId88"/>
  </p:handoutMasterIdLst>
  <p:sldIdLst>
    <p:sldId id="420" r:id="rId9"/>
    <p:sldId id="462" r:id="rId10"/>
    <p:sldId id="463" r:id="rId11"/>
    <p:sldId id="465" r:id="rId12"/>
    <p:sldId id="421" r:id="rId13"/>
    <p:sldId id="467" r:id="rId14"/>
    <p:sldId id="422" r:id="rId15"/>
    <p:sldId id="423" r:id="rId16"/>
    <p:sldId id="439" r:id="rId17"/>
    <p:sldId id="424" r:id="rId18"/>
    <p:sldId id="440" r:id="rId19"/>
    <p:sldId id="425" r:id="rId20"/>
    <p:sldId id="426" r:id="rId21"/>
    <p:sldId id="427" r:id="rId22"/>
    <p:sldId id="428" r:id="rId23"/>
    <p:sldId id="429" r:id="rId24"/>
    <p:sldId id="468" r:id="rId25"/>
    <p:sldId id="309" r:id="rId26"/>
    <p:sldId id="310" r:id="rId27"/>
    <p:sldId id="311" r:id="rId28"/>
    <p:sldId id="313" r:id="rId29"/>
    <p:sldId id="466" r:id="rId30"/>
    <p:sldId id="469" r:id="rId31"/>
    <p:sldId id="644" r:id="rId32"/>
    <p:sldId id="668" r:id="rId33"/>
    <p:sldId id="642" r:id="rId34"/>
    <p:sldId id="395" r:id="rId35"/>
    <p:sldId id="451" r:id="rId36"/>
    <p:sldId id="452" r:id="rId37"/>
    <p:sldId id="643" r:id="rId38"/>
    <p:sldId id="453" r:id="rId39"/>
    <p:sldId id="454" r:id="rId40"/>
    <p:sldId id="455" r:id="rId41"/>
    <p:sldId id="456" r:id="rId42"/>
    <p:sldId id="401" r:id="rId43"/>
    <p:sldId id="457" r:id="rId44"/>
    <p:sldId id="403" r:id="rId45"/>
    <p:sldId id="404" r:id="rId46"/>
    <p:sldId id="405" r:id="rId47"/>
    <p:sldId id="406" r:id="rId48"/>
    <p:sldId id="458" r:id="rId49"/>
    <p:sldId id="470" r:id="rId50"/>
    <p:sldId id="669" r:id="rId51"/>
    <p:sldId id="471" r:id="rId52"/>
    <p:sldId id="472" r:id="rId53"/>
    <p:sldId id="473" r:id="rId54"/>
    <p:sldId id="474" r:id="rId55"/>
    <p:sldId id="475" r:id="rId56"/>
    <p:sldId id="430" r:id="rId57"/>
    <p:sldId id="443" r:id="rId58"/>
    <p:sldId id="434" r:id="rId59"/>
    <p:sldId id="444" r:id="rId60"/>
    <p:sldId id="446" r:id="rId61"/>
    <p:sldId id="433" r:id="rId62"/>
    <p:sldId id="445" r:id="rId63"/>
    <p:sldId id="447" r:id="rId64"/>
    <p:sldId id="448" r:id="rId65"/>
    <p:sldId id="449" r:id="rId66"/>
    <p:sldId id="450" r:id="rId67"/>
    <p:sldId id="316" r:id="rId68"/>
    <p:sldId id="317" r:id="rId69"/>
    <p:sldId id="318" r:id="rId70"/>
    <p:sldId id="351" r:id="rId71"/>
    <p:sldId id="461" r:id="rId72"/>
    <p:sldId id="442" r:id="rId73"/>
    <p:sldId id="666" r:id="rId74"/>
    <p:sldId id="517" r:id="rId75"/>
    <p:sldId id="526" r:id="rId76"/>
    <p:sldId id="667" r:id="rId77"/>
    <p:sldId id="519" r:id="rId78"/>
    <p:sldId id="537" r:id="rId79"/>
    <p:sldId id="524" r:id="rId80"/>
    <p:sldId id="547" r:id="rId81"/>
    <p:sldId id="548" r:id="rId82"/>
    <p:sldId id="640" r:id="rId83"/>
    <p:sldId id="641" r:id="rId84"/>
    <p:sldId id="438" r:id="rId85"/>
    <p:sldId id="670" r:id="rId86"/>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A691"/>
    <a:srgbClr val="FF3B58"/>
    <a:srgbClr val="F088B6"/>
    <a:srgbClr val="FAA719"/>
    <a:srgbClr val="3E77C0"/>
    <a:srgbClr val="353637"/>
    <a:srgbClr val="F5F5F5"/>
    <a:srgbClr val="EC5A29"/>
    <a:srgbClr val="FDC627"/>
    <a:srgbClr val="E67A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31F1DC-6182-4809-A68C-AE221AF83990}" v="18" dt="2024-11-12T20:30:13.102"/>
    <p1510:client id="{DCE4D0E2-B124-461A-B694-79231E3D746F}" v="10" dt="2024-11-13T09:23:51.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67806" autoAdjust="0"/>
  </p:normalViewPr>
  <p:slideViewPr>
    <p:cSldViewPr snapToGrid="0" snapToObjects="1" showGuides="1">
      <p:cViewPr varScale="1">
        <p:scale>
          <a:sx n="75" d="100"/>
          <a:sy n="75" d="100"/>
        </p:scale>
        <p:origin x="2010" y="6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presProps" Target="presProp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1.xml"/><Relationship Id="rId90" Type="http://schemas.openxmlformats.org/officeDocument/2006/relationships/viewProps" Target="viewProps.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 Type="http://schemas.openxmlformats.org/officeDocument/2006/relationships/slideMaster" Target="slideMasters/slideMaster4.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slide" Target="slides/slide77.xml"/><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3.xml"/><Relationship Id="rId71" Type="http://schemas.openxmlformats.org/officeDocument/2006/relationships/slide" Target="slides/slide63.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notesMaster" Target="notesMasters/notesMaster1.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OKE, Sara" userId="ae1720bc-5ac2-4085-af12-5e9690b9675b" providerId="ADAL" clId="{DCE4D0E2-B124-461A-B694-79231E3D746F}"/>
    <pc:docChg chg="custSel addSld modSld sldOrd">
      <pc:chgData name="HOOKE, Sara" userId="ae1720bc-5ac2-4085-af12-5e9690b9675b" providerId="ADAL" clId="{DCE4D0E2-B124-461A-B694-79231E3D746F}" dt="2024-11-13T09:25:20.196" v="47"/>
      <pc:docMkLst>
        <pc:docMk/>
      </pc:docMkLst>
      <pc:sldChg chg="ord">
        <pc:chgData name="HOOKE, Sara" userId="ae1720bc-5ac2-4085-af12-5e9690b9675b" providerId="ADAL" clId="{DCE4D0E2-B124-461A-B694-79231E3D746F}" dt="2024-11-13T09:25:20.196" v="47"/>
        <pc:sldMkLst>
          <pc:docMk/>
          <pc:sldMk cId="2367238637" sldId="438"/>
        </pc:sldMkLst>
      </pc:sldChg>
      <pc:sldChg chg="addSp delSp modSp new mod modClrScheme chgLayout">
        <pc:chgData name="HOOKE, Sara" userId="ae1720bc-5ac2-4085-af12-5e9690b9675b" providerId="ADAL" clId="{DCE4D0E2-B124-461A-B694-79231E3D746F}" dt="2024-11-13T09:23:52.952" v="45" actId="20577"/>
        <pc:sldMkLst>
          <pc:docMk/>
          <pc:sldMk cId="2966862568" sldId="670"/>
        </pc:sldMkLst>
        <pc:spChg chg="del mod ord">
          <ac:chgData name="HOOKE, Sara" userId="ae1720bc-5ac2-4085-af12-5e9690b9675b" providerId="ADAL" clId="{DCE4D0E2-B124-461A-B694-79231E3D746F}" dt="2024-11-13T09:21:35.475" v="1" actId="700"/>
          <ac:spMkLst>
            <pc:docMk/>
            <pc:sldMk cId="2966862568" sldId="670"/>
            <ac:spMk id="2" creationId="{024EC0F9-1E05-BA42-E4B6-2427EEA9FD89}"/>
          </ac:spMkLst>
        </pc:spChg>
        <pc:spChg chg="del mod ord">
          <ac:chgData name="HOOKE, Sara" userId="ae1720bc-5ac2-4085-af12-5e9690b9675b" providerId="ADAL" clId="{DCE4D0E2-B124-461A-B694-79231E3D746F}" dt="2024-11-13T09:21:35.475" v="1" actId="700"/>
          <ac:spMkLst>
            <pc:docMk/>
            <pc:sldMk cId="2966862568" sldId="670"/>
            <ac:spMk id="3" creationId="{7A075E7F-AB30-7C4F-F533-18DB082F11B4}"/>
          </ac:spMkLst>
        </pc:spChg>
        <pc:spChg chg="add mod ord">
          <ac:chgData name="HOOKE, Sara" userId="ae1720bc-5ac2-4085-af12-5e9690b9675b" providerId="ADAL" clId="{DCE4D0E2-B124-461A-B694-79231E3D746F}" dt="2024-11-13T09:23:52.952" v="45" actId="20577"/>
          <ac:spMkLst>
            <pc:docMk/>
            <pc:sldMk cId="2966862568" sldId="670"/>
            <ac:spMk id="4" creationId="{E8D9D206-C0D4-B31B-E619-3BD02D34E98A}"/>
          </ac:spMkLst>
        </pc:spChg>
        <pc:spChg chg="add del mod ord">
          <ac:chgData name="HOOKE, Sara" userId="ae1720bc-5ac2-4085-af12-5e9690b9675b" providerId="ADAL" clId="{DCE4D0E2-B124-461A-B694-79231E3D746F}" dt="2024-11-13T09:22:30.438" v="9" actId="478"/>
          <ac:spMkLst>
            <pc:docMk/>
            <pc:sldMk cId="2966862568" sldId="670"/>
            <ac:spMk id="5" creationId="{3C9A7156-C4F7-44CD-55C6-1E1D240F7218}"/>
          </ac:spMkLst>
        </pc:spChg>
        <pc:spChg chg="add del mod">
          <ac:chgData name="HOOKE, Sara" userId="ae1720bc-5ac2-4085-af12-5e9690b9675b" providerId="ADAL" clId="{DCE4D0E2-B124-461A-B694-79231E3D746F}" dt="2024-11-13T09:22:19.665" v="6" actId="1076"/>
          <ac:spMkLst>
            <pc:docMk/>
            <pc:sldMk cId="2966862568" sldId="670"/>
            <ac:spMk id="6" creationId="{AF2A6D13-BB6D-0F1A-9846-971EF8CC8EDE}"/>
          </ac:spMkLst>
        </pc:spChg>
        <pc:picChg chg="add del mod">
          <ac:chgData name="HOOKE, Sara" userId="ae1720bc-5ac2-4085-af12-5e9690b9675b" providerId="ADAL" clId="{DCE4D0E2-B124-461A-B694-79231E3D746F}" dt="2024-11-13T09:22:59.904" v="39" actId="1076"/>
          <ac:picMkLst>
            <pc:docMk/>
            <pc:sldMk cId="2966862568" sldId="670"/>
            <ac:picMk id="1025" creationId="{CD93FE1C-9970-273C-6D0B-D70E141D2D3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BC71A-9C5D-9A2C-A15F-A5400CDA4E18}"/>
              </a:ext>
            </a:extLst>
          </p:cNvPr>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46AFF51-F9E0-DB97-945D-6FE4E10A80CA}"/>
              </a:ext>
            </a:extLst>
          </p:cNvPr>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E3A45EEF-DD1A-8742-8830-9AF8C51014E5}" type="datetimeFigureOut">
              <a:rPr lang="en-US" smtClean="0"/>
              <a:t>11/13/2024</a:t>
            </a:fld>
            <a:endParaRPr lang="en-US"/>
          </a:p>
        </p:txBody>
      </p:sp>
      <p:sp>
        <p:nvSpPr>
          <p:cNvPr id="4" name="Footer Placeholder 3">
            <a:extLst>
              <a:ext uri="{FF2B5EF4-FFF2-40B4-BE49-F238E27FC236}">
                <a16:creationId xmlns:a16="http://schemas.microsoft.com/office/drawing/2014/main" id="{37F16389-CE81-4455-5554-98F2CEFAB4A8}"/>
              </a:ext>
            </a:extLst>
          </p:cNvPr>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74086A6-B781-4E85-4B21-CCF7D1EE9467}"/>
              </a:ext>
            </a:extLst>
          </p:cNvPr>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96219E5A-4CF6-0C47-9D09-B43E5FC27C68}" type="slidenum">
              <a:rPr lang="en-US" smtClean="0"/>
              <a:t>‹#›</a:t>
            </a:fld>
            <a:endParaRPr lang="en-US"/>
          </a:p>
        </p:txBody>
      </p:sp>
    </p:spTree>
    <p:extLst>
      <p:ext uri="{BB962C8B-B14F-4D97-AF65-F5344CB8AC3E}">
        <p14:creationId xmlns:p14="http://schemas.microsoft.com/office/powerpoint/2010/main" val="3210273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DDE7B709-C50D-054B-BDEF-61F28AB73951}" type="datetimeFigureOut">
              <a:rPr lang="en-US" smtClean="0"/>
              <a:t>11/13/2024</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51D890D9-946C-F447-A007-CD62FC879AC5}" type="slidenum">
              <a:rPr lang="en-US" smtClean="0"/>
              <a:t>‹#›</a:t>
            </a:fld>
            <a:endParaRPr lang="en-US"/>
          </a:p>
        </p:txBody>
      </p:sp>
    </p:spTree>
    <p:extLst>
      <p:ext uri="{BB962C8B-B14F-4D97-AF65-F5344CB8AC3E}">
        <p14:creationId xmlns:p14="http://schemas.microsoft.com/office/powerpoint/2010/main" val="3030476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en.wikipedia.org/wiki/Hofstede%27s_cultural_dimensions_theory" TargetMode="External"/><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a:t>
            </a:fld>
            <a:endParaRPr lang="en-US"/>
          </a:p>
        </p:txBody>
      </p:sp>
    </p:spTree>
    <p:extLst>
      <p:ext uri="{BB962C8B-B14F-4D97-AF65-F5344CB8AC3E}">
        <p14:creationId xmlns:p14="http://schemas.microsoft.com/office/powerpoint/2010/main" val="1142557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2</a:t>
            </a:fld>
            <a:endParaRPr lang="en-US"/>
          </a:p>
        </p:txBody>
      </p:sp>
    </p:spTree>
    <p:extLst>
      <p:ext uri="{BB962C8B-B14F-4D97-AF65-F5344CB8AC3E}">
        <p14:creationId xmlns:p14="http://schemas.microsoft.com/office/powerpoint/2010/main" val="1944459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3</a:t>
            </a:fld>
            <a:endParaRPr lang="en-US"/>
          </a:p>
        </p:txBody>
      </p:sp>
    </p:spTree>
    <p:extLst>
      <p:ext uri="{BB962C8B-B14F-4D97-AF65-F5344CB8AC3E}">
        <p14:creationId xmlns:p14="http://schemas.microsoft.com/office/powerpoint/2010/main" val="52519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a:t>
            </a:fld>
            <a:endParaRPr lang="en-US"/>
          </a:p>
        </p:txBody>
      </p:sp>
    </p:spTree>
    <p:extLst>
      <p:ext uri="{BB962C8B-B14F-4D97-AF65-F5344CB8AC3E}">
        <p14:creationId xmlns:p14="http://schemas.microsoft.com/office/powerpoint/2010/main" val="331426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a:t>
            </a:fld>
            <a:endParaRPr lang="en-US"/>
          </a:p>
        </p:txBody>
      </p:sp>
    </p:spTree>
    <p:extLst>
      <p:ext uri="{BB962C8B-B14F-4D97-AF65-F5344CB8AC3E}">
        <p14:creationId xmlns:p14="http://schemas.microsoft.com/office/powerpoint/2010/main" val="3602325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424242"/>
                </a:solidFill>
                <a:effectLst/>
                <a:latin typeface="Neue Helvetica W01"/>
              </a:rPr>
              <a:t>Globe: Compared how the different country clusters rate different forms of leadership, the GLOBE researchers considered six leadership profiles:</a:t>
            </a:r>
          </a:p>
          <a:p>
            <a:pPr algn="l">
              <a:buFont typeface="Arial" panose="020B0604020202020204" pitchFamily="34" charset="0"/>
              <a:buChar char="•"/>
            </a:pPr>
            <a:r>
              <a:rPr lang="en-US" b="0" i="0" dirty="0">
                <a:solidFill>
                  <a:srgbClr val="424242"/>
                </a:solidFill>
                <a:effectLst/>
                <a:latin typeface="Neue Helvetica W01"/>
              </a:rPr>
              <a:t>charismatic type (degree to which the leader can inspire and motivate others)</a:t>
            </a:r>
          </a:p>
          <a:p>
            <a:pPr algn="l">
              <a:buFont typeface="Arial" panose="020B0604020202020204" pitchFamily="34" charset="0"/>
              <a:buChar char="•"/>
            </a:pPr>
            <a:r>
              <a:rPr lang="en-US" b="0" i="0" dirty="0">
                <a:solidFill>
                  <a:srgbClr val="424242"/>
                </a:solidFill>
                <a:effectLst/>
                <a:latin typeface="Neue Helvetica W01"/>
              </a:rPr>
              <a:t>team oriented (degree to which the leader can foster a high functioning team),</a:t>
            </a:r>
          </a:p>
          <a:p>
            <a:pPr algn="l">
              <a:buFont typeface="Arial" panose="020B0604020202020204" pitchFamily="34" charset="0"/>
              <a:buChar char="•"/>
            </a:pPr>
            <a:r>
              <a:rPr lang="en-US" b="0" i="0" dirty="0">
                <a:solidFill>
                  <a:srgbClr val="424242"/>
                </a:solidFill>
                <a:effectLst/>
                <a:latin typeface="Neue Helvetica W01"/>
              </a:rPr>
              <a:t>participative type (degree to which leaders involve others in decision-making)</a:t>
            </a:r>
          </a:p>
          <a:p>
            <a:pPr algn="l">
              <a:buFont typeface="Arial" panose="020B0604020202020204" pitchFamily="34" charset="0"/>
              <a:buChar char="•"/>
            </a:pPr>
            <a:r>
              <a:rPr lang="en-US" b="0" i="0" dirty="0">
                <a:solidFill>
                  <a:srgbClr val="424242"/>
                </a:solidFill>
                <a:effectLst/>
                <a:latin typeface="Neue Helvetica W01"/>
              </a:rPr>
              <a:t>humane-oriented type (degree to which the leader shows compassion and generosity)</a:t>
            </a:r>
          </a:p>
          <a:p>
            <a:pPr algn="l">
              <a:buFont typeface="Arial" panose="020B0604020202020204" pitchFamily="34" charset="0"/>
              <a:buChar char="•"/>
            </a:pPr>
            <a:r>
              <a:rPr lang="en-US" b="0" i="0" dirty="0">
                <a:solidFill>
                  <a:srgbClr val="424242"/>
                </a:solidFill>
                <a:effectLst/>
                <a:latin typeface="Neue Helvetica W01"/>
              </a:rPr>
              <a:t>autonomous (degree to which the leader reflects independent and individualistic leadership)</a:t>
            </a:r>
          </a:p>
          <a:p>
            <a:pPr algn="l">
              <a:buFont typeface="Arial" panose="020B0604020202020204" pitchFamily="34" charset="0"/>
              <a:buChar char="•"/>
            </a:pPr>
            <a:r>
              <a:rPr lang="en-US" b="0" i="0" dirty="0">
                <a:solidFill>
                  <a:srgbClr val="424242"/>
                </a:solidFill>
                <a:effectLst/>
                <a:latin typeface="Neue Helvetica W01"/>
              </a:rPr>
              <a:t>self-protective (degree to which the leader is self-centered and uses a face-saving approach)</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a:t>
            </a:fld>
            <a:endParaRPr lang="en-US"/>
          </a:p>
        </p:txBody>
      </p:sp>
    </p:spTree>
    <p:extLst>
      <p:ext uri="{BB962C8B-B14F-4D97-AF65-F5344CB8AC3E}">
        <p14:creationId xmlns:p14="http://schemas.microsoft.com/office/powerpoint/2010/main" val="402253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7</a:t>
            </a:fld>
            <a:endParaRPr lang="en-US"/>
          </a:p>
        </p:txBody>
      </p:sp>
    </p:spTree>
    <p:extLst>
      <p:ext uri="{BB962C8B-B14F-4D97-AF65-F5344CB8AC3E}">
        <p14:creationId xmlns:p14="http://schemas.microsoft.com/office/powerpoint/2010/main" val="300392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is a Team?</a:t>
            </a:r>
          </a:p>
          <a:p>
            <a:r>
              <a:rPr lang="en-GB" dirty="0"/>
              <a:t>Is there a difference between a group and a team?</a:t>
            </a:r>
          </a:p>
          <a:p>
            <a:r>
              <a:rPr lang="en-GB" dirty="0"/>
              <a:t>What?</a:t>
            </a:r>
          </a:p>
          <a:p>
            <a:r>
              <a:rPr lang="en-GB" dirty="0"/>
              <a:t>*</a:t>
            </a:r>
          </a:p>
          <a:p>
            <a:endParaRPr lang="en-GB" dirty="0"/>
          </a:p>
          <a:p>
            <a:r>
              <a:rPr lang="en-US" b="0" i="0" dirty="0">
                <a:solidFill>
                  <a:srgbClr val="040C28"/>
                </a:solidFill>
                <a:effectLst/>
                <a:latin typeface="Google Sans"/>
              </a:rPr>
              <a:t>A group is a collection of individuals who coordinate their efforts, while a team is a group of people who share a common goal</a:t>
            </a:r>
            <a:r>
              <a:rPr lang="en-US" b="0" i="0" dirty="0">
                <a:solidFill>
                  <a:srgbClr val="202124"/>
                </a:solidFill>
                <a:effectLst/>
                <a:latin typeface="Google Sans"/>
              </a:rPr>
              <a:t>. COMBINE THEIR EFFORTS FOR A COMMON GOAL</a:t>
            </a:r>
          </a:p>
          <a:p>
            <a:endParaRPr lang="en-US" b="0" i="0" dirty="0">
              <a:solidFill>
                <a:srgbClr val="202124"/>
              </a:solidFill>
              <a:effectLst/>
              <a:latin typeface="Google Sans"/>
            </a:endParaRPr>
          </a:p>
          <a:p>
            <a:r>
              <a:rPr lang="en-US" b="0" i="0" dirty="0">
                <a:solidFill>
                  <a:srgbClr val="202124"/>
                </a:solidFill>
                <a:effectLst/>
                <a:latin typeface="Google Sans"/>
              </a:rPr>
              <a:t>While similar, the two are different when it comes to decision-making and teamwork. In a work group, group members are independent from one another and have individual accountability.</a:t>
            </a:r>
            <a:endParaRPr lang="en-GB" b="0" i="0" dirty="0">
              <a:solidFill>
                <a:srgbClr val="202124"/>
              </a:solidFill>
              <a:effectLst/>
              <a:latin typeface="Google Sans"/>
            </a:endParaRPr>
          </a:p>
          <a:p>
            <a:endParaRPr lang="en-GB" b="0" i="0" dirty="0">
              <a:solidFill>
                <a:srgbClr val="202124"/>
              </a:solidFill>
              <a:effectLst/>
              <a:latin typeface="Google Sans"/>
            </a:endParaRPr>
          </a:p>
          <a:p>
            <a:r>
              <a:rPr lang="en-GB" b="0" i="0" dirty="0">
                <a:solidFill>
                  <a:srgbClr val="202124"/>
                </a:solidFill>
                <a:effectLst/>
                <a:latin typeface="Google Sans"/>
              </a:rPr>
              <a:t>Lift analogy- Group walks in (work on same floor, in same dept with same boss. When the lift breaks down, they become a team.</a:t>
            </a:r>
            <a:endParaRPr lang="en-GB"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8</a:t>
            </a:fld>
            <a:endParaRPr lang="en-US"/>
          </a:p>
        </p:txBody>
      </p:sp>
    </p:spTree>
    <p:extLst>
      <p:ext uri="{BB962C8B-B14F-4D97-AF65-F5344CB8AC3E}">
        <p14:creationId xmlns:p14="http://schemas.microsoft.com/office/powerpoint/2010/main" val="3051035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9</a:t>
            </a:fld>
            <a:endParaRPr lang="en-US"/>
          </a:p>
        </p:txBody>
      </p:sp>
    </p:spTree>
    <p:extLst>
      <p:ext uri="{BB962C8B-B14F-4D97-AF65-F5344CB8AC3E}">
        <p14:creationId xmlns:p14="http://schemas.microsoft.com/office/powerpoint/2010/main" val="2030679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team has to go through all the stages</a:t>
            </a:r>
            <a:r>
              <a:rPr lang="en-US" sz="1200" i="0" u="none" dirty="0">
                <a:effectLst/>
                <a:latin typeface="+mn-lt"/>
                <a:ea typeface="+mn-ea"/>
                <a:cs typeface="+mn-cs"/>
              </a:rPr>
              <a:t> to grow, face up to challenges, tackle problems, find solutions, plan work, and deliver results.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10</a:t>
            </a:fld>
            <a:endParaRPr lang="en-US"/>
          </a:p>
        </p:txBody>
      </p:sp>
    </p:spTree>
    <p:extLst>
      <p:ext uri="{BB962C8B-B14F-4D97-AF65-F5344CB8AC3E}">
        <p14:creationId xmlns:p14="http://schemas.microsoft.com/office/powerpoint/2010/main" val="328537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 at how effective the team is going through</a:t>
            </a:r>
          </a:p>
          <a:p>
            <a:r>
              <a:rPr lang="en-GB" dirty="0"/>
              <a:t>Look the performance impact as the team moves through the stages.</a:t>
            </a:r>
          </a:p>
          <a:p>
            <a:r>
              <a:rPr lang="en-GB" dirty="0"/>
              <a:t>Note that it is Tuckman’s model does allow for backwards and forwards between the stages, it can be reiterative and cyclical taking you in a loop through the storming, norming and performing stages. If this happens in your group work then don’t worry, its perfectly normal.</a:t>
            </a:r>
          </a:p>
        </p:txBody>
      </p:sp>
      <p:sp>
        <p:nvSpPr>
          <p:cNvPr id="4" name="Slide Number Placeholder 3"/>
          <p:cNvSpPr>
            <a:spLocks noGrp="1"/>
          </p:cNvSpPr>
          <p:nvPr>
            <p:ph type="sldNum" sz="quarter" idx="5"/>
          </p:nvPr>
        </p:nvSpPr>
        <p:spPr/>
        <p:txBody>
          <a:bodyPr/>
          <a:lstStyle/>
          <a:p>
            <a:fld id="{51D890D9-946C-F447-A007-CD62FC879AC5}" type="slidenum">
              <a:rPr lang="en-US" smtClean="0"/>
              <a:t>11</a:t>
            </a:fld>
            <a:endParaRPr lang="en-US"/>
          </a:p>
        </p:txBody>
      </p:sp>
    </p:spTree>
    <p:extLst>
      <p:ext uri="{BB962C8B-B14F-4D97-AF65-F5344CB8AC3E}">
        <p14:creationId xmlns:p14="http://schemas.microsoft.com/office/powerpoint/2010/main" val="1042851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1" dirty="0">
                <a:solidFill>
                  <a:srgbClr val="131313"/>
                </a:solidFill>
                <a:effectLst/>
                <a:latin typeface="Verdana" panose="020B0604030504040204" pitchFamily="34" charset="0"/>
              </a:rPr>
              <a:t>Forming</a:t>
            </a:r>
            <a:br>
              <a:rPr lang="en-GB" dirty="0">
                <a:solidFill>
                  <a:srgbClr val="131313"/>
                </a:solidFill>
                <a:effectLst/>
                <a:latin typeface="Verdana" panose="020B0604030504040204" pitchFamily="34" charset="0"/>
              </a:rPr>
            </a:br>
            <a:br>
              <a:rPr lang="en-GB" dirty="0">
                <a:solidFill>
                  <a:srgbClr val="131313"/>
                </a:solidFill>
                <a:effectLst/>
                <a:latin typeface="Verdana" panose="020B0604030504040204" pitchFamily="34" charset="0"/>
              </a:rPr>
            </a:br>
            <a:r>
              <a:rPr lang="en-GB" dirty="0">
                <a:solidFill>
                  <a:srgbClr val="131313"/>
                </a:solidFill>
                <a:effectLst/>
                <a:latin typeface="Verdana" panose="020B0604030504040204" pitchFamily="34" charset="0"/>
              </a:rPr>
              <a:t>Characteristics of Forming include questioning, socializing, displaying eagerness, focusing on group identity and purpose, and sticking to safe topics. Strategies for this phase include taking the 'lead,' providing clear expectations and consistent instructions, and quick response times.</a:t>
            </a:r>
          </a:p>
          <a:p>
            <a:pPr marL="0" indent="0">
              <a:buNone/>
            </a:pPr>
            <a:endParaRPr lang="en-GB" dirty="0">
              <a:solidFill>
                <a:srgbClr val="131313"/>
              </a:solidFill>
              <a:effectLst/>
              <a:latin typeface="Verdana" panose="020B0604030504040204" pitchFamily="34" charset="0"/>
            </a:endParaRPr>
          </a:p>
          <a:p>
            <a:pPr marL="0" indent="0">
              <a:buNone/>
            </a:pPr>
            <a:r>
              <a:rPr lang="en-US" b="0" i="0" dirty="0">
                <a:solidFill>
                  <a:srgbClr val="888888"/>
                </a:solidFill>
                <a:effectLst/>
                <a:latin typeface="ralewayregular"/>
              </a:rPr>
              <a:t>The team meets and learns about the opportunities and challenges, and then agrees on goals and begins to tackle the tasks. Team members tend to behave quite independently. They may be motivated but are usually relatively uninformed of the issues and objectives of the team. Team members are usually on their best behavior but very focused on themselves. Mature team members begin to model appropriate behavior even at this early phase. The meeting environment also plays an important role to model the initial behavior of each individual. The major task functions also concern orientation. Members attempt to become oriented to the tasks as well as to one another. Discussion centers on defining the scope of the task, how to approach it, and similar concerns. To grow from this stage to the next, each member must relinquish the comfort of non-threatening topics and risk the possibility of conflict.</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12</a:t>
            </a:fld>
            <a:endParaRPr lang="en-US"/>
          </a:p>
        </p:txBody>
      </p:sp>
    </p:spTree>
    <p:extLst>
      <p:ext uri="{BB962C8B-B14F-4D97-AF65-F5344CB8AC3E}">
        <p14:creationId xmlns:p14="http://schemas.microsoft.com/office/powerpoint/2010/main" val="333930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solidFill>
                  <a:srgbClr val="131313"/>
                </a:solidFill>
                <a:effectLst/>
                <a:latin typeface="Verdana" panose="020B0604030504040204" pitchFamily="34" charset="0"/>
              </a:rPr>
              <a:t>2. Storming</a:t>
            </a:r>
            <a:br>
              <a:rPr lang="en-GB" dirty="0">
                <a:solidFill>
                  <a:srgbClr val="131313"/>
                </a:solidFill>
                <a:effectLst/>
                <a:latin typeface="Verdana" panose="020B0604030504040204" pitchFamily="34" charset="0"/>
              </a:rPr>
            </a:br>
            <a:br>
              <a:rPr lang="en-GB" dirty="0">
                <a:solidFill>
                  <a:srgbClr val="131313"/>
                </a:solidFill>
                <a:effectLst/>
                <a:latin typeface="Verdana" panose="020B0604030504040204" pitchFamily="34" charset="0"/>
              </a:rPr>
            </a:br>
            <a:r>
              <a:rPr lang="en-GB" dirty="0">
                <a:solidFill>
                  <a:srgbClr val="131313"/>
                </a:solidFill>
                <a:effectLst/>
                <a:latin typeface="Verdana" panose="020B0604030504040204" pitchFamily="34" charset="0"/>
              </a:rPr>
              <a:t>Traits of Storming include resistance, lack of participation, conflict, competition, high emotions, and moving towards group norms. </a:t>
            </a:r>
          </a:p>
          <a:p>
            <a:r>
              <a:rPr lang="en-GB" dirty="0">
                <a:solidFill>
                  <a:srgbClr val="131313"/>
                </a:solidFill>
                <a:effectLst/>
                <a:latin typeface="Verdana" panose="020B0604030504040204" pitchFamily="34" charset="0"/>
              </a:rPr>
              <a:t>Strategies for this stage include normalizing matters and encouraging leadership.</a:t>
            </a:r>
          </a:p>
          <a:p>
            <a:r>
              <a:rPr lang="en-US" b="0" i="0" dirty="0">
                <a:solidFill>
                  <a:srgbClr val="888888"/>
                </a:solidFill>
                <a:effectLst/>
                <a:latin typeface="ralewayregular"/>
              </a:rPr>
              <a:t>This is the second stage of team development, where the group starts to sort itself out and </a:t>
            </a:r>
            <a:r>
              <a:rPr lang="en-US" b="1" i="0" dirty="0">
                <a:solidFill>
                  <a:srgbClr val="888888"/>
                </a:solidFill>
                <a:effectLst/>
                <a:latin typeface="ralewayregular"/>
              </a:rPr>
              <a:t>gain each other’s trust</a:t>
            </a:r>
            <a:r>
              <a:rPr lang="en-US" b="0" i="0" dirty="0">
                <a:solidFill>
                  <a:srgbClr val="888888"/>
                </a:solidFill>
                <a:effectLst/>
                <a:latin typeface="ralewayregular"/>
              </a:rPr>
              <a:t>. This stage often starts when they </a:t>
            </a:r>
            <a:r>
              <a:rPr lang="en-US" b="1" i="0" dirty="0">
                <a:solidFill>
                  <a:srgbClr val="888888"/>
                </a:solidFill>
                <a:effectLst/>
                <a:latin typeface="ralewayregular"/>
              </a:rPr>
              <a:t>voice their opinions </a:t>
            </a:r>
            <a:r>
              <a:rPr lang="en-US" b="0" i="0" dirty="0">
                <a:solidFill>
                  <a:srgbClr val="888888"/>
                </a:solidFill>
                <a:effectLst/>
                <a:latin typeface="ralewayregular"/>
              </a:rPr>
              <a:t>and, as a result of this, a </a:t>
            </a:r>
            <a:r>
              <a:rPr lang="en-US" b="1" i="0" dirty="0">
                <a:solidFill>
                  <a:srgbClr val="888888"/>
                </a:solidFill>
                <a:effectLst/>
                <a:latin typeface="ralewayregular"/>
              </a:rPr>
              <a:t>conflict may arise </a:t>
            </a:r>
            <a:r>
              <a:rPr lang="en-US" b="0" i="0" dirty="0">
                <a:solidFill>
                  <a:srgbClr val="888888"/>
                </a:solidFill>
                <a:effectLst/>
                <a:latin typeface="ralewayregular"/>
              </a:rPr>
              <a:t>between team members as </a:t>
            </a:r>
            <a:r>
              <a:rPr lang="en-US" b="1" i="0" dirty="0">
                <a:solidFill>
                  <a:srgbClr val="888888"/>
                </a:solidFill>
                <a:effectLst/>
                <a:latin typeface="ralewayregular"/>
              </a:rPr>
              <a:t>power and status are assigned</a:t>
            </a:r>
            <a:r>
              <a:rPr lang="en-US" b="0" i="0" dirty="0">
                <a:solidFill>
                  <a:srgbClr val="888888"/>
                </a:solidFill>
                <a:effectLst/>
                <a:latin typeface="ralewayregular"/>
              </a:rPr>
              <a:t>. When the group members start to work with each other they start to </a:t>
            </a:r>
            <a:r>
              <a:rPr lang="en-US" b="1" i="0" dirty="0">
                <a:solidFill>
                  <a:srgbClr val="888888"/>
                </a:solidFill>
                <a:effectLst/>
                <a:latin typeface="ralewayregular"/>
              </a:rPr>
              <a:t>learn about individual working styles </a:t>
            </a:r>
            <a:r>
              <a:rPr lang="en-US" b="0" i="0" dirty="0">
                <a:solidFill>
                  <a:srgbClr val="888888"/>
                </a:solidFill>
                <a:effectLst/>
                <a:latin typeface="ralewayregular"/>
              </a:rPr>
              <a:t>and what it is like to work with each other as a team, it also identifies different </a:t>
            </a:r>
            <a:r>
              <a:rPr lang="en-US" b="1" i="0" dirty="0">
                <a:solidFill>
                  <a:srgbClr val="888888"/>
                </a:solidFill>
                <a:effectLst/>
                <a:latin typeface="ralewayregular"/>
              </a:rPr>
              <a:t>hierarchy of status</a:t>
            </a:r>
            <a:r>
              <a:rPr lang="en-US" b="0" i="0" dirty="0">
                <a:solidFill>
                  <a:srgbClr val="888888"/>
                </a:solidFill>
                <a:effectLst/>
                <a:latin typeface="ralewayregular"/>
              </a:rPr>
              <a:t> of positions in the group. At this stage </a:t>
            </a:r>
            <a:r>
              <a:rPr lang="en-US" b="1" i="0" dirty="0">
                <a:solidFill>
                  <a:srgbClr val="888888"/>
                </a:solidFill>
                <a:effectLst/>
                <a:latin typeface="ralewayregular"/>
              </a:rPr>
              <a:t>there is a positive and polite atmosphere and people are pleasant to each other </a:t>
            </a:r>
            <a:r>
              <a:rPr lang="en-US" b="0" i="0" dirty="0">
                <a:solidFill>
                  <a:srgbClr val="888888"/>
                </a:solidFill>
                <a:effectLst/>
                <a:latin typeface="ralewayregular"/>
              </a:rPr>
              <a:t>and they have different feelings of </a:t>
            </a:r>
            <a:r>
              <a:rPr lang="en-US" b="1" i="0" dirty="0">
                <a:solidFill>
                  <a:srgbClr val="888888"/>
                </a:solidFill>
                <a:effectLst/>
                <a:latin typeface="ralewayregular"/>
              </a:rPr>
              <a:t>excitement, eagerness and positiveness </a:t>
            </a:r>
            <a:r>
              <a:rPr lang="en-US" b="0" i="0" dirty="0">
                <a:solidFill>
                  <a:srgbClr val="888888"/>
                </a:solidFill>
                <a:effectLst/>
                <a:latin typeface="ralewayregular"/>
              </a:rPr>
              <a:t>and others may have feelings </a:t>
            </a:r>
            <a:r>
              <a:rPr lang="en-US" b="1" i="0" dirty="0">
                <a:solidFill>
                  <a:srgbClr val="888888"/>
                </a:solidFill>
                <a:effectLst/>
                <a:latin typeface="ralewayregular"/>
              </a:rPr>
              <a:t>of suspicion, fear and anxiety</a:t>
            </a:r>
            <a:r>
              <a:rPr lang="en-US" b="0" i="0" dirty="0">
                <a:solidFill>
                  <a:srgbClr val="888888"/>
                </a:solidFill>
                <a:effectLst/>
                <a:latin typeface="ralewayregular"/>
              </a:rPr>
              <a:t>. The leader of the team will then describe the tasks to the group, describe the different </a:t>
            </a:r>
            <a:r>
              <a:rPr lang="en-US" b="0" i="0" dirty="0" err="1">
                <a:solidFill>
                  <a:srgbClr val="888888"/>
                </a:solidFill>
                <a:effectLst/>
                <a:latin typeface="ralewayregular"/>
              </a:rPr>
              <a:t>behaviours</a:t>
            </a:r>
            <a:r>
              <a:rPr lang="en-US" b="0" i="0" dirty="0">
                <a:solidFill>
                  <a:srgbClr val="888888"/>
                </a:solidFill>
                <a:effectLst/>
                <a:latin typeface="ralewayregular"/>
              </a:rPr>
              <a:t> to the group and how to deal and handle complaints. In this stage “…participants form opinions about the character and integrity of the other participants and feel compelled to voice these opinions if they find someone </a:t>
            </a:r>
            <a:r>
              <a:rPr lang="en-US" b="1" i="0" dirty="0">
                <a:solidFill>
                  <a:srgbClr val="888888"/>
                </a:solidFill>
                <a:effectLst/>
                <a:latin typeface="ralewayregular"/>
              </a:rPr>
              <a:t>shirking responsibility or attempting to dominate</a:t>
            </a:r>
            <a:r>
              <a:rPr lang="en-US" b="0" i="0" dirty="0">
                <a:solidFill>
                  <a:srgbClr val="888888"/>
                </a:solidFill>
                <a:effectLst/>
                <a:latin typeface="ralewayregular"/>
              </a:rPr>
              <a:t>.  Disagreements and personality clashes must be resolved before the team can progress out of this stage, and so some teams may never emerge from “storming”</a:t>
            </a:r>
            <a:r>
              <a:rPr lang="en-US" b="0" i="0" u="none" strike="noStrike" baseline="30000" dirty="0">
                <a:solidFill>
                  <a:srgbClr val="FF6E00"/>
                </a:solidFill>
                <a:effectLst/>
                <a:latin typeface="inherit"/>
              </a:rPr>
              <a:t> </a:t>
            </a:r>
            <a:r>
              <a:rPr lang="en-US" b="0" i="0" dirty="0">
                <a:solidFill>
                  <a:srgbClr val="888888"/>
                </a:solidFill>
                <a:effectLst/>
                <a:latin typeface="ralewayregular"/>
              </a:rPr>
              <a:t>or re-enter that phase if new challenges or disputes arise</a:t>
            </a:r>
          </a:p>
          <a:p>
            <a:r>
              <a:rPr lang="en-US" b="0" i="0" dirty="0">
                <a:solidFill>
                  <a:srgbClr val="888888"/>
                </a:solidFill>
                <a:effectLst/>
                <a:latin typeface="ralewayregular"/>
              </a:rPr>
              <a:t>At this point the performance of the team is not having much of an impact</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13</a:t>
            </a:fld>
            <a:endParaRPr lang="en-US"/>
          </a:p>
        </p:txBody>
      </p:sp>
    </p:spTree>
    <p:extLst>
      <p:ext uri="{BB962C8B-B14F-4D97-AF65-F5344CB8AC3E}">
        <p14:creationId xmlns:p14="http://schemas.microsoft.com/office/powerpoint/2010/main" val="4227655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131313"/>
                </a:solidFill>
                <a:effectLst/>
                <a:latin typeface="Verdana" panose="020B0604030504040204" pitchFamily="34" charset="0"/>
              </a:rPr>
              <a:t>Features of Norming include reconciliation, relief, lowered anxiety, members are engaged and supportive, and developing cohesion. Strategies for this phase include recognizing individual and group efforts, providing learning opportunities and feedback, and monitoring the 'energy' of the group.</a:t>
            </a:r>
          </a:p>
          <a:p>
            <a:endParaRPr lang="en-GB" dirty="0">
              <a:solidFill>
                <a:srgbClr val="131313"/>
              </a:solidFill>
              <a:effectLst/>
              <a:latin typeface="Verdana" panose="020B0604030504040204" pitchFamily="34" charset="0"/>
            </a:endParaRPr>
          </a:p>
          <a:p>
            <a:r>
              <a:rPr lang="en-US" b="0" i="0" dirty="0">
                <a:solidFill>
                  <a:srgbClr val="888888"/>
                </a:solidFill>
                <a:effectLst/>
                <a:latin typeface="ralewayregular"/>
              </a:rPr>
              <a:t>The now resolved disagreements and personality clashes result in greater intimacy, and a spirit of co-operation emerges. This happens when the team is aware they share a common goal. In this stage, </a:t>
            </a:r>
            <a:r>
              <a:rPr lang="en-US" b="1" i="0" dirty="0">
                <a:solidFill>
                  <a:srgbClr val="888888"/>
                </a:solidFill>
                <a:effectLst/>
                <a:latin typeface="ralewayregular"/>
              </a:rPr>
              <a:t>all </a:t>
            </a:r>
            <a:r>
              <a:rPr lang="en-US" b="0" i="0" dirty="0">
                <a:solidFill>
                  <a:srgbClr val="888888"/>
                </a:solidFill>
                <a:effectLst/>
                <a:latin typeface="ralewayregular"/>
              </a:rPr>
              <a:t>team members take </a:t>
            </a:r>
            <a:r>
              <a:rPr lang="en-US" b="1" i="0" dirty="0">
                <a:solidFill>
                  <a:srgbClr val="888888"/>
                </a:solidFill>
                <a:effectLst/>
                <a:latin typeface="ralewayregular"/>
              </a:rPr>
              <a:t>the responsibility </a:t>
            </a:r>
            <a:r>
              <a:rPr lang="en-US" b="0" i="0" dirty="0">
                <a:solidFill>
                  <a:srgbClr val="888888"/>
                </a:solidFill>
                <a:effectLst/>
                <a:latin typeface="ralewayregular"/>
              </a:rPr>
              <a:t>and have the </a:t>
            </a:r>
            <a:r>
              <a:rPr lang="en-US" b="1" i="0" dirty="0">
                <a:solidFill>
                  <a:srgbClr val="888888"/>
                </a:solidFill>
                <a:effectLst/>
                <a:latin typeface="ralewayregular"/>
              </a:rPr>
              <a:t>ambition to work for the success of the team’s goals.</a:t>
            </a:r>
            <a:r>
              <a:rPr lang="en-US" b="0" i="0" dirty="0">
                <a:solidFill>
                  <a:srgbClr val="888888"/>
                </a:solidFill>
                <a:effectLst/>
                <a:latin typeface="ralewayregular"/>
              </a:rPr>
              <a:t> They start </a:t>
            </a:r>
            <a:r>
              <a:rPr lang="en-US" b="1" i="0" dirty="0">
                <a:solidFill>
                  <a:srgbClr val="888888"/>
                </a:solidFill>
                <a:effectLst/>
                <a:latin typeface="ralewayregular"/>
              </a:rPr>
              <a:t>tolerating t</a:t>
            </a:r>
            <a:r>
              <a:rPr lang="en-US" b="0" i="0" dirty="0">
                <a:solidFill>
                  <a:srgbClr val="888888"/>
                </a:solidFill>
                <a:effectLst/>
                <a:latin typeface="ralewayregular"/>
              </a:rPr>
              <a:t>he whims and fancies of the other team members. They accept others as they are and make an effort to move on. The </a:t>
            </a:r>
            <a:r>
              <a:rPr lang="en-US" b="1" i="0" dirty="0">
                <a:solidFill>
                  <a:srgbClr val="888888"/>
                </a:solidFill>
                <a:effectLst/>
                <a:latin typeface="ralewayregular"/>
              </a:rPr>
              <a:t>danger here is that members may be so focused on preventing conflict that they are reluctant to share controversial ideas.</a:t>
            </a:r>
          </a:p>
          <a:p>
            <a:endParaRPr lang="en-US" b="1" i="0" dirty="0">
              <a:solidFill>
                <a:srgbClr val="888888"/>
              </a:solidFill>
              <a:effectLst/>
              <a:latin typeface="ralewayregular"/>
            </a:endParaRPr>
          </a:p>
          <a:p>
            <a:r>
              <a:rPr lang="en-US" b="1" i="0" dirty="0">
                <a:solidFill>
                  <a:srgbClr val="888888"/>
                </a:solidFill>
                <a:effectLst/>
                <a:latin typeface="ralewayregular"/>
              </a:rPr>
              <a:t>At this point the effectiveness and the performance of the team is improving.</a:t>
            </a:r>
            <a:br>
              <a:rPr lang="en-GB" b="1" dirty="0">
                <a:solidFill>
                  <a:srgbClr val="131313"/>
                </a:solidFill>
                <a:effectLst/>
                <a:latin typeface="Verdana" panose="020B0604030504040204" pitchFamily="34" charset="0"/>
              </a:rPr>
            </a:br>
            <a:endParaRPr lang="en-GB" b="1" dirty="0"/>
          </a:p>
        </p:txBody>
      </p:sp>
      <p:sp>
        <p:nvSpPr>
          <p:cNvPr id="4" name="Slide Number Placeholder 3"/>
          <p:cNvSpPr>
            <a:spLocks noGrp="1"/>
          </p:cNvSpPr>
          <p:nvPr>
            <p:ph type="sldNum" sz="quarter" idx="5"/>
          </p:nvPr>
        </p:nvSpPr>
        <p:spPr/>
        <p:txBody>
          <a:bodyPr/>
          <a:lstStyle/>
          <a:p>
            <a:fld id="{51D890D9-946C-F447-A007-CD62FC879AC5}" type="slidenum">
              <a:rPr lang="en-US" smtClean="0"/>
              <a:t>14</a:t>
            </a:fld>
            <a:endParaRPr lang="en-US"/>
          </a:p>
        </p:txBody>
      </p:sp>
    </p:spTree>
    <p:extLst>
      <p:ext uri="{BB962C8B-B14F-4D97-AF65-F5344CB8AC3E}">
        <p14:creationId xmlns:p14="http://schemas.microsoft.com/office/powerpoint/2010/main" val="3017389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131313"/>
                </a:solidFill>
                <a:effectLst/>
                <a:latin typeface="Verdana" panose="020B0604030504040204" pitchFamily="34" charset="0"/>
              </a:rPr>
              <a:t>Characteristics of Performing include demonstrations of interdependence, healthy system, ability to effectively produce as a team, and balance of task and process orientation. Strategies for this stage include celebrating, 'guide from the side' (minimal intervention), encouraging group decision-making and problem-solving, and providing opportunities to share learning across teams.</a:t>
            </a:r>
          </a:p>
          <a:p>
            <a:endParaRPr lang="en-GB" dirty="0">
              <a:solidFill>
                <a:srgbClr val="131313"/>
              </a:solidFill>
              <a:effectLst/>
              <a:latin typeface="Verdana" panose="020B0604030504040204" pitchFamily="34" charset="0"/>
            </a:endParaRPr>
          </a:p>
          <a:p>
            <a:pPr algn="l" fontAlgn="base"/>
            <a:r>
              <a:rPr lang="en-US" b="0" i="0" dirty="0">
                <a:solidFill>
                  <a:srgbClr val="888888"/>
                </a:solidFill>
                <a:effectLst/>
                <a:latin typeface="ralewayregular"/>
              </a:rPr>
              <a:t>The </a:t>
            </a:r>
            <a:r>
              <a:rPr lang="en-US" b="1" i="0" dirty="0">
                <a:solidFill>
                  <a:srgbClr val="888888"/>
                </a:solidFill>
                <a:effectLst/>
                <a:latin typeface="ralewayregular"/>
              </a:rPr>
              <a:t>group norms and roles are established</a:t>
            </a:r>
            <a:r>
              <a:rPr lang="en-US" b="0" i="0" dirty="0">
                <a:solidFill>
                  <a:srgbClr val="888888"/>
                </a:solidFill>
                <a:effectLst/>
                <a:latin typeface="ralewayregular"/>
              </a:rPr>
              <a:t>, group members </a:t>
            </a:r>
            <a:r>
              <a:rPr lang="en-US" b="1" i="0" dirty="0">
                <a:solidFill>
                  <a:srgbClr val="888888"/>
                </a:solidFill>
                <a:effectLst/>
                <a:latin typeface="ralewayregular"/>
              </a:rPr>
              <a:t>focus on achieving common goals</a:t>
            </a:r>
            <a:r>
              <a:rPr lang="en-US" b="0" i="0" dirty="0">
                <a:solidFill>
                  <a:srgbClr val="888888"/>
                </a:solidFill>
                <a:effectLst/>
                <a:latin typeface="ralewayregular"/>
              </a:rPr>
              <a:t>, often reaching an unexpectedly </a:t>
            </a:r>
            <a:r>
              <a:rPr lang="en-US" b="1" i="0" dirty="0">
                <a:solidFill>
                  <a:srgbClr val="888888"/>
                </a:solidFill>
                <a:effectLst/>
                <a:latin typeface="ralewayregular"/>
              </a:rPr>
              <a:t>high level of success</a:t>
            </a:r>
            <a:r>
              <a:rPr lang="en-US" b="0" i="0" dirty="0">
                <a:solidFill>
                  <a:srgbClr val="888888"/>
                </a:solidFill>
                <a:effectLst/>
                <a:latin typeface="ralewayregular"/>
              </a:rPr>
              <a:t>. They are </a:t>
            </a:r>
            <a:r>
              <a:rPr lang="en-US" b="1" i="0" dirty="0">
                <a:solidFill>
                  <a:srgbClr val="888888"/>
                </a:solidFill>
                <a:effectLst/>
                <a:latin typeface="ralewayregular"/>
              </a:rPr>
              <a:t>motivated and knowledgeable</a:t>
            </a:r>
            <a:r>
              <a:rPr lang="en-US" b="0" i="0" dirty="0">
                <a:solidFill>
                  <a:srgbClr val="888888"/>
                </a:solidFill>
                <a:effectLst/>
                <a:latin typeface="ralewayregular"/>
              </a:rPr>
              <a:t>. The team members are now competent, autonomous and able to handle the decision-making process without supervision. </a:t>
            </a:r>
            <a:r>
              <a:rPr lang="en-US" b="1" i="0" dirty="0">
                <a:solidFill>
                  <a:srgbClr val="888888"/>
                </a:solidFill>
                <a:effectLst/>
                <a:latin typeface="ralewayregular"/>
              </a:rPr>
              <a:t>Dissent is expected and allowed </a:t>
            </a:r>
            <a:r>
              <a:rPr lang="en-US" b="0" i="0" dirty="0">
                <a:solidFill>
                  <a:srgbClr val="888888"/>
                </a:solidFill>
                <a:effectLst/>
                <a:latin typeface="ralewayregular"/>
              </a:rPr>
              <a:t>as long as it is </a:t>
            </a:r>
            <a:r>
              <a:rPr lang="en-US" b="0" i="0" dirty="0" err="1">
                <a:solidFill>
                  <a:srgbClr val="888888"/>
                </a:solidFill>
                <a:effectLst/>
                <a:latin typeface="ralewayregular"/>
              </a:rPr>
              <a:t>channelled</a:t>
            </a:r>
            <a:r>
              <a:rPr lang="en-US" b="0" i="0" dirty="0">
                <a:solidFill>
                  <a:srgbClr val="888888"/>
                </a:solidFill>
                <a:effectLst/>
                <a:latin typeface="ralewayregular"/>
              </a:rPr>
              <a:t> through means acceptable to the team.</a:t>
            </a:r>
          </a:p>
          <a:p>
            <a:pPr algn="l" fontAlgn="base"/>
            <a:r>
              <a:rPr lang="en-US" b="1" i="0" dirty="0">
                <a:solidFill>
                  <a:srgbClr val="888888"/>
                </a:solidFill>
                <a:effectLst/>
                <a:latin typeface="ralewayregular"/>
              </a:rPr>
              <a:t>Supervisors</a:t>
            </a:r>
            <a:r>
              <a:rPr lang="en-US" b="0" i="0" dirty="0">
                <a:solidFill>
                  <a:srgbClr val="888888"/>
                </a:solidFill>
                <a:effectLst/>
                <a:latin typeface="ralewayregular"/>
              </a:rPr>
              <a:t> of the team during this phase are almost always </a:t>
            </a:r>
            <a:r>
              <a:rPr lang="en-US" b="1" i="0" dirty="0">
                <a:solidFill>
                  <a:srgbClr val="888888"/>
                </a:solidFill>
                <a:effectLst/>
                <a:latin typeface="ralewayregular"/>
              </a:rPr>
              <a:t>participating. </a:t>
            </a:r>
            <a:r>
              <a:rPr lang="en-US" b="0" i="0" dirty="0">
                <a:solidFill>
                  <a:srgbClr val="888888"/>
                </a:solidFill>
                <a:effectLst/>
                <a:latin typeface="ralewayregular"/>
              </a:rPr>
              <a:t>The team will make most of the necessary decisions. Even the most high-performing teams will revert to earlier stages in certain circumstances. </a:t>
            </a:r>
            <a:r>
              <a:rPr lang="en-US" b="1" i="0" dirty="0">
                <a:solidFill>
                  <a:srgbClr val="888888"/>
                </a:solidFill>
                <a:effectLst/>
                <a:latin typeface="ralewayregular"/>
              </a:rPr>
              <a:t>Many long-standing teams go through these cycles many times as they react to changing circumstances</a:t>
            </a:r>
            <a:r>
              <a:rPr lang="en-US" b="0" i="0" dirty="0">
                <a:solidFill>
                  <a:srgbClr val="888888"/>
                </a:solidFill>
                <a:effectLst/>
                <a:latin typeface="ralewayregular"/>
              </a:rPr>
              <a:t>. For example, a change in leadership may cause the team to revert to </a:t>
            </a:r>
            <a:r>
              <a:rPr lang="en-US" b="0" i="1" dirty="0">
                <a:solidFill>
                  <a:srgbClr val="888888"/>
                </a:solidFill>
                <a:effectLst/>
                <a:latin typeface="ralewayregular"/>
              </a:rPr>
              <a:t>storming</a:t>
            </a:r>
            <a:r>
              <a:rPr lang="en-US" b="0" i="0" dirty="0">
                <a:solidFill>
                  <a:srgbClr val="888888"/>
                </a:solidFill>
                <a:effectLst/>
                <a:latin typeface="ralewayregular"/>
              </a:rPr>
              <a:t> as the new people challenge the existing norms and dynamics of the team.</a:t>
            </a:r>
          </a:p>
          <a:p>
            <a:br>
              <a:rPr lang="en-GB" dirty="0">
                <a:solidFill>
                  <a:srgbClr val="131313"/>
                </a:solidFill>
                <a:effectLst/>
                <a:latin typeface="Verdana" panose="020B0604030504040204" pitchFamily="34" charset="0"/>
              </a:rPr>
            </a:b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15</a:t>
            </a:fld>
            <a:endParaRPr lang="en-US"/>
          </a:p>
        </p:txBody>
      </p:sp>
    </p:spTree>
    <p:extLst>
      <p:ext uri="{BB962C8B-B14F-4D97-AF65-F5344CB8AC3E}">
        <p14:creationId xmlns:p14="http://schemas.microsoft.com/office/powerpoint/2010/main" val="3158063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888888"/>
                </a:solidFill>
                <a:effectLst/>
                <a:latin typeface="ralewayregular"/>
              </a:rPr>
              <a:t>In 1977, Tuckman, jointly with Mary Ann Jensen, added a fifth stage to the four stages: </a:t>
            </a:r>
            <a:r>
              <a:rPr lang="en-US" b="0" i="1" dirty="0">
                <a:solidFill>
                  <a:srgbClr val="888888"/>
                </a:solidFill>
                <a:effectLst/>
                <a:latin typeface="ralewayregular"/>
              </a:rPr>
              <a:t>adjourning</a:t>
            </a:r>
            <a:r>
              <a:rPr lang="en-US" b="0" i="0" dirty="0">
                <a:solidFill>
                  <a:srgbClr val="888888"/>
                </a:solidFill>
                <a:effectLst/>
                <a:latin typeface="ralewayregular"/>
              </a:rPr>
              <a:t>.</a:t>
            </a:r>
            <a:endParaRPr lang="en-GB" dirty="0">
              <a:solidFill>
                <a:srgbClr val="131313"/>
              </a:solidFill>
              <a:effectLst/>
              <a:latin typeface="Verdana" panose="020B0604030504040204" pitchFamily="34" charset="0"/>
            </a:endParaRPr>
          </a:p>
          <a:p>
            <a:r>
              <a:rPr lang="en-GB" dirty="0">
                <a:solidFill>
                  <a:srgbClr val="131313"/>
                </a:solidFill>
                <a:effectLst/>
                <a:latin typeface="Verdana" panose="020B0604030504040204" pitchFamily="34" charset="0"/>
              </a:rPr>
              <a:t>Traits of Adjourning include a shift to process orientation, sadness, and recognition of team and individual efforts. Strategies for this phase include recognizing change, providing an opportunity for summative team evaluations, and providing an opportunity for acknowledgments.</a:t>
            </a:r>
          </a:p>
          <a:p>
            <a:endParaRPr lang="en-GB" dirty="0">
              <a:solidFill>
                <a:srgbClr val="131313"/>
              </a:solidFill>
              <a:effectLst/>
              <a:latin typeface="Verdana" panose="020B0604030504040204" pitchFamily="34" charset="0"/>
            </a:endParaRPr>
          </a:p>
          <a:p>
            <a:r>
              <a:rPr lang="en-GB" dirty="0">
                <a:solidFill>
                  <a:srgbClr val="131313"/>
                </a:solidFill>
                <a:effectLst/>
                <a:latin typeface="Verdana" panose="020B0604030504040204" pitchFamily="34" charset="0"/>
              </a:rPr>
              <a:t>Having an awareness of all of these stages will help you to cope with group/teamwork in the future. For example just because things have got a bit rocky during in the storming stage, don’t give up. This is completely normal. Don’t forget </a:t>
            </a:r>
            <a:r>
              <a:rPr lang="en-GB" dirty="0"/>
              <a:t>is Tuckman’s model does allow for backwards and forwards between the stages, it can be reiterative and cyclical taking you in a loop through the storming, norming and performing stages. If this happens in your group work then don’t worry, its perfectly normal.</a:t>
            </a:r>
            <a:br>
              <a:rPr lang="en-GB" dirty="0">
                <a:solidFill>
                  <a:srgbClr val="131313"/>
                </a:solidFill>
                <a:effectLst/>
                <a:latin typeface="Verdana" panose="020B0604030504040204" pitchFamily="34" charset="0"/>
              </a:rPr>
            </a:b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16</a:t>
            </a:fld>
            <a:endParaRPr lang="en-US"/>
          </a:p>
        </p:txBody>
      </p:sp>
    </p:spTree>
    <p:extLst>
      <p:ext uri="{BB962C8B-B14F-4D97-AF65-F5344CB8AC3E}">
        <p14:creationId xmlns:p14="http://schemas.microsoft.com/office/powerpoint/2010/main" val="2985686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Forming</a:t>
            </a:r>
          </a:p>
          <a:p>
            <a:r>
              <a:rPr lang="en-GB" dirty="0"/>
              <a:t>Storming</a:t>
            </a:r>
          </a:p>
          <a:p>
            <a:r>
              <a:rPr lang="en-GB" dirty="0"/>
              <a:t>Norming</a:t>
            </a:r>
          </a:p>
          <a:p>
            <a:r>
              <a:rPr lang="en-GB" dirty="0"/>
              <a:t>Performing</a:t>
            </a:r>
          </a:p>
          <a:p>
            <a:r>
              <a:rPr lang="en-GB" dirty="0"/>
              <a:t>Adjourning</a:t>
            </a:r>
          </a:p>
        </p:txBody>
      </p:sp>
      <p:sp>
        <p:nvSpPr>
          <p:cNvPr id="4" name="Slide Number Placeholder 3"/>
          <p:cNvSpPr>
            <a:spLocks noGrp="1"/>
          </p:cNvSpPr>
          <p:nvPr>
            <p:ph type="sldNum" sz="quarter" idx="5"/>
          </p:nvPr>
        </p:nvSpPr>
        <p:spPr/>
        <p:txBody>
          <a:bodyPr/>
          <a:lstStyle/>
          <a:p>
            <a:fld id="{51D890D9-946C-F447-A007-CD62FC879AC5}" type="slidenum">
              <a:rPr lang="en-US" smtClean="0"/>
              <a:t>17</a:t>
            </a:fld>
            <a:endParaRPr lang="en-US"/>
          </a:p>
        </p:txBody>
      </p:sp>
    </p:spTree>
    <p:extLst>
      <p:ext uri="{BB962C8B-B14F-4D97-AF65-F5344CB8AC3E}">
        <p14:creationId xmlns:p14="http://schemas.microsoft.com/office/powerpoint/2010/main" val="12406771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6A006CC9-7831-43D6-A34F-C21FED5E36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6A3B501A-C707-45A5-BAB5-1ED36F3452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dirty="0"/>
          </a:p>
        </p:txBody>
      </p:sp>
      <p:sp>
        <p:nvSpPr>
          <p:cNvPr id="78852" name="Slide Number Placeholder 3">
            <a:extLst>
              <a:ext uri="{FF2B5EF4-FFF2-40B4-BE49-F238E27FC236}">
                <a16:creationId xmlns:a16="http://schemas.microsoft.com/office/drawing/2014/main" id="{801D0F49-0068-4C37-B6ED-3B80BF7030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A22BA24-DA55-4B3C-ACCB-FBAAC00A7C86}" type="slidenum">
              <a:rPr lang="en-GB" altLang="en-US">
                <a:latin typeface="Calibri" panose="020F0502020204030204" pitchFamily="34" charset="0"/>
              </a:rPr>
              <a:pPr eaLnBrk="1" hangingPunct="1"/>
              <a:t>18</a:t>
            </a:fld>
            <a:endParaRPr lang="en-GB" altLang="en-US">
              <a:latin typeface="Calibri" panose="020F0502020204030204" pitchFamily="34" charset="0"/>
            </a:endParaRPr>
          </a:p>
        </p:txBody>
      </p:sp>
    </p:spTree>
    <p:extLst>
      <p:ext uri="{BB962C8B-B14F-4D97-AF65-F5344CB8AC3E}">
        <p14:creationId xmlns:p14="http://schemas.microsoft.com/office/powerpoint/2010/main" val="4089993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635C7BAF-7010-41DF-8541-CCCA5FCC9D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2F68BA2D-C4C3-4D6A-93B6-91EE608719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80900" name="Slide Number Placeholder 3">
            <a:extLst>
              <a:ext uri="{FF2B5EF4-FFF2-40B4-BE49-F238E27FC236}">
                <a16:creationId xmlns:a16="http://schemas.microsoft.com/office/drawing/2014/main" id="{E9537749-8FF6-4C10-897D-312B850F3A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2281BF-CDD0-4BF2-82B5-0DD73F40811B}" type="slidenum">
              <a:rPr lang="en-GB" altLang="en-US">
                <a:latin typeface="Calibri" panose="020F0502020204030204" pitchFamily="34" charset="0"/>
              </a:rPr>
              <a:pPr eaLnBrk="1" hangingPunct="1"/>
              <a:t>19</a:t>
            </a:fld>
            <a:endParaRPr lang="en-GB" altLang="en-US">
              <a:latin typeface="Calibri" panose="020F0502020204030204" pitchFamily="34" charset="0"/>
            </a:endParaRPr>
          </a:p>
        </p:txBody>
      </p:sp>
    </p:spTree>
    <p:extLst>
      <p:ext uri="{BB962C8B-B14F-4D97-AF65-F5344CB8AC3E}">
        <p14:creationId xmlns:p14="http://schemas.microsoft.com/office/powerpoint/2010/main" val="4247106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16D23E37-25CC-42C1-BBBB-7F338755FD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CB7229F2-F7E5-4029-BD3E-504E9D3234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GB" altLang="en-US" dirty="0"/>
              <a:t>More people need to be working together (less hierarchy)-as a team</a:t>
            </a:r>
          </a:p>
        </p:txBody>
      </p:sp>
      <p:sp>
        <p:nvSpPr>
          <p:cNvPr id="79876" name="Slide Number Placeholder 3">
            <a:extLst>
              <a:ext uri="{FF2B5EF4-FFF2-40B4-BE49-F238E27FC236}">
                <a16:creationId xmlns:a16="http://schemas.microsoft.com/office/drawing/2014/main" id="{3D34C3B5-CEDC-41FC-BEB1-75CA8E7216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A2CCC5-B657-4600-8933-30B0902CAB3B}" type="slidenum">
              <a:rPr lang="en-GB" altLang="en-US">
                <a:latin typeface="Calibri" panose="020F0502020204030204" pitchFamily="34" charset="0"/>
              </a:rPr>
              <a:pPr eaLnBrk="1" hangingPunct="1"/>
              <a:t>20</a:t>
            </a:fld>
            <a:endParaRPr lang="en-GB" altLang="en-US">
              <a:latin typeface="Calibri" panose="020F0502020204030204" pitchFamily="34" charset="0"/>
            </a:endParaRPr>
          </a:p>
        </p:txBody>
      </p:sp>
    </p:spTree>
    <p:extLst>
      <p:ext uri="{BB962C8B-B14F-4D97-AF65-F5344CB8AC3E}">
        <p14:creationId xmlns:p14="http://schemas.microsoft.com/office/powerpoint/2010/main" val="1939551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89033933-A864-4A89-843B-B5156B769D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9E084309-03D2-425C-A27E-DC29BDAB04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81924" name="Slide Number Placeholder 3">
            <a:extLst>
              <a:ext uri="{FF2B5EF4-FFF2-40B4-BE49-F238E27FC236}">
                <a16:creationId xmlns:a16="http://schemas.microsoft.com/office/drawing/2014/main" id="{1C18EF58-E7B6-4FBA-B48A-65E0967D04F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EE0C9C-BA9D-4AAF-8358-A2889214453A}" type="slidenum">
              <a:rPr lang="en-GB" altLang="en-US">
                <a:latin typeface="Calibri" panose="020F0502020204030204" pitchFamily="34" charset="0"/>
              </a:rPr>
              <a:pPr eaLnBrk="1" hangingPunct="1"/>
              <a:t>21</a:t>
            </a:fld>
            <a:endParaRPr lang="en-GB" altLang="en-US">
              <a:latin typeface="Calibri" panose="020F0502020204030204" pitchFamily="34" charset="0"/>
            </a:endParaRPr>
          </a:p>
        </p:txBody>
      </p:sp>
    </p:spTree>
    <p:extLst>
      <p:ext uri="{BB962C8B-B14F-4D97-AF65-F5344CB8AC3E}">
        <p14:creationId xmlns:p14="http://schemas.microsoft.com/office/powerpoint/2010/main" val="95882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Although there are many positives there are also challenges</a:t>
            </a:r>
          </a:p>
          <a:p>
            <a:endParaRPr lang="en-GB" dirty="0"/>
          </a:p>
          <a:p>
            <a:r>
              <a:rPr lang="en-US" dirty="0"/>
              <a:t>Given the virtual context that global virtual teams (GVTs) work in, members’ different cultural backgrounds, the interface of technology, and the fact that members are often not in synch because of different time zones, the role of leading virtual teams is riddled with complexity. Because GVT members often cannot see their leader, one might get the sense that virtual team leaders need to have special knowledge or qualities or display certain types of behaviors to be effective. </a:t>
            </a:r>
          </a:p>
          <a:p>
            <a:endParaRPr lang="en-US" dirty="0"/>
          </a:p>
        </p:txBody>
      </p:sp>
      <p:sp>
        <p:nvSpPr>
          <p:cNvPr id="4" name="Slide Number Placeholder 3"/>
          <p:cNvSpPr>
            <a:spLocks noGrp="1"/>
          </p:cNvSpPr>
          <p:nvPr>
            <p:ph type="sldNum" sz="quarter" idx="5"/>
          </p:nvPr>
        </p:nvSpPr>
        <p:spPr/>
        <p:txBody>
          <a:bodyPr/>
          <a:lstStyle/>
          <a:p>
            <a:fld id="{51D890D9-946C-F447-A007-CD62FC879AC5}" type="slidenum">
              <a:rPr lang="en-US" smtClean="0"/>
              <a:t>22</a:t>
            </a:fld>
            <a:endParaRPr lang="en-US"/>
          </a:p>
        </p:txBody>
      </p:sp>
    </p:spTree>
    <p:extLst>
      <p:ext uri="{BB962C8B-B14F-4D97-AF65-F5344CB8AC3E}">
        <p14:creationId xmlns:p14="http://schemas.microsoft.com/office/powerpoint/2010/main" val="3911382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Joshi and </a:t>
            </a:r>
            <a:r>
              <a:rPr lang="en-US" dirty="0" err="1"/>
              <a:t>Lazarova</a:t>
            </a:r>
            <a:r>
              <a:rPr lang="en-US" dirty="0"/>
              <a:t> (2005) sought answers to the question of what competencies are identified as important for leaders in multinational virtual teams. </a:t>
            </a:r>
          </a:p>
          <a:p>
            <a:r>
              <a:rPr lang="en-US" dirty="0"/>
              <a:t>direction and goal setting, communication, facilitating teamwork and motivating and inspiring. However, team leaders and team members differed in their views about other competencies. For example, managing cultural diversity was mentioned as important by 65% of team leaders, but only 5% of members. Empowering was mentioned only by team leaders, and mentoring and coaching and resource acquisition – only by team members.</a:t>
            </a:r>
            <a:endParaRPr lang="en-GB"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23</a:t>
            </a:fld>
            <a:endParaRPr lang="en-US"/>
          </a:p>
        </p:txBody>
      </p:sp>
    </p:spTree>
    <p:extLst>
      <p:ext uri="{BB962C8B-B14F-4D97-AF65-F5344CB8AC3E}">
        <p14:creationId xmlns:p14="http://schemas.microsoft.com/office/powerpoint/2010/main" val="36161957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There can be both positive and negative aspects of team diversity. Value in diversity comes</a:t>
            </a:r>
          </a:p>
          <a:p>
            <a:pPr algn="l"/>
            <a:r>
              <a:rPr lang="en-US" sz="1800" b="1" i="0" u="none" strike="noStrike" baseline="0" dirty="0">
                <a:latin typeface="Times-Roman"/>
              </a:rPr>
              <a:t>from increased creativity, innovation and flexibility </a:t>
            </a:r>
            <a:r>
              <a:rPr lang="en-US" sz="1800" b="0" i="0" u="none" strike="noStrike" baseline="0" dirty="0">
                <a:latin typeface="Times-Roman"/>
              </a:rPr>
              <a:t>(</a:t>
            </a:r>
            <a:r>
              <a:rPr lang="en-US" sz="1800" b="0" i="0" u="none" strike="noStrike" baseline="0" dirty="0" err="1">
                <a:latin typeface="Times-Roman"/>
              </a:rPr>
              <a:t>Jehn</a:t>
            </a:r>
            <a:r>
              <a:rPr lang="en-US" sz="1800" b="0" i="0" u="none" strike="noStrike" baseline="0" dirty="0">
                <a:latin typeface="Times-Roman"/>
              </a:rPr>
              <a:t>, </a:t>
            </a:r>
            <a:r>
              <a:rPr lang="en-US" sz="1800" b="0" i="0" u="none" strike="noStrike" baseline="0" dirty="0" err="1">
                <a:latin typeface="Times-Roman"/>
              </a:rPr>
              <a:t>Northcraft</a:t>
            </a:r>
            <a:r>
              <a:rPr lang="en-US" sz="1800" b="0" i="0" u="none" strike="noStrike" baseline="0" dirty="0">
                <a:latin typeface="Times-Roman"/>
              </a:rPr>
              <a:t> and Neale 1999; Lau</a:t>
            </a:r>
          </a:p>
          <a:p>
            <a:pPr algn="l"/>
            <a:r>
              <a:rPr lang="en-US" sz="1800" b="0" i="0" u="none" strike="noStrike" baseline="0" dirty="0">
                <a:latin typeface="Times-Roman"/>
              </a:rPr>
              <a:t>and </a:t>
            </a:r>
            <a:r>
              <a:rPr lang="en-US" sz="1800" b="0" i="0" u="none" strike="noStrike" baseline="0" dirty="0" err="1">
                <a:latin typeface="Times-Roman"/>
              </a:rPr>
              <a:t>Murninghan</a:t>
            </a:r>
            <a:r>
              <a:rPr lang="en-US" sz="1800" b="0" i="0" u="none" strike="noStrike" baseline="0" dirty="0">
                <a:latin typeface="Times-Roman"/>
              </a:rPr>
              <a:t> 1998; McLeod et al. 1996). A variety of perspectives and experiences</a:t>
            </a:r>
          </a:p>
          <a:p>
            <a:pPr algn="l"/>
            <a:r>
              <a:rPr lang="en-US" sz="1800" b="0" i="0" u="none" strike="noStrike" baseline="0" dirty="0">
                <a:latin typeface="Times-Roman"/>
              </a:rPr>
              <a:t>(i.e., deep-level diversity) can bring </a:t>
            </a:r>
            <a:r>
              <a:rPr lang="en-US" sz="1800" b="1" i="0" u="none" strike="noStrike" baseline="0" dirty="0">
                <a:latin typeface="Times-Roman"/>
              </a:rPr>
              <a:t>more information and ideas into the team, stimulate</a:t>
            </a:r>
          </a:p>
          <a:p>
            <a:pPr algn="l"/>
            <a:r>
              <a:rPr lang="en-US" sz="1800" b="1" i="0" u="none" strike="noStrike" baseline="0" dirty="0">
                <a:latin typeface="Times-Roman"/>
              </a:rPr>
              <a:t>thinking, and can bring different networks of contacts and resources to the team</a:t>
            </a:r>
            <a:r>
              <a:rPr lang="en-US" sz="1800" b="0" i="0" u="none" strike="noStrike" baseline="0" dirty="0">
                <a:latin typeface="Times-Roman"/>
              </a:rPr>
              <a:t>. When the</a:t>
            </a:r>
          </a:p>
          <a:p>
            <a:pPr algn="l"/>
            <a:r>
              <a:rPr lang="en-US" sz="1800" b="0" i="0" u="none" strike="noStrike" baseline="0" dirty="0">
                <a:latin typeface="Times-Roman"/>
              </a:rPr>
              <a:t>deep-level diversity is relevant to the task facing the team, higher-quality outcomes should</a:t>
            </a:r>
          </a:p>
          <a:p>
            <a:pPr algn="l"/>
            <a:r>
              <a:rPr lang="en-US" sz="1800" b="0" i="0" u="none" strike="noStrike" baseline="0" dirty="0">
                <a:latin typeface="Times-Roman"/>
              </a:rPr>
              <a:t>result; however, if the variety is not relevant to the task, then there is no basis for expecting</a:t>
            </a:r>
          </a:p>
          <a:p>
            <a:pPr algn="l"/>
            <a:r>
              <a:rPr lang="en-US" sz="1800" b="0" i="0" u="none" strike="noStrike" baseline="0" dirty="0">
                <a:latin typeface="Times-Roman"/>
              </a:rPr>
              <a:t> the diversity to enhance the team’s activity. Therefore, the beneficial effect of deep-level</a:t>
            </a:r>
          </a:p>
          <a:p>
            <a:pPr algn="l"/>
            <a:r>
              <a:rPr lang="en-US" sz="1800" b="0" i="0" u="none" strike="noStrike" baseline="0" dirty="0">
                <a:latin typeface="Times-Roman"/>
              </a:rPr>
              <a:t>diversity within a team is contingent on the relevance of the diversity to the team’s task</a:t>
            </a:r>
          </a:p>
          <a:p>
            <a:pPr algn="l"/>
            <a:r>
              <a:rPr lang="en-GB" sz="1800" b="0" i="0" u="none" strike="noStrike" baseline="0" dirty="0">
                <a:latin typeface="Times-Roman"/>
              </a:rPr>
              <a:t>(McLeod et al. 1996).</a:t>
            </a:r>
          </a:p>
          <a:p>
            <a:pPr algn="l"/>
            <a:r>
              <a:rPr lang="en-US" sz="1800" b="0" i="0" u="none" strike="noStrike" baseline="0" dirty="0">
                <a:latin typeface="Times-Roman"/>
              </a:rPr>
              <a:t>Negative aspects of team diversity include </a:t>
            </a:r>
            <a:r>
              <a:rPr lang="en-US" sz="1800" b="1" i="0" u="none" strike="noStrike" baseline="0" dirty="0">
                <a:latin typeface="Times-Roman"/>
              </a:rPr>
              <a:t>communication difficulties, misunderstandings,</a:t>
            </a:r>
          </a:p>
          <a:p>
            <a:pPr algn="l"/>
            <a:r>
              <a:rPr lang="en-US" sz="1800" b="1" i="0" u="none" strike="noStrike" baseline="0" dirty="0">
                <a:latin typeface="Times-Roman"/>
              </a:rPr>
              <a:t>decreased cohesion and increased conflict. </a:t>
            </a:r>
          </a:p>
          <a:p>
            <a:pPr algn="l"/>
            <a:r>
              <a:rPr lang="en-US" sz="1800" b="1" i="0" u="none" strike="noStrike" baseline="0" dirty="0">
                <a:latin typeface="Times-Roman"/>
              </a:rPr>
              <a:t>These process losses result in decreased performance and satisfaction</a:t>
            </a:r>
            <a:r>
              <a:rPr lang="en-US" sz="1800" b="0" i="0" u="none" strike="noStrike" baseline="0" dirty="0">
                <a:latin typeface="Times-Roman"/>
              </a:rPr>
              <a:t> (Hambrick et al. 1998; Lau and </a:t>
            </a:r>
            <a:r>
              <a:rPr lang="en-US" sz="1800" b="0" i="0" u="none" strike="noStrike" baseline="0" dirty="0" err="1">
                <a:latin typeface="Times-Roman"/>
              </a:rPr>
              <a:t>Murninghan</a:t>
            </a:r>
            <a:r>
              <a:rPr lang="en-US" sz="1800" b="0" i="0" u="none" strike="noStrike" baseline="0" dirty="0">
                <a:latin typeface="Times-Roman"/>
              </a:rPr>
              <a:t> 1998; Williams</a:t>
            </a:r>
          </a:p>
          <a:p>
            <a:pPr algn="l"/>
            <a:r>
              <a:rPr lang="en-US" sz="1800" b="0" i="0" u="none" strike="noStrike" baseline="0" dirty="0">
                <a:latin typeface="Times-Roman"/>
              </a:rPr>
              <a:t>and O’Reilly 1998). </a:t>
            </a:r>
          </a:p>
          <a:p>
            <a:pPr algn="l"/>
            <a:r>
              <a:rPr lang="en-US" sz="1800" b="0" i="0" u="none" strike="noStrike" baseline="0" dirty="0">
                <a:latin typeface="Times-Roman"/>
              </a:rPr>
              <a:t>Social identity theory, social categorization theory and the similarity/</a:t>
            </a:r>
          </a:p>
          <a:p>
            <a:pPr algn="l"/>
            <a:r>
              <a:rPr lang="en-US" sz="1800" b="0" i="0" u="none" strike="noStrike" baseline="0" dirty="0">
                <a:latin typeface="Times-Roman"/>
              </a:rPr>
              <a:t>attraction paradigm suggests that the negative effects associated with diversity are</a:t>
            </a:r>
          </a:p>
          <a:p>
            <a:pPr algn="l"/>
            <a:r>
              <a:rPr lang="en-US" sz="1800" b="0" i="0" u="none" strike="noStrike" baseline="0" dirty="0">
                <a:latin typeface="Times-Roman"/>
              </a:rPr>
              <a:t>due to the creation of in-groups and out-groups (Carte and Chidambaram 2004; Salk and</a:t>
            </a:r>
          </a:p>
          <a:p>
            <a:pPr algn="l"/>
            <a:r>
              <a:rPr lang="en-US" sz="1800" b="0" i="0" u="none" strike="noStrike" baseline="0" dirty="0">
                <a:latin typeface="Times-Roman"/>
              </a:rPr>
              <a:t>Brannen 2000). People implicitly categorize themselves into subgroups according to salient</a:t>
            </a:r>
          </a:p>
          <a:p>
            <a:pPr algn="l"/>
            <a:r>
              <a:rPr lang="en-US" sz="1800" b="0" i="0" u="none" strike="noStrike" baseline="0" dirty="0">
                <a:latin typeface="Times-Roman"/>
              </a:rPr>
              <a:t>cues and identify more closely with people they perceive as being similar to themselves.</a:t>
            </a:r>
          </a:p>
          <a:p>
            <a:pPr algn="l"/>
            <a:r>
              <a:rPr lang="en-US" sz="1800" b="0" i="0" u="none" strike="noStrike" baseline="0" dirty="0">
                <a:latin typeface="Times-Roman"/>
              </a:rPr>
              <a:t>They do this to achieve and maintain positive self-identity.</a:t>
            </a:r>
          </a:p>
          <a:p>
            <a:pPr algn="l"/>
            <a:r>
              <a:rPr lang="en-US" sz="1800" b="0" i="0" u="none" strike="noStrike" baseline="0" dirty="0">
                <a:latin typeface="Times-Roman"/>
              </a:rPr>
              <a:t>Overt characteristics (readily observable traits) is typically referred to as surface-level diversity (race, ethnicity, gender, and age), while variety in unobservable characteristics (skills, information and knowledge, values, cognitive</a:t>
            </a:r>
          </a:p>
          <a:p>
            <a:pPr algn="l"/>
            <a:r>
              <a:rPr lang="en-GB" sz="1800" b="0" i="0" u="none" strike="noStrike" baseline="0" dirty="0">
                <a:latin typeface="Times-Roman"/>
              </a:rPr>
              <a:t>processes, and experience)</a:t>
            </a:r>
            <a:r>
              <a:rPr lang="en-US" sz="1800" b="0" i="0" u="none" strike="noStrike" baseline="0" dirty="0">
                <a:latin typeface="Times-Roman"/>
              </a:rPr>
              <a:t> is referred to as deep-level diversity (Carte and Chidambaram 2004).</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25</a:t>
            </a:fld>
            <a:endParaRPr lang="en-US"/>
          </a:p>
        </p:txBody>
      </p:sp>
    </p:spTree>
    <p:extLst>
      <p:ext uri="{BB962C8B-B14F-4D97-AF65-F5344CB8AC3E}">
        <p14:creationId xmlns:p14="http://schemas.microsoft.com/office/powerpoint/2010/main" val="1043993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It’s the dynamics of the team not necessarily the intellectual capabilities of the group, that enable success.</a:t>
            </a:r>
          </a:p>
        </p:txBody>
      </p:sp>
      <p:sp>
        <p:nvSpPr>
          <p:cNvPr id="4" name="Slide Number Placeholder 3"/>
          <p:cNvSpPr>
            <a:spLocks noGrp="1"/>
          </p:cNvSpPr>
          <p:nvPr>
            <p:ph type="sldNum" sz="quarter" idx="5"/>
          </p:nvPr>
        </p:nvSpPr>
        <p:spPr/>
        <p:txBody>
          <a:bodyPr/>
          <a:lstStyle/>
          <a:p>
            <a:fld id="{51D890D9-946C-F447-A007-CD62FC879AC5}" type="slidenum">
              <a:rPr lang="en-US" smtClean="0"/>
              <a:t>27</a:t>
            </a:fld>
            <a:endParaRPr lang="en-US"/>
          </a:p>
        </p:txBody>
      </p:sp>
    </p:spTree>
    <p:extLst>
      <p:ext uri="{BB962C8B-B14F-4D97-AF65-F5344CB8AC3E}">
        <p14:creationId xmlns:p14="http://schemas.microsoft.com/office/powerpoint/2010/main" val="98749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u="none" dirty="0">
                <a:solidFill>
                  <a:schemeClr val="tx1"/>
                </a:solidFill>
                <a:latin typeface="Calibri" panose="020F0502020204030204" pitchFamily="34" charset="0"/>
                <a:cs typeface="Calibri" panose="020F0502020204030204" pitchFamily="34" charset="0"/>
              </a:rPr>
              <a:t>Belbin observed from the research that individuals reacted very differently within the same broad situation. </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Individual differences can cause a group to fall apart. People just don’t fit in. </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On the other hand, variation in personal characteristics can become a source of strength if they are recognised and taken account of. </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So understanding the nature of these differences can become an essential first step in the management of people, providing one can recognise what is useful for a given situation and what is not.</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High Performing Teams need appropriate:</a:t>
            </a:r>
          </a:p>
          <a:p>
            <a:endParaRPr lang="en-GB" sz="1200" u="none" dirty="0">
              <a:solidFill>
                <a:schemeClr val="tx1"/>
              </a:solidFill>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GB" sz="1200" u="none" dirty="0">
                <a:solidFill>
                  <a:schemeClr val="tx1"/>
                </a:solidFill>
                <a:latin typeface="Calibri" panose="020F0502020204030204" pitchFamily="34" charset="0"/>
                <a:cs typeface="Calibri" panose="020F0502020204030204" pitchFamily="34" charset="0"/>
              </a:rPr>
              <a:t>Skills</a:t>
            </a:r>
          </a:p>
          <a:p>
            <a:pPr marL="457200" indent="-457200">
              <a:buFont typeface="Arial" panose="020B0604020202020204" pitchFamily="34" charset="0"/>
              <a:buChar char="•"/>
            </a:pPr>
            <a:endParaRPr lang="en-GB" sz="1200" u="none" dirty="0">
              <a:solidFill>
                <a:schemeClr val="tx1"/>
              </a:solidFill>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GB" sz="1200" u="none" dirty="0">
                <a:solidFill>
                  <a:schemeClr val="tx1"/>
                </a:solidFill>
                <a:latin typeface="Calibri" panose="020F0502020204030204" pitchFamily="34" charset="0"/>
                <a:cs typeface="Calibri" panose="020F0502020204030204" pitchFamily="34" charset="0"/>
              </a:rPr>
              <a:t>Attitudes of Members</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28</a:t>
            </a:fld>
            <a:endParaRPr lang="en-US"/>
          </a:p>
        </p:txBody>
      </p:sp>
    </p:spTree>
    <p:extLst>
      <p:ext uri="{BB962C8B-B14F-4D97-AF65-F5344CB8AC3E}">
        <p14:creationId xmlns:p14="http://schemas.microsoft.com/office/powerpoint/2010/main" val="2461668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u="none" dirty="0">
                <a:solidFill>
                  <a:schemeClr val="tx1"/>
                </a:solidFill>
                <a:latin typeface="Calibri" panose="020F0502020204030204" pitchFamily="34" charset="0"/>
                <a:cs typeface="Calibri" panose="020F0502020204030204" pitchFamily="34" charset="0"/>
              </a:rPr>
              <a:t>Belbin discovered that in order for teams to become high performing they need a mix of behaviours.</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Belbin Identified nine behaviours that are required for high performing teams.</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Teams do not need all behaviours all of the time.</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Team members often have 2 or more behaviours, therefore teams do not need nine members. </a:t>
            </a:r>
          </a:p>
          <a:p>
            <a:endParaRPr lang="en-GB" sz="1200" u="none" dirty="0">
              <a:solidFill>
                <a:schemeClr val="tx1"/>
              </a:solidFill>
              <a:latin typeface="Calibri" panose="020F0502020204030204" pitchFamily="34" charset="0"/>
              <a:cs typeface="Calibri" panose="020F0502020204030204" pitchFamily="34" charset="0"/>
            </a:endParaRPr>
          </a:p>
          <a:p>
            <a:r>
              <a:rPr lang="en-GB" sz="1200" u="none" dirty="0">
                <a:solidFill>
                  <a:schemeClr val="tx1"/>
                </a:solidFill>
                <a:latin typeface="Calibri" panose="020F0502020204030204" pitchFamily="34" charset="0"/>
                <a:cs typeface="Calibri" panose="020F0502020204030204" pitchFamily="34" charset="0"/>
              </a:rPr>
              <a:t>By understanding your own team behaviours and those of the rest of the team you are better able to communicate and work together.</a:t>
            </a:r>
          </a:p>
          <a:p>
            <a:endParaRPr lang="en-GB" sz="1200" u="none" dirty="0">
              <a:solidFill>
                <a:schemeClr val="tx1"/>
              </a:solidFill>
              <a:latin typeface="Calibri" panose="020F0502020204030204" pitchFamily="34" charset="0"/>
              <a:cs typeface="Calibri" panose="020F0502020204030204" pitchFamily="34" charset="0"/>
            </a:endParaRP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29</a:t>
            </a:fld>
            <a:endParaRPr lang="en-US"/>
          </a:p>
        </p:txBody>
      </p:sp>
    </p:spTree>
    <p:extLst>
      <p:ext uri="{BB962C8B-B14F-4D97-AF65-F5344CB8AC3E}">
        <p14:creationId xmlns:p14="http://schemas.microsoft.com/office/powerpoint/2010/main" val="22246351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31</a:t>
            </a:fld>
            <a:endParaRPr lang="en-US"/>
          </a:p>
        </p:txBody>
      </p:sp>
    </p:spTree>
    <p:extLst>
      <p:ext uri="{BB962C8B-B14F-4D97-AF65-F5344CB8AC3E}">
        <p14:creationId xmlns:p14="http://schemas.microsoft.com/office/powerpoint/2010/main" val="3484553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Calibri" panose="020F0502020204030204" pitchFamily="34" charset="0"/>
              </a:rPr>
              <a:t>People / feelings</a:t>
            </a:r>
            <a:endParaRPr lang="en-US" sz="1800" dirty="0">
              <a:effectLst/>
              <a:latin typeface="Calibri" panose="020F0502020204030204" pitchFamily="34" charset="0"/>
            </a:endParaRPr>
          </a:p>
          <a:p>
            <a:r>
              <a:rPr lang="en-US" sz="1800" dirty="0">
                <a:effectLst/>
                <a:latin typeface="Calibri" panose="020F0502020204030204" pitchFamily="34" charset="0"/>
              </a:rPr>
              <a:t>Resource/investigator</a:t>
            </a:r>
          </a:p>
          <a:p>
            <a:r>
              <a:rPr lang="en-US" sz="1800" dirty="0">
                <a:effectLst/>
                <a:latin typeface="Calibri" panose="020F0502020204030204" pitchFamily="34" charset="0"/>
              </a:rPr>
              <a:t>Explores new ideas and possibilities with energy and with others. Good networker. Can be too optimistic and lose energy after the initial flush.</a:t>
            </a:r>
          </a:p>
          <a:p>
            <a:endParaRPr lang="en-GB" dirty="0"/>
          </a:p>
          <a:p>
            <a:r>
              <a:rPr lang="en-GB" dirty="0"/>
              <a:t>People oriented role</a:t>
            </a:r>
          </a:p>
        </p:txBody>
      </p:sp>
      <p:sp>
        <p:nvSpPr>
          <p:cNvPr id="4" name="Slide Number Placeholder 3"/>
          <p:cNvSpPr>
            <a:spLocks noGrp="1"/>
          </p:cNvSpPr>
          <p:nvPr>
            <p:ph type="sldNum" sz="quarter" idx="5"/>
          </p:nvPr>
        </p:nvSpPr>
        <p:spPr/>
        <p:txBody>
          <a:bodyPr/>
          <a:lstStyle/>
          <a:p>
            <a:fld id="{51D890D9-946C-F447-A007-CD62FC879AC5}" type="slidenum">
              <a:rPr lang="en-US" smtClean="0"/>
              <a:t>32</a:t>
            </a:fld>
            <a:endParaRPr lang="en-US"/>
          </a:p>
        </p:txBody>
      </p:sp>
    </p:spTree>
    <p:extLst>
      <p:ext uri="{BB962C8B-B14F-4D97-AF65-F5344CB8AC3E}">
        <p14:creationId xmlns:p14="http://schemas.microsoft.com/office/powerpoint/2010/main" val="36763060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Calibri" panose="020F0502020204030204" pitchFamily="34" charset="0"/>
              </a:rPr>
              <a:t>People / feelings</a:t>
            </a:r>
            <a:endParaRPr lang="en-US" sz="1800" dirty="0">
              <a:effectLst/>
              <a:latin typeface="Calibri" panose="020F0502020204030204" pitchFamily="34" charset="0"/>
            </a:endParaRPr>
          </a:p>
          <a:p>
            <a:r>
              <a:rPr lang="en-US" sz="1800" dirty="0">
                <a:effectLst/>
                <a:latin typeface="Calibri" panose="020F0502020204030204" pitchFamily="34" charset="0"/>
              </a:rPr>
              <a:t>Team worker</a:t>
            </a:r>
          </a:p>
          <a:p>
            <a:r>
              <a:rPr lang="en-US" sz="1800" dirty="0">
                <a:effectLst/>
                <a:latin typeface="Calibri" panose="020F0502020204030204" pitchFamily="34" charset="0"/>
              </a:rPr>
              <a:t>Cares for individuals and the team. Good listener and works to resolve social problems. Can have problems making difficult decisions.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People oriented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33</a:t>
            </a:fld>
            <a:endParaRPr lang="en-US"/>
          </a:p>
        </p:txBody>
      </p:sp>
    </p:spTree>
    <p:extLst>
      <p:ext uri="{BB962C8B-B14F-4D97-AF65-F5344CB8AC3E}">
        <p14:creationId xmlns:p14="http://schemas.microsoft.com/office/powerpoint/2010/main" val="16445919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Calibri" panose="020F0502020204030204" pitchFamily="34" charset="0"/>
              </a:rPr>
              <a:t>People / feelings</a:t>
            </a:r>
            <a:endParaRPr lang="en-US" sz="1800" dirty="0">
              <a:effectLst/>
              <a:latin typeface="Calibri" panose="020F0502020204030204" pitchFamily="34" charset="0"/>
            </a:endParaRPr>
          </a:p>
          <a:p>
            <a:r>
              <a:rPr lang="en-US" sz="1800" dirty="0">
                <a:effectLst/>
                <a:latin typeface="Calibri" panose="020F0502020204030204" pitchFamily="34" charset="0"/>
              </a:rPr>
              <a:t>Coordinator</a:t>
            </a:r>
          </a:p>
          <a:p>
            <a:r>
              <a:rPr lang="en-US" sz="1800" dirty="0">
                <a:effectLst/>
                <a:latin typeface="Calibri" panose="020F0502020204030204" pitchFamily="34" charset="0"/>
              </a:rPr>
              <a:t>Respected leader who helps everyone focus on their task. Can be seen as excessively controlling.</a:t>
            </a:r>
          </a:p>
          <a:p>
            <a:r>
              <a:rPr lang="en-US" sz="1800" dirty="0">
                <a:effectLst/>
                <a:latin typeface="Calibri" panose="020F0502020204030204" pitchFamily="34" charset="0"/>
              </a:rPr>
              <a:t>Traditional team leader role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People oriented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34</a:t>
            </a:fld>
            <a:endParaRPr lang="en-US"/>
          </a:p>
        </p:txBody>
      </p:sp>
    </p:spTree>
    <p:extLst>
      <p:ext uri="{BB962C8B-B14F-4D97-AF65-F5344CB8AC3E}">
        <p14:creationId xmlns:p14="http://schemas.microsoft.com/office/powerpoint/2010/main" val="27639744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Thinking / problem-solving</a:t>
            </a:r>
          </a:p>
          <a:p>
            <a:r>
              <a:rPr lang="en-US" sz="1800" dirty="0">
                <a:effectLst/>
                <a:latin typeface="Calibri" panose="020F0502020204030204" pitchFamily="34" charset="0"/>
              </a:rPr>
              <a:t>Plant</a:t>
            </a:r>
          </a:p>
          <a:p>
            <a:r>
              <a:rPr lang="en-US" sz="1800" dirty="0">
                <a:effectLst/>
                <a:latin typeface="Calibri" panose="020F0502020204030204" pitchFamily="34" charset="0"/>
              </a:rPr>
              <a:t>Solves difficult problems with original and creative ideas. Can be poor communicator and may ignore the details.</a:t>
            </a:r>
          </a:p>
          <a:p>
            <a:endParaRPr lang="en-US" sz="1800" dirty="0">
              <a:effectLst/>
              <a:latin typeface="Calibri" panose="020F0502020204030204" pitchFamily="34" charset="0"/>
            </a:endParaRPr>
          </a:p>
          <a:p>
            <a:r>
              <a:rPr lang="en-US" sz="1800" dirty="0">
                <a:effectLst/>
                <a:latin typeface="Calibri" panose="020F0502020204030204" pitchFamily="34" charset="0"/>
              </a:rPr>
              <a:t>Cerebral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35</a:t>
            </a:fld>
            <a:endParaRPr lang="en-US"/>
          </a:p>
        </p:txBody>
      </p:sp>
    </p:spTree>
    <p:extLst>
      <p:ext uri="{BB962C8B-B14F-4D97-AF65-F5344CB8AC3E}">
        <p14:creationId xmlns:p14="http://schemas.microsoft.com/office/powerpoint/2010/main" val="8032473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Thinking / problem-solving</a:t>
            </a:r>
          </a:p>
          <a:p>
            <a:r>
              <a:rPr lang="en-US" sz="1800" dirty="0">
                <a:effectLst/>
                <a:latin typeface="Calibri" panose="020F0502020204030204" pitchFamily="34" charset="0"/>
              </a:rPr>
              <a:t>Monitor/Evaluator</a:t>
            </a:r>
          </a:p>
          <a:p>
            <a:r>
              <a:rPr lang="en-US" sz="1800" dirty="0">
                <a:effectLst/>
                <a:latin typeface="Calibri" panose="020F0502020204030204" pitchFamily="34" charset="0"/>
              </a:rPr>
              <a:t>Sees the big picture. Thinks carefully and accurately about things. May lack energy or ability to inspire others.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Cerebral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36</a:t>
            </a:fld>
            <a:endParaRPr lang="en-US"/>
          </a:p>
        </p:txBody>
      </p:sp>
    </p:spTree>
    <p:extLst>
      <p:ext uri="{BB962C8B-B14F-4D97-AF65-F5344CB8AC3E}">
        <p14:creationId xmlns:p14="http://schemas.microsoft.com/office/powerpoint/2010/main" val="5367831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Thinking / problem-solving</a:t>
            </a:r>
          </a:p>
          <a:p>
            <a:r>
              <a:rPr lang="en-US" sz="1800" dirty="0">
                <a:effectLst/>
                <a:latin typeface="Calibri" panose="020F0502020204030204" pitchFamily="34" charset="0"/>
              </a:rPr>
              <a:t>Specialist</a:t>
            </a:r>
          </a:p>
          <a:p>
            <a:r>
              <a:rPr lang="en-US" sz="1800" dirty="0">
                <a:effectLst/>
                <a:latin typeface="Calibri" panose="020F0502020204030204" pitchFamily="34" charset="0"/>
              </a:rPr>
              <a:t>Has expert knowledge/skills in key areas and will solve many problems here. Can be disinterested in all other areas.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Cerebral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37</a:t>
            </a:fld>
            <a:endParaRPr lang="en-US"/>
          </a:p>
        </p:txBody>
      </p:sp>
    </p:spTree>
    <p:extLst>
      <p:ext uri="{BB962C8B-B14F-4D97-AF65-F5344CB8AC3E}">
        <p14:creationId xmlns:p14="http://schemas.microsoft.com/office/powerpoint/2010/main" val="16134136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Doing / acting</a:t>
            </a:r>
          </a:p>
          <a:p>
            <a:r>
              <a:rPr lang="en-US" sz="1800" dirty="0">
                <a:effectLst/>
                <a:latin typeface="Calibri" panose="020F0502020204030204" pitchFamily="34" charset="0"/>
              </a:rPr>
              <a:t>Shaper</a:t>
            </a:r>
          </a:p>
          <a:p>
            <a:r>
              <a:rPr lang="en-US" sz="1800" dirty="0">
                <a:effectLst/>
                <a:latin typeface="Calibri" panose="020F0502020204030204" pitchFamily="34" charset="0"/>
              </a:rPr>
              <a:t>Lots of energy and action, challenging others to move forwards. Can be insensitive.</a:t>
            </a:r>
          </a:p>
          <a:p>
            <a:r>
              <a:rPr lang="en-GB" dirty="0"/>
              <a:t>Action oriented role</a:t>
            </a:r>
          </a:p>
        </p:txBody>
      </p:sp>
      <p:sp>
        <p:nvSpPr>
          <p:cNvPr id="4" name="Slide Number Placeholder 3"/>
          <p:cNvSpPr>
            <a:spLocks noGrp="1"/>
          </p:cNvSpPr>
          <p:nvPr>
            <p:ph type="sldNum" sz="quarter" idx="5"/>
          </p:nvPr>
        </p:nvSpPr>
        <p:spPr/>
        <p:txBody>
          <a:bodyPr/>
          <a:lstStyle/>
          <a:p>
            <a:fld id="{51D890D9-946C-F447-A007-CD62FC879AC5}" type="slidenum">
              <a:rPr lang="en-US" smtClean="0"/>
              <a:t>38</a:t>
            </a:fld>
            <a:endParaRPr lang="en-US"/>
          </a:p>
        </p:txBody>
      </p:sp>
    </p:spTree>
    <p:extLst>
      <p:ext uri="{BB962C8B-B14F-4D97-AF65-F5344CB8AC3E}">
        <p14:creationId xmlns:p14="http://schemas.microsoft.com/office/powerpoint/2010/main" val="601069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Doing / acting</a:t>
            </a:r>
          </a:p>
          <a:p>
            <a:r>
              <a:rPr lang="en-US" sz="1800" dirty="0">
                <a:effectLst/>
                <a:latin typeface="Calibri" panose="020F0502020204030204" pitchFamily="34" charset="0"/>
              </a:rPr>
              <a:t>Implementer</a:t>
            </a:r>
          </a:p>
          <a:p>
            <a:r>
              <a:rPr lang="en-US" sz="1800" dirty="0">
                <a:effectLst/>
                <a:latin typeface="Calibri" panose="020F0502020204030204" pitchFamily="34" charset="0"/>
              </a:rPr>
              <a:t>Well-</a:t>
            </a:r>
            <a:r>
              <a:rPr lang="en-US" sz="1800" dirty="0" err="1">
                <a:effectLst/>
                <a:latin typeface="Calibri" panose="020F0502020204030204" pitchFamily="34" charset="0"/>
              </a:rPr>
              <a:t>organised</a:t>
            </a:r>
            <a:r>
              <a:rPr lang="en-US" sz="1800" dirty="0">
                <a:effectLst/>
                <a:latin typeface="Calibri" panose="020F0502020204030204" pitchFamily="34" charset="0"/>
              </a:rPr>
              <a:t> and predictable. Takes basic ideas and makes them work in practice. Can be slow.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Action oriented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39</a:t>
            </a:fld>
            <a:endParaRPr lang="en-US"/>
          </a:p>
        </p:txBody>
      </p:sp>
    </p:spTree>
    <p:extLst>
      <p:ext uri="{BB962C8B-B14F-4D97-AF65-F5344CB8AC3E}">
        <p14:creationId xmlns:p14="http://schemas.microsoft.com/office/powerpoint/2010/main" val="32074835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Doing / acting</a:t>
            </a:r>
          </a:p>
          <a:p>
            <a:r>
              <a:rPr lang="en-US" sz="1800" dirty="0">
                <a:effectLst/>
                <a:latin typeface="Calibri" panose="020F0502020204030204" pitchFamily="34" charset="0"/>
              </a:rPr>
              <a:t>Completer/Finisher</a:t>
            </a:r>
          </a:p>
          <a:p>
            <a:r>
              <a:rPr lang="en-US" sz="1800" dirty="0">
                <a:effectLst/>
                <a:latin typeface="Calibri" panose="020F0502020204030204" pitchFamily="34" charset="0"/>
              </a:rPr>
              <a:t>Reliably sees things through to the end, ironing out the wrinkles and ensuring everything works well. Can worry too much and not trust others.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Action oriented role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40</a:t>
            </a:fld>
            <a:endParaRPr lang="en-US"/>
          </a:p>
        </p:txBody>
      </p:sp>
    </p:spTree>
    <p:extLst>
      <p:ext uri="{BB962C8B-B14F-4D97-AF65-F5344CB8AC3E}">
        <p14:creationId xmlns:p14="http://schemas.microsoft.com/office/powerpoint/2010/main" val="23574249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41</a:t>
            </a:fld>
            <a:endParaRPr lang="en-US"/>
          </a:p>
        </p:txBody>
      </p:sp>
    </p:spTree>
    <p:extLst>
      <p:ext uri="{BB962C8B-B14F-4D97-AF65-F5344CB8AC3E}">
        <p14:creationId xmlns:p14="http://schemas.microsoft.com/office/powerpoint/2010/main" val="568158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42</a:t>
            </a:fld>
            <a:endParaRPr lang="en-US"/>
          </a:p>
        </p:txBody>
      </p:sp>
    </p:spTree>
    <p:extLst>
      <p:ext uri="{BB962C8B-B14F-4D97-AF65-F5344CB8AC3E}">
        <p14:creationId xmlns:p14="http://schemas.microsoft.com/office/powerpoint/2010/main" val="20356355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44</a:t>
            </a:fld>
            <a:endParaRPr lang="en-US"/>
          </a:p>
        </p:txBody>
      </p:sp>
    </p:spTree>
    <p:extLst>
      <p:ext uri="{BB962C8B-B14F-4D97-AF65-F5344CB8AC3E}">
        <p14:creationId xmlns:p14="http://schemas.microsoft.com/office/powerpoint/2010/main" val="6494930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Georgia" panose="02040502050405020303" pitchFamily="18" charset="0"/>
              </a:rPr>
              <a:t>In fact, the physical distance may be helpful to some of these roles: it can help the plant attain a better view of the situation without interference from the continuous interaction with the team members. The same is true for the Monitor/ Evaluator, whose job is to pass objective judgment on different ideas and solutions. As for the Specialist, a virtual team can help mitigate some of the acceptable weaknesses of that role, including the Specialist’s natural dislike for working in groups.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45</a:t>
            </a:fld>
            <a:endParaRPr lang="en-US"/>
          </a:p>
        </p:txBody>
      </p:sp>
    </p:spTree>
    <p:extLst>
      <p:ext uri="{BB962C8B-B14F-4D97-AF65-F5344CB8AC3E}">
        <p14:creationId xmlns:p14="http://schemas.microsoft.com/office/powerpoint/2010/main" val="16493116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GVT’s often rely on written communication.</a:t>
            </a:r>
          </a:p>
          <a:p>
            <a:pPr algn="l" fontAlgn="base"/>
            <a:r>
              <a:rPr lang="en-US" b="0" i="0" dirty="0">
                <a:solidFill>
                  <a:srgbClr val="333333"/>
                </a:solidFill>
                <a:effectLst/>
                <a:latin typeface="Georgia" panose="02040502050405020303" pitchFamily="18" charset="0"/>
              </a:rPr>
              <a:t>Some of these roles need to make adjustment to correct for the geographic, and possibly cultural, dispersal of the team. Because virtual teams are best run in a command-and-control manner the Implementer (who turns basic ideas into plans) needs to create clear and concise implementation steps, and follow up closely to avoid any misunderstandings.</a:t>
            </a:r>
          </a:p>
          <a:p>
            <a:pPr algn="l" fontAlgn="base"/>
            <a:r>
              <a:rPr lang="en-US" b="0" i="0" dirty="0">
                <a:solidFill>
                  <a:srgbClr val="333333"/>
                </a:solidFill>
                <a:effectLst/>
                <a:latin typeface="Georgia" panose="02040502050405020303" pitchFamily="18" charset="0"/>
              </a:rPr>
              <a:t>As for the Shaper, the virtual nature of the team can amplify his/her weaknesses: the risk of offending team members becomes much higher when using written communication media like e-mails and when working across cultures on global virtual teams.  The same is true for the Completer/ Finisher, whose painstaking attention to details can be misinterpreted when communicated remotely and across cultures. Special training in cross-cultural communication and in written communication may be needed for the team members who play these roles remotely.</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46</a:t>
            </a:fld>
            <a:endParaRPr lang="en-US"/>
          </a:p>
        </p:txBody>
      </p:sp>
    </p:spTree>
    <p:extLst>
      <p:ext uri="{BB962C8B-B14F-4D97-AF65-F5344CB8AC3E}">
        <p14:creationId xmlns:p14="http://schemas.microsoft.com/office/powerpoint/2010/main" val="36847002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333333"/>
                </a:solidFill>
                <a:effectLst/>
                <a:latin typeface="Georgia" panose="02040502050405020303" pitchFamily="18" charset="0"/>
              </a:rPr>
              <a:t>In virtual teams, Coordinators need to adopt command-and-control methods rather than facilitation methods. Recent research by </a:t>
            </a:r>
            <a:r>
              <a:rPr lang="en-US" b="0" i="0" dirty="0" err="1">
                <a:solidFill>
                  <a:srgbClr val="333333"/>
                </a:solidFill>
                <a:effectLst/>
                <a:latin typeface="Georgia" panose="02040502050405020303" pitchFamily="18" charset="0"/>
              </a:rPr>
              <a:t>Insead</a:t>
            </a:r>
            <a:r>
              <a:rPr lang="en-US" b="0" i="0" dirty="0">
                <a:solidFill>
                  <a:srgbClr val="333333"/>
                </a:solidFill>
                <a:effectLst/>
                <a:latin typeface="Georgia" panose="02040502050405020303" pitchFamily="18" charset="0"/>
              </a:rPr>
              <a:t> Professor José Santos indicates </a:t>
            </a:r>
            <a:r>
              <a:rPr lang="en-US" b="1" i="0" dirty="0">
                <a:solidFill>
                  <a:srgbClr val="333333"/>
                </a:solidFill>
                <a:effectLst/>
                <a:latin typeface="Georgia" panose="02040502050405020303" pitchFamily="18" charset="0"/>
              </a:rPr>
              <a:t>centrally-supervised, hierarchical virtual teams perform much better than those that employ consensus building</a:t>
            </a:r>
            <a:r>
              <a:rPr lang="en-US" b="0" i="0" dirty="0">
                <a:solidFill>
                  <a:srgbClr val="333333"/>
                </a:solidFill>
                <a:effectLst/>
                <a:latin typeface="Georgia" panose="02040502050405020303" pitchFamily="18" charset="0"/>
              </a:rPr>
              <a:t>. Consequently, Coordinators needs to play the role of orchestra conductors in allocating the work among team members. </a:t>
            </a:r>
          </a:p>
          <a:p>
            <a:pPr algn="l" fontAlgn="base"/>
            <a:endParaRPr lang="en-US" b="0" i="0" dirty="0">
              <a:solidFill>
                <a:srgbClr val="333333"/>
              </a:solidFill>
              <a:effectLst/>
              <a:latin typeface="Georgia" panose="02040502050405020303" pitchFamily="18" charset="0"/>
            </a:endParaRPr>
          </a:p>
          <a:p>
            <a:pPr algn="l" fontAlgn="base"/>
            <a:r>
              <a:rPr lang="en-US" b="0" i="0" dirty="0">
                <a:solidFill>
                  <a:srgbClr val="333333"/>
                </a:solidFill>
                <a:effectLst/>
                <a:latin typeface="Georgia" panose="02040502050405020303" pitchFamily="18" charset="0"/>
              </a:rPr>
              <a:t>In addition, virtual teams benefit from clearly defined rules governing communications, meetings and deadline, rules that should be established and enforced by the Coordinator. Finally, because of global nature of many virtual teams, the coordinator must be adept at working across cultural boundaries .</a:t>
            </a:r>
          </a:p>
          <a:p>
            <a:pPr algn="l" fontAlgn="base"/>
            <a:endParaRPr lang="en-US" b="0" i="0" dirty="0">
              <a:solidFill>
                <a:srgbClr val="333333"/>
              </a:solidFill>
              <a:effectLst/>
              <a:latin typeface="Georgia" panose="02040502050405020303" pitchFamily="18" charset="0"/>
            </a:endParaRPr>
          </a:p>
          <a:p>
            <a:pPr algn="l" fontAlgn="base"/>
            <a:r>
              <a:rPr lang="en-US" b="0" i="0" dirty="0">
                <a:solidFill>
                  <a:srgbClr val="333333"/>
                </a:solidFill>
                <a:effectLst/>
                <a:latin typeface="Georgia" panose="02040502050405020303" pitchFamily="18" charset="0"/>
              </a:rPr>
              <a:t>Cross-cultural skills are also essential for Team Workers and Resource Investigators in virtual teams. A Team Worker needs to be able to bridge the cultural gap present in most global team, and a Resource Investigator should be able to project his/her social skills across cultures in order to be able to locate assets and resources on a global level.</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47</a:t>
            </a:fld>
            <a:endParaRPr lang="en-US"/>
          </a:p>
        </p:txBody>
      </p:sp>
    </p:spTree>
    <p:extLst>
      <p:ext uri="{BB962C8B-B14F-4D97-AF65-F5344CB8AC3E}">
        <p14:creationId xmlns:p14="http://schemas.microsoft.com/office/powerpoint/2010/main" val="8862686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48</a:t>
            </a:fld>
            <a:endParaRPr lang="en-US"/>
          </a:p>
        </p:txBody>
      </p:sp>
    </p:spTree>
    <p:extLst>
      <p:ext uri="{BB962C8B-B14F-4D97-AF65-F5344CB8AC3E}">
        <p14:creationId xmlns:p14="http://schemas.microsoft.com/office/powerpoint/2010/main" val="6301224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Through your time at university and when you go out into the world of work you will be working with many people from many different cultures.</a:t>
            </a:r>
          </a:p>
          <a:p>
            <a:r>
              <a:rPr lang="en-GB" dirty="0"/>
              <a:t>In teams made up of individuals from different cultural backgrounds it is common for miscommunications to arise. Even when 2 people are communicating in the same room in the same language then there can be interference in the communication known as noise. Culture is the noise that can cause the message to be distorted.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Anything that undermines the communication of intended meaning is referred to as </a:t>
            </a:r>
            <a:r>
              <a:rPr lang="en-GB" b="1" dirty="0"/>
              <a:t>noise</a:t>
            </a:r>
            <a:r>
              <a:rPr lang="en-GB" dirty="0"/>
              <a:t>. The more dissimilar the culture, the bigger likelihood of noise. (</a:t>
            </a:r>
            <a:r>
              <a:rPr lang="en-GB" dirty="0" err="1"/>
              <a:t>Deresky</a:t>
            </a:r>
            <a:r>
              <a:rPr lang="en-GB" dirty="0"/>
              <a:t>, 2017)</a:t>
            </a:r>
          </a:p>
          <a:p>
            <a:endParaRPr lang="en-GB" dirty="0"/>
          </a:p>
          <a:p>
            <a:endParaRPr lang="en-GB" dirty="0"/>
          </a:p>
          <a:p>
            <a:r>
              <a:rPr lang="en-GB" dirty="0"/>
              <a:t>What is culture?</a:t>
            </a:r>
          </a:p>
          <a:p>
            <a:endParaRPr lang="en-GB" dirty="0"/>
          </a:p>
          <a:p>
            <a:r>
              <a:rPr lang="en-US" b="1" i="0" dirty="0">
                <a:solidFill>
                  <a:srgbClr val="000000"/>
                </a:solidFill>
                <a:effectLst/>
                <a:latin typeface="Arial" panose="020B0604020202020204" pitchFamily="34" charset="0"/>
              </a:rPr>
              <a:t>Geert Hofstede</a:t>
            </a:r>
            <a:r>
              <a:rPr lang="en-US" b="0" i="0" dirty="0">
                <a:solidFill>
                  <a:srgbClr val="000000"/>
                </a:solidFill>
                <a:effectLst/>
                <a:latin typeface="Arial" panose="020B0604020202020204" pitchFamily="34" charset="0"/>
              </a:rPr>
              <a:t>, a widely known Dutch researcher of culture, has defined culture as "the collective programming of the mind which distinguishes the members of one group or category of people from another." (1991, p.5).</a:t>
            </a:r>
          </a:p>
          <a:p>
            <a:endParaRPr lang="en-US"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backpack that we carry around with ourselves, the social norms, values and behaviours that we have picked up from our parents, grandparents and teachers.</a:t>
            </a:r>
          </a:p>
          <a:p>
            <a:endParaRPr lang="en-US" b="0" i="0" dirty="0">
              <a:solidFill>
                <a:srgbClr val="000000"/>
              </a:solidFill>
              <a:effectLst/>
              <a:latin typeface="Arial" panose="020B0604020202020204" pitchFamily="34" charset="0"/>
            </a:endParaRPr>
          </a:p>
          <a:p>
            <a:endParaRPr lang="en-US" b="0" i="0" dirty="0">
              <a:solidFill>
                <a:srgbClr val="000000"/>
              </a:solidFill>
              <a:effectLst/>
              <a:latin typeface="Arial" panose="020B0604020202020204" pitchFamily="34" charset="0"/>
            </a:endParaRPr>
          </a:p>
          <a:p>
            <a:r>
              <a:rPr lang="en-US" b="0" i="0" dirty="0">
                <a:solidFill>
                  <a:srgbClr val="000000"/>
                </a:solidFill>
                <a:effectLst/>
                <a:latin typeface="Arial" panose="020B0604020202020204" pitchFamily="34" charset="0"/>
              </a:rPr>
              <a:t>Understanding different cultural views and norms can give us a lens with which understand the </a:t>
            </a:r>
            <a:r>
              <a:rPr lang="en-US" b="0" i="0" dirty="0" err="1">
                <a:solidFill>
                  <a:srgbClr val="000000"/>
                </a:solidFill>
                <a:effectLst/>
                <a:latin typeface="Arial" panose="020B0604020202020204" pitchFamily="34" charset="0"/>
              </a:rPr>
              <a:t>behaviour</a:t>
            </a:r>
            <a:r>
              <a:rPr lang="en-US" b="0" i="0" dirty="0">
                <a:solidFill>
                  <a:srgbClr val="000000"/>
                </a:solidFill>
                <a:effectLst/>
                <a:latin typeface="Arial" panose="020B0604020202020204" pitchFamily="34" charset="0"/>
              </a:rPr>
              <a:t> of others and also understand how they view us.</a:t>
            </a:r>
            <a:r>
              <a:rPr lang="en-GB" b="0" i="0" dirty="0">
                <a:solidFill>
                  <a:srgbClr val="000000"/>
                </a:solidFill>
                <a:effectLst/>
                <a:latin typeface="Arial" panose="020B0604020202020204" pitchFamily="34" charset="0"/>
              </a:rPr>
              <a:t> In terms of teamwork there are a few areas we should consider so that the team can work effectively together and not spend too long in the storming phase or find that they have stalled further down the line because of miscommunications.</a:t>
            </a:r>
            <a:endParaRPr lang="en-US"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51D890D9-946C-F447-A007-CD62FC879AC5}" type="slidenum">
              <a:rPr lang="en-US" smtClean="0"/>
              <a:t>49</a:t>
            </a:fld>
            <a:endParaRPr lang="en-US"/>
          </a:p>
        </p:txBody>
      </p:sp>
    </p:spTree>
    <p:extLst>
      <p:ext uri="{BB962C8B-B14F-4D97-AF65-F5344CB8AC3E}">
        <p14:creationId xmlns:p14="http://schemas.microsoft.com/office/powerpoint/2010/main" val="19049718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50</a:t>
            </a:fld>
            <a:endParaRPr lang="en-US"/>
          </a:p>
        </p:txBody>
      </p:sp>
    </p:spTree>
    <p:extLst>
      <p:ext uri="{BB962C8B-B14F-4D97-AF65-F5344CB8AC3E}">
        <p14:creationId xmlns:p14="http://schemas.microsoft.com/office/powerpoint/2010/main" val="1249617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scale for communicating runs from low to high context.</a:t>
            </a:r>
          </a:p>
          <a:p>
            <a:r>
              <a:rPr lang="en-GB" dirty="0"/>
              <a:t>In a low context culture good communication is very explicit and direct and clear</a:t>
            </a:r>
          </a:p>
          <a:p>
            <a:r>
              <a:rPr lang="en-GB" dirty="0"/>
              <a:t>In a high context culture there is a reliance on shared meaning and symbols to interpret hidden meaning</a:t>
            </a:r>
          </a:p>
          <a:p>
            <a:endParaRPr lang="en-GB" dirty="0"/>
          </a:p>
          <a:p>
            <a:r>
              <a:rPr lang="en-GB" dirty="0"/>
              <a:t>A low context culture? –US</a:t>
            </a:r>
          </a:p>
          <a:p>
            <a:endParaRPr lang="en-GB" dirty="0"/>
          </a:p>
          <a:p>
            <a:r>
              <a:rPr lang="en-GB" dirty="0"/>
              <a:t>Can anyone guess a high context culture? Japan, China</a:t>
            </a:r>
          </a:p>
          <a:p>
            <a:endParaRPr lang="en-GB" dirty="0"/>
          </a:p>
          <a:p>
            <a:r>
              <a:rPr lang="en-GB" dirty="0"/>
              <a:t>The UK is fairly low context. </a:t>
            </a:r>
          </a:p>
          <a:p>
            <a:endParaRPr lang="en-GB" dirty="0"/>
          </a:p>
          <a:p>
            <a:r>
              <a:rPr lang="en-GB" dirty="0"/>
              <a:t>Its not always about where you are on the scale- its about where you are compared to the culture you are comparing to. Its all relative. </a:t>
            </a:r>
          </a:p>
          <a:p>
            <a:endParaRPr lang="en-GB" dirty="0"/>
          </a:p>
          <a:p>
            <a:r>
              <a:rPr lang="en-GB" b="1" dirty="0"/>
              <a:t>Why is this important for teamwork?</a:t>
            </a:r>
          </a:p>
          <a:p>
            <a:r>
              <a:rPr lang="en-GB" b="1" dirty="0"/>
              <a:t>If you are working with someone who is from a higher context culture there communication will not be as explicit as yours. What they say or write might not be what they really mean. You need to be ready to read between the lines or’ read the air’. An understanding of how something is said, or what is not said.</a:t>
            </a:r>
          </a:p>
          <a:p>
            <a:r>
              <a:rPr lang="en-GB" dirty="0"/>
              <a:t>For example. Can you get X done by next week? A sharp sucking in of breath/ a non committal answer, it will be difficult. Does that mean no?</a:t>
            </a:r>
          </a:p>
          <a:p>
            <a:endParaRPr lang="en-GB" dirty="0"/>
          </a:p>
          <a:p>
            <a:r>
              <a:rPr lang="en-GB" dirty="0"/>
              <a:t>Get things written down in lower context cultures. But in higher context cultures this could be seen as a lack of trust</a:t>
            </a:r>
          </a:p>
          <a:p>
            <a:endParaRPr lang="en-GB"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51</a:t>
            </a:fld>
            <a:endParaRPr lang="en-US"/>
          </a:p>
        </p:txBody>
      </p:sp>
    </p:spTree>
    <p:extLst>
      <p:ext uri="{BB962C8B-B14F-4D97-AF65-F5344CB8AC3E}">
        <p14:creationId xmlns:p14="http://schemas.microsoft.com/office/powerpoint/2010/main" val="17405229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scale for evaluating runs from those cultures who prefer direct negative feedback to those who would rather negative feedback was delivered in a less direct (in direct) manner </a:t>
            </a:r>
          </a:p>
          <a:p>
            <a:endParaRPr lang="en-GB" dirty="0"/>
          </a:p>
          <a:p>
            <a:r>
              <a:rPr lang="en-GB" dirty="0"/>
              <a:t>Who has heard of the sandwich method for giving negative (sometimes called constructive!) feedback?</a:t>
            </a:r>
          </a:p>
          <a:p>
            <a:r>
              <a:rPr lang="en-GB" dirty="0"/>
              <a:t>This is where more negative comments are sandwiched between 2 good points, thus softening the blow. </a:t>
            </a:r>
          </a:p>
          <a:p>
            <a:r>
              <a:rPr lang="en-GB" dirty="0"/>
              <a:t>This is a common method used in the US which can be confusing when the US low context way of communicating is factored in.</a:t>
            </a:r>
          </a:p>
          <a:p>
            <a:r>
              <a:rPr lang="en-GB" dirty="0"/>
              <a:t>This often means that those who are from a more direct negative feedback culture misinterpret the severity of what a US colleague is saying to them.</a:t>
            </a:r>
          </a:p>
          <a:p>
            <a:endParaRPr lang="en-GB" dirty="0"/>
          </a:p>
          <a:p>
            <a:r>
              <a:rPr lang="en-GB" dirty="0"/>
              <a:t>Direct- Russia, Germany, Netherlands</a:t>
            </a:r>
          </a:p>
          <a:p>
            <a:r>
              <a:rPr lang="en-GB" dirty="0"/>
              <a:t>In the middle US UK</a:t>
            </a:r>
          </a:p>
          <a:p>
            <a:r>
              <a:rPr lang="en-GB" dirty="0"/>
              <a:t>Indirect Japan, Thailand, Indonesia</a:t>
            </a:r>
          </a:p>
          <a:p>
            <a:endParaRPr lang="en-GB" dirty="0"/>
          </a:p>
          <a:p>
            <a:r>
              <a:rPr lang="en-GB" b="1" dirty="0"/>
              <a:t>Why is this important for group work? Some members of the group could be offended and upset by what those more direct cultures are saying. Equally those from more direct cultures could miss the severity of what they are being told by those that are more indirect.</a:t>
            </a:r>
          </a:p>
        </p:txBody>
      </p:sp>
      <p:sp>
        <p:nvSpPr>
          <p:cNvPr id="4" name="Slide Number Placeholder 3"/>
          <p:cNvSpPr>
            <a:spLocks noGrp="1"/>
          </p:cNvSpPr>
          <p:nvPr>
            <p:ph type="sldNum" sz="quarter" idx="5"/>
          </p:nvPr>
        </p:nvSpPr>
        <p:spPr/>
        <p:txBody>
          <a:bodyPr/>
          <a:lstStyle/>
          <a:p>
            <a:fld id="{51D890D9-946C-F447-A007-CD62FC879AC5}" type="slidenum">
              <a:rPr lang="en-US" smtClean="0"/>
              <a:t>52</a:t>
            </a:fld>
            <a:endParaRPr lang="en-US"/>
          </a:p>
        </p:txBody>
      </p:sp>
    </p:spTree>
    <p:extLst>
      <p:ext uri="{BB962C8B-B14F-4D97-AF65-F5344CB8AC3E}">
        <p14:creationId xmlns:p14="http://schemas.microsoft.com/office/powerpoint/2010/main" val="19960848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53</a:t>
            </a:fld>
            <a:endParaRPr lang="en-US"/>
          </a:p>
        </p:txBody>
      </p:sp>
    </p:spTree>
    <p:extLst>
      <p:ext uri="{BB962C8B-B14F-4D97-AF65-F5344CB8AC3E}">
        <p14:creationId xmlns:p14="http://schemas.microsoft.com/office/powerpoint/2010/main" val="9886083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a </a:t>
            </a:r>
            <a:r>
              <a:rPr lang="en-US" sz="1200" b="0" i="1" kern="1200" dirty="0">
                <a:solidFill>
                  <a:schemeClr val="tx1"/>
                </a:solidFill>
                <a:effectLst/>
                <a:latin typeface="+mn-lt"/>
                <a:ea typeface="+mn-ea"/>
                <a:cs typeface="+mn-cs"/>
              </a:rPr>
              <a:t>specific</a:t>
            </a:r>
            <a:r>
              <a:rPr lang="en-US" sz="1200" b="0" i="0" kern="1200" dirty="0">
                <a:solidFill>
                  <a:schemeClr val="tx1"/>
                </a:solidFill>
                <a:effectLst/>
                <a:latin typeface="+mn-lt"/>
                <a:ea typeface="+mn-ea"/>
                <a:cs typeface="+mn-cs"/>
              </a:rPr>
              <a:t> culture, people usually respond well to receiving very detailed and segmented information about what is expected of each of them. If you need to give instructions to a team member from this kind of culture, focus on what that person needs to accomplish and when. Conversely, if you need to motivate, manage, or persuade someone from a </a:t>
            </a:r>
            <a:r>
              <a:rPr lang="en-US" sz="1200" b="0" i="1" kern="1200" dirty="0">
                <a:solidFill>
                  <a:schemeClr val="tx1"/>
                </a:solidFill>
                <a:effectLst/>
                <a:latin typeface="+mn-lt"/>
                <a:ea typeface="+mn-ea"/>
                <a:cs typeface="+mn-cs"/>
              </a:rPr>
              <a:t>holistic culture</a:t>
            </a:r>
            <a:r>
              <a:rPr lang="en-US" sz="1200" b="0" i="0" kern="1200" dirty="0">
                <a:solidFill>
                  <a:schemeClr val="tx1"/>
                </a:solidFill>
                <a:effectLst/>
                <a:latin typeface="+mn-lt"/>
                <a:ea typeface="+mn-ea"/>
                <a:cs typeface="+mn-cs"/>
              </a:rPr>
              <a:t>, spend time explaining the big picture and how all the pieces slot together.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How is this best addressed in a business setting?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Best strategy for persuading a </a:t>
            </a:r>
            <a:r>
              <a:rPr lang="en-US" b="0" i="0" dirty="0" err="1">
                <a:solidFill>
                  <a:srgbClr val="242424"/>
                </a:solidFill>
                <a:effectLst/>
                <a:latin typeface="source-serif-pro"/>
              </a:rPr>
              <a:t>multicutural</a:t>
            </a:r>
            <a:r>
              <a:rPr lang="en-US" b="0" i="0" dirty="0">
                <a:solidFill>
                  <a:srgbClr val="242424"/>
                </a:solidFill>
                <a:effectLst/>
                <a:latin typeface="source-serif-pro"/>
              </a:rPr>
              <a:t> audience is to cycle back and forth between theory and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42424"/>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Application first: US, Canada, Australia, UK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Principles first: Italy, France, Russia, Spain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42424"/>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source-serif-pro"/>
              </a:rPr>
              <a:t>How does this effect teamwork? If trying to convince your group to move in a different direction then you might lose them along the way before you’ve finished your argument. For example applications first US UK get to the point quickly, then stick to it. Principles first spend time introducing the topic, building argument before giving conclusion, they will have lost the US/UK before getting to the conclusion.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54</a:t>
            </a:fld>
            <a:endParaRPr lang="en-US"/>
          </a:p>
        </p:txBody>
      </p:sp>
    </p:spTree>
    <p:extLst>
      <p:ext uri="{BB962C8B-B14F-4D97-AF65-F5344CB8AC3E}">
        <p14:creationId xmlns:p14="http://schemas.microsoft.com/office/powerpoint/2010/main" val="24938370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Egalitarian-</a:t>
            </a:r>
            <a:r>
              <a:rPr lang="en-US" b="0" i="0" dirty="0">
                <a:solidFill>
                  <a:srgbClr val="202124"/>
                </a:solidFill>
                <a:effectLst/>
                <a:latin typeface="arial" panose="020B0604020202020204" pitchFamily="34" charset="0"/>
              </a:rPr>
              <a:t>believing in or based on the principle that all people are equal and deserve equal rights and opportunities.</a:t>
            </a:r>
          </a:p>
          <a:p>
            <a:endParaRPr lang="en-US" b="0" i="0" dirty="0">
              <a:solidFill>
                <a:srgbClr val="202124"/>
              </a:solidFill>
              <a:effectLst/>
              <a:latin typeface="arial" panose="020B0604020202020204" pitchFamily="34" charset="0"/>
            </a:endParaRPr>
          </a:p>
          <a:p>
            <a:r>
              <a:rPr lang="en-US" b="0" i="0" dirty="0">
                <a:solidFill>
                  <a:srgbClr val="202124"/>
                </a:solidFill>
                <a:effectLst/>
                <a:latin typeface="arial" panose="020B0604020202020204" pitchFamily="34" charset="0"/>
              </a:rPr>
              <a:t>Is everyone in the group being treated as equals? Is there a hierarchy?</a:t>
            </a:r>
            <a:endParaRPr lang="en-GB" dirty="0"/>
          </a:p>
          <a:p>
            <a:endParaRPr lang="en-GB" dirty="0"/>
          </a:p>
          <a:p>
            <a:r>
              <a:rPr lang="en-GB" dirty="0"/>
              <a:t>What other theories of cultural dimensions can we draw comparisons with?</a:t>
            </a:r>
          </a:p>
          <a:p>
            <a:r>
              <a:rPr lang="en-GB" dirty="0"/>
              <a:t>Hofstede- Power distance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Schwartz’s Hierarchy vs. Egalitarianism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solidFill>
                  <a:schemeClr val="tx1"/>
                </a:solidFill>
              </a:rPr>
              <a:t>How does this affect group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solidFill>
                  <a:schemeClr val="tx1"/>
                </a:solidFill>
              </a:rPr>
              <a:t>Does the group have a clear leader? Are they expected to have all the answers? Does everyone have respect for them? Can they disagree with the leader/challenge them? How does the actions of the leader affect the rest of the team?</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55</a:t>
            </a:fld>
            <a:endParaRPr lang="en-US"/>
          </a:p>
        </p:txBody>
      </p:sp>
    </p:spTree>
    <p:extLst>
      <p:ext uri="{BB962C8B-B14F-4D97-AF65-F5344CB8AC3E}">
        <p14:creationId xmlns:p14="http://schemas.microsoft.com/office/powerpoint/2010/main" val="3842114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242424"/>
                </a:solidFill>
                <a:effectLst/>
                <a:latin typeface="source-serif-pro"/>
              </a:rPr>
              <a:t>This can also be thought of as Group decision making </a:t>
            </a:r>
            <a:r>
              <a:rPr lang="en-US" b="0" i="0" dirty="0" err="1">
                <a:solidFill>
                  <a:srgbClr val="242424"/>
                </a:solidFill>
                <a:effectLst/>
                <a:latin typeface="source-serif-pro"/>
              </a:rPr>
              <a:t>v.s</a:t>
            </a:r>
            <a:r>
              <a:rPr lang="en-US" b="0" i="0" dirty="0">
                <a:solidFill>
                  <a:srgbClr val="242424"/>
                </a:solidFill>
                <a:effectLst/>
                <a:latin typeface="source-serif-pro"/>
              </a:rPr>
              <a:t>. Individual decision making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Is everyone involved in making decisions or does the boss make the decision and everyone accepts it.</a:t>
            </a:r>
          </a:p>
          <a:p>
            <a:pPr algn="l">
              <a:buFont typeface="Arial" panose="020B0604020202020204" pitchFamily="34" charset="0"/>
              <a:buNone/>
            </a:pPr>
            <a:endParaRPr lang="en-US" b="0" i="0" dirty="0">
              <a:solidFill>
                <a:srgbClr val="242424"/>
              </a:solidFill>
              <a:effectLst/>
              <a:latin typeface="source-serif-pro"/>
            </a:endParaRPr>
          </a:p>
          <a:p>
            <a:pPr algn="l">
              <a:buFont typeface="Arial" panose="020B0604020202020204" pitchFamily="34" charset="0"/>
              <a:buNone/>
            </a:pPr>
            <a:r>
              <a:rPr lang="en-US" b="0" i="0" dirty="0">
                <a:solidFill>
                  <a:srgbClr val="242424"/>
                </a:solidFill>
                <a:effectLst/>
                <a:latin typeface="source-serif-pro"/>
              </a:rPr>
              <a:t>Most cultures have a similar position on the Leading and Deciding scales.</a:t>
            </a:r>
            <a:br>
              <a:rPr lang="en-US" b="0" i="0" dirty="0">
                <a:solidFill>
                  <a:srgbClr val="242424"/>
                </a:solidFill>
                <a:effectLst/>
                <a:latin typeface="source-serif-pro"/>
              </a:rPr>
            </a:br>
            <a:r>
              <a:rPr lang="en-US" b="0" i="0" dirty="0">
                <a:solidFill>
                  <a:srgbClr val="242424"/>
                </a:solidFill>
                <a:effectLst/>
                <a:latin typeface="source-serif-pro"/>
              </a:rPr>
              <a:t>Egalitarian cultures usually prefer consensual decision making, e.g. in Scandinavian societies.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42424"/>
                </a:solidFill>
                <a:effectLst/>
                <a:latin typeface="source-serif-pro"/>
              </a:rPr>
              <a:t>BUT</a:t>
            </a:r>
            <a:r>
              <a:rPr lang="en-US" b="0" i="0" dirty="0">
                <a:solidFill>
                  <a:srgbClr val="242424"/>
                </a:solidFill>
                <a:effectLst/>
                <a:latin typeface="source-serif-pro"/>
              </a:rPr>
              <a:t> exceptions include Americans (egalitarian in leading, but top-down in decision making) and Germans (hierarchical in leading, but consensual in decision making).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Implications for projects further down the 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 Top-down decision making cultures, decisions usually made quickly, early in the process, by one person; BUT each decision is also flexible and the group may revisit or change it along the way very quickly as more discussion occur, new information arises or a different option surfaces. Decision making is dynamic and implementation may take a longer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42424"/>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 Consensual decision-making cultures, decision making takes  longer as more people are consulted to reach a consensus; however, once a decision has been made, the implementation is typically quite rapid as everyone has achieved buy-in. The moment of decision-making is taken quite seriously as the pivotal moment in the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242424"/>
              </a:solidFill>
              <a:effectLst/>
              <a:latin typeface="source-serif-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42424"/>
                </a:solidFill>
                <a:effectLst/>
                <a:latin typeface="source-serif-pro"/>
              </a:rPr>
              <a:t>What should you do to work effectively in a global team?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242424"/>
                </a:solidFill>
                <a:effectLst/>
                <a:latin typeface="source-serif-pro"/>
              </a:rPr>
              <a:t>Discuss and agree on a decision making method upfront, e.g. via voting or consensus, whether 100% agreement is important, and how flexible is decision made? Can change decision after a decision has been made?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56</a:t>
            </a:fld>
            <a:endParaRPr lang="en-US"/>
          </a:p>
        </p:txBody>
      </p:sp>
    </p:spTree>
    <p:extLst>
      <p:ext uri="{BB962C8B-B14F-4D97-AF65-F5344CB8AC3E}">
        <p14:creationId xmlns:p14="http://schemas.microsoft.com/office/powerpoint/2010/main" val="9790794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trusting scale runs from task based to relationship based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The Head </a:t>
            </a:r>
            <a:r>
              <a:rPr lang="en-US" b="0" i="0" dirty="0" err="1">
                <a:solidFill>
                  <a:srgbClr val="242424"/>
                </a:solidFill>
                <a:effectLst/>
                <a:latin typeface="source-serif-pro"/>
              </a:rPr>
              <a:t>v.s</a:t>
            </a:r>
            <a:r>
              <a:rPr lang="en-US" b="0" i="0" dirty="0">
                <a:solidFill>
                  <a:srgbClr val="242424"/>
                </a:solidFill>
                <a:effectLst/>
                <a:latin typeface="source-serif-pro"/>
              </a:rPr>
              <a:t>. the Heart; Trust in ability </a:t>
            </a:r>
            <a:r>
              <a:rPr lang="en-US" b="0" i="0" dirty="0" err="1">
                <a:solidFill>
                  <a:srgbClr val="242424"/>
                </a:solidFill>
                <a:effectLst/>
                <a:latin typeface="source-serif-pro"/>
              </a:rPr>
              <a:t>v.s</a:t>
            </a:r>
            <a:r>
              <a:rPr lang="en-US" b="0" i="0" dirty="0">
                <a:solidFill>
                  <a:srgbClr val="242424"/>
                </a:solidFill>
                <a:effectLst/>
                <a:latin typeface="source-serif-pro"/>
              </a:rPr>
              <a:t>. Trust in emotional closeness/ empathy and affection at a personal level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p>
          <a:p>
            <a:endParaRPr lang="en-GB" dirty="0"/>
          </a:p>
          <a:p>
            <a:pPr algn="l">
              <a:buFont typeface="Arial" panose="020B0604020202020204" pitchFamily="34" charset="0"/>
              <a:buNone/>
            </a:pPr>
            <a:r>
              <a:rPr lang="en-US" b="0" i="0" dirty="0">
                <a:solidFill>
                  <a:srgbClr val="242424"/>
                </a:solidFill>
                <a:effectLst/>
                <a:latin typeface="source-serif-pro"/>
              </a:rPr>
              <a:t>In relationship-based cultures, out-of-the-blue emails to a new contact may not be </a:t>
            </a:r>
            <a:r>
              <a:rPr lang="en-US" b="0" i="0" dirty="0" err="1">
                <a:solidFill>
                  <a:srgbClr val="242424"/>
                </a:solidFill>
                <a:effectLst/>
                <a:latin typeface="source-serif-pro"/>
              </a:rPr>
              <a:t>prioritised</a:t>
            </a:r>
            <a:r>
              <a:rPr lang="en-US" b="0" i="0" dirty="0">
                <a:solidFill>
                  <a:srgbClr val="242424"/>
                </a:solidFill>
                <a:effectLst/>
                <a:latin typeface="source-serif-pro"/>
              </a:rPr>
              <a:t>. It may be more effective to start with a phone call to build relationships.</a:t>
            </a:r>
          </a:p>
          <a:p>
            <a:pPr algn="l">
              <a:buFont typeface="Arial" panose="020B0604020202020204" pitchFamily="34" charset="0"/>
              <a:buNone/>
            </a:pPr>
            <a:r>
              <a:rPr lang="en-US" b="0" i="0" dirty="0">
                <a:solidFill>
                  <a:srgbClr val="242424"/>
                </a:solidFill>
                <a:effectLst/>
                <a:latin typeface="source-serif-pro"/>
              </a:rPr>
              <a:t>Longer social-talk at the beginning of meetings with relationship-based cultures; Cut to the chase and start with the agenda promptly with task-based cultures.</a:t>
            </a:r>
          </a:p>
          <a:p>
            <a:pPr algn="l">
              <a:buFont typeface="Arial" panose="020B0604020202020204" pitchFamily="34" charset="0"/>
              <a:buNone/>
            </a:pPr>
            <a:r>
              <a:rPr lang="en-US" b="0" i="0" dirty="0">
                <a:solidFill>
                  <a:srgbClr val="242424"/>
                </a:solidFill>
                <a:effectLst/>
                <a:latin typeface="source-serif-pro"/>
              </a:rPr>
              <a:t>BUT friendliness may not equate to relationship-forming. </a:t>
            </a:r>
            <a:r>
              <a:rPr lang="en-US" b="0" i="0" dirty="0" err="1">
                <a:solidFill>
                  <a:srgbClr val="242424"/>
                </a:solidFill>
                <a:effectLst/>
                <a:latin typeface="source-serif-pro"/>
              </a:rPr>
              <a:t>Eg</a:t>
            </a:r>
            <a:r>
              <a:rPr lang="en-US" b="0" i="0" dirty="0">
                <a:solidFill>
                  <a:srgbClr val="242424"/>
                </a:solidFill>
                <a:effectLst/>
                <a:latin typeface="source-serif-pro"/>
              </a:rPr>
              <a:t> Americans are friendly to all, but that may not mean anything deeper.</a:t>
            </a:r>
          </a:p>
          <a:p>
            <a:pPr algn="l">
              <a:buFont typeface="Arial" panose="020B0604020202020204" pitchFamily="34" charset="0"/>
              <a:buNone/>
            </a:pPr>
            <a:endParaRPr lang="en-US" b="0" i="0" dirty="0">
              <a:solidFill>
                <a:srgbClr val="242424"/>
              </a:solidFill>
              <a:effectLst/>
              <a:latin typeface="source-serif-pro"/>
            </a:endParaRPr>
          </a:p>
          <a:p>
            <a:pPr algn="l">
              <a:buFont typeface="Arial" panose="020B0604020202020204" pitchFamily="34" charset="0"/>
              <a:buNone/>
            </a:pPr>
            <a:r>
              <a:rPr lang="en-US" b="1" i="0" dirty="0">
                <a:solidFill>
                  <a:srgbClr val="242424"/>
                </a:solidFill>
                <a:effectLst/>
                <a:latin typeface="source-serif-pro"/>
              </a:rPr>
              <a:t>How does this affect group/teamwork? Should the group socialize together first to get to know each other so that trust and respect and a willingness to cooperate can be built, or is it ok to jump straight in?</a:t>
            </a:r>
          </a:p>
          <a:p>
            <a:endParaRPr lang="en-GB" dirty="0"/>
          </a:p>
          <a:p>
            <a:r>
              <a:rPr lang="en-GB" dirty="0"/>
              <a:t>Task based US Netherlands, Australia, Denmark</a:t>
            </a:r>
          </a:p>
          <a:p>
            <a:r>
              <a:rPr lang="en-GB" dirty="0"/>
              <a:t>Relationship based: India, China, Nigeria, Saudi Arabia</a:t>
            </a:r>
          </a:p>
        </p:txBody>
      </p:sp>
      <p:sp>
        <p:nvSpPr>
          <p:cNvPr id="4" name="Slide Number Placeholder 3"/>
          <p:cNvSpPr>
            <a:spLocks noGrp="1"/>
          </p:cNvSpPr>
          <p:nvPr>
            <p:ph type="sldNum" sz="quarter" idx="5"/>
          </p:nvPr>
        </p:nvSpPr>
        <p:spPr/>
        <p:txBody>
          <a:bodyPr/>
          <a:lstStyle/>
          <a:p>
            <a:fld id="{51D890D9-946C-F447-A007-CD62FC879AC5}" type="slidenum">
              <a:rPr lang="en-US" smtClean="0"/>
              <a:t>57</a:t>
            </a:fld>
            <a:endParaRPr lang="en-US"/>
          </a:p>
        </p:txBody>
      </p:sp>
    </p:spTree>
    <p:extLst>
      <p:ext uri="{BB962C8B-B14F-4D97-AF65-F5344CB8AC3E}">
        <p14:creationId xmlns:p14="http://schemas.microsoft.com/office/powerpoint/2010/main" val="10155968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242424"/>
              </a:solidFill>
              <a:effectLst/>
              <a:latin typeface="source-serif-pro"/>
            </a:endParaRPr>
          </a:p>
          <a:p>
            <a:r>
              <a:rPr lang="en-US" b="0" i="0" dirty="0">
                <a:solidFill>
                  <a:srgbClr val="242424"/>
                </a:solidFill>
                <a:effectLst/>
                <a:latin typeface="source-serif-pro"/>
              </a:rPr>
              <a:t>What could happen if you don’t understand the disagreeing scale?</a:t>
            </a:r>
          </a:p>
          <a:p>
            <a:r>
              <a:rPr lang="en-US" b="0" i="0" dirty="0">
                <a:solidFill>
                  <a:srgbClr val="242424"/>
                </a:solidFill>
                <a:effectLst/>
                <a:latin typeface="source-serif-pro"/>
              </a:rPr>
              <a:t>People could be offended and leave the group- it could put the group back to the storming stage.</a:t>
            </a:r>
          </a:p>
          <a:p>
            <a:endParaRPr lang="en-US" b="0" i="0" dirty="0">
              <a:solidFill>
                <a:srgbClr val="242424"/>
              </a:solidFill>
              <a:effectLst/>
              <a:latin typeface="source-serif-pro"/>
            </a:endParaRPr>
          </a:p>
          <a:p>
            <a:r>
              <a:rPr lang="en-US" b="1" i="0" dirty="0">
                <a:solidFill>
                  <a:srgbClr val="242424"/>
                </a:solidFill>
                <a:effectLst/>
                <a:latin typeface="source-serif-pro"/>
              </a:rPr>
              <a:t>Strategies for disagreeing on a cross-cultural team: Play with language, consider using down-graders or softer language such as “I do not quite understand your point” or “Please explain more about why you think that” instead of “I don’t agree”. </a:t>
            </a:r>
            <a:endParaRPr lang="en-GB" b="1" dirty="0"/>
          </a:p>
        </p:txBody>
      </p:sp>
      <p:sp>
        <p:nvSpPr>
          <p:cNvPr id="4" name="Slide Number Placeholder 3"/>
          <p:cNvSpPr>
            <a:spLocks noGrp="1"/>
          </p:cNvSpPr>
          <p:nvPr>
            <p:ph type="sldNum" sz="quarter" idx="5"/>
          </p:nvPr>
        </p:nvSpPr>
        <p:spPr/>
        <p:txBody>
          <a:bodyPr/>
          <a:lstStyle/>
          <a:p>
            <a:fld id="{51D890D9-946C-F447-A007-CD62FC879AC5}" type="slidenum">
              <a:rPr lang="en-US" smtClean="0"/>
              <a:t>58</a:t>
            </a:fld>
            <a:endParaRPr lang="en-US"/>
          </a:p>
        </p:txBody>
      </p:sp>
    </p:spTree>
    <p:extLst>
      <p:ext uri="{BB962C8B-B14F-4D97-AF65-F5344CB8AC3E}">
        <p14:creationId xmlns:p14="http://schemas.microsoft.com/office/powerpoint/2010/main" val="33228228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scheduling scale runs from linear time to flexible time </a:t>
            </a:r>
          </a:p>
          <a:p>
            <a:endParaRPr lang="en-GB" dirty="0"/>
          </a:p>
          <a:p>
            <a:r>
              <a:rPr lang="en-US" b="0" i="0" dirty="0">
                <a:solidFill>
                  <a:srgbClr val="242424"/>
                </a:solidFill>
                <a:effectLst/>
                <a:latin typeface="source-serif-pro"/>
              </a:rPr>
              <a:t>Generally, cultures with more predictable and orderly infrastructure (e.g. trains that run on time) tend to be linear-time cultures, while cultures with less reliable infrastructure tend to be flexible-time cultures</a:t>
            </a:r>
          </a:p>
          <a:p>
            <a:endParaRPr lang="en-US" b="0" i="0" dirty="0">
              <a:solidFill>
                <a:srgbClr val="242424"/>
              </a:solidFill>
              <a:effectLst/>
              <a:latin typeface="source-serif-pro"/>
            </a:endParaRPr>
          </a:p>
          <a:p>
            <a:r>
              <a:rPr lang="en-US" b="0" i="0" dirty="0">
                <a:solidFill>
                  <a:srgbClr val="242424"/>
                </a:solidFill>
                <a:effectLst/>
                <a:latin typeface="source-serif-pro"/>
              </a:rPr>
              <a:t>Linear time- </a:t>
            </a:r>
            <a:r>
              <a:rPr lang="en-US" b="0" i="0" dirty="0" err="1">
                <a:solidFill>
                  <a:srgbClr val="242424"/>
                </a:solidFill>
                <a:effectLst/>
                <a:latin typeface="source-serif-pro"/>
              </a:rPr>
              <a:t>Germany,Switzerland</a:t>
            </a:r>
            <a:r>
              <a:rPr lang="en-US" b="0" i="0" dirty="0">
                <a:solidFill>
                  <a:srgbClr val="242424"/>
                </a:solidFill>
                <a:effectLst/>
                <a:latin typeface="source-serif-pro"/>
              </a:rPr>
              <a:t>, Japan</a:t>
            </a:r>
          </a:p>
          <a:p>
            <a:r>
              <a:rPr lang="en-US" b="0" i="0" dirty="0">
                <a:solidFill>
                  <a:srgbClr val="242424"/>
                </a:solidFill>
                <a:effectLst/>
                <a:latin typeface="source-serif-pro"/>
              </a:rPr>
              <a:t>Flexible time- India, Nigeria, Saudi Arabia, China</a:t>
            </a:r>
          </a:p>
          <a:p>
            <a:endParaRPr lang="en-US" b="0" i="0" dirty="0">
              <a:solidFill>
                <a:srgbClr val="242424"/>
              </a:solidFill>
              <a:effectLst/>
              <a:latin typeface="source-serif-pro"/>
            </a:endParaRPr>
          </a:p>
          <a:p>
            <a:r>
              <a:rPr lang="en-US" b="0" i="0" dirty="0">
                <a:solidFill>
                  <a:srgbClr val="242424"/>
                </a:solidFill>
                <a:effectLst/>
                <a:latin typeface="source-serif-pro"/>
              </a:rPr>
              <a:t>In linear time cultures projects steps are approached sequentially, completed one by one before the next. Promptness and good </a:t>
            </a:r>
            <a:r>
              <a:rPr lang="en-US" b="0" i="0" dirty="0" err="1">
                <a:solidFill>
                  <a:srgbClr val="242424"/>
                </a:solidFill>
                <a:effectLst/>
                <a:latin typeface="source-serif-pro"/>
              </a:rPr>
              <a:t>organisatins</a:t>
            </a:r>
            <a:r>
              <a:rPr lang="en-US" b="0" i="0" dirty="0">
                <a:solidFill>
                  <a:srgbClr val="242424"/>
                </a:solidFill>
                <a:effectLst/>
                <a:latin typeface="source-serif-pro"/>
              </a:rPr>
              <a:t> over flexibility</a:t>
            </a:r>
          </a:p>
          <a:p>
            <a:r>
              <a:rPr lang="en-US" b="0" i="0" dirty="0">
                <a:solidFill>
                  <a:srgbClr val="242424"/>
                </a:solidFill>
                <a:effectLst/>
                <a:latin typeface="source-serif-pro"/>
              </a:rPr>
              <a:t>In Flexible time more fluid manner, changing tasks as opportunities change. Many things dealt with at once. Interruptions accepted. Adaptability and flexibility valued over organization.</a:t>
            </a:r>
          </a:p>
          <a:p>
            <a:endParaRPr lang="en-US" b="0" i="0" dirty="0">
              <a:solidFill>
                <a:srgbClr val="242424"/>
              </a:solidFill>
              <a:effectLst/>
              <a:latin typeface="source-serif-pro"/>
            </a:endParaRPr>
          </a:p>
          <a:p>
            <a:r>
              <a:rPr lang="en-US" b="0" i="0" dirty="0">
                <a:solidFill>
                  <a:srgbClr val="242424"/>
                </a:solidFill>
                <a:effectLst/>
                <a:latin typeface="source-serif-pro"/>
              </a:rPr>
              <a:t>How is this important in business?</a:t>
            </a:r>
          </a:p>
          <a:p>
            <a:r>
              <a:rPr lang="en-US" b="0" i="0" dirty="0">
                <a:solidFill>
                  <a:srgbClr val="242424"/>
                </a:solidFill>
                <a:effectLst/>
                <a:latin typeface="source-serif-pro"/>
              </a:rPr>
              <a:t>Do meetings always start on time?</a:t>
            </a:r>
          </a:p>
          <a:p>
            <a:r>
              <a:rPr lang="en-US" b="0" i="0" dirty="0">
                <a:solidFill>
                  <a:srgbClr val="242424"/>
                </a:solidFill>
                <a:effectLst/>
                <a:latin typeface="source-serif-pro"/>
              </a:rPr>
              <a:t>Do they follow the agenda?</a:t>
            </a:r>
          </a:p>
          <a:p>
            <a:r>
              <a:rPr lang="en-US" b="0" i="0" dirty="0">
                <a:solidFill>
                  <a:srgbClr val="242424"/>
                </a:solidFill>
                <a:effectLst/>
                <a:latin typeface="source-serif-pro"/>
              </a:rPr>
              <a:t>Is it acceptable to be late? Even when meeting for the first time?</a:t>
            </a:r>
          </a:p>
          <a:p>
            <a:endParaRPr lang="en-US" b="0" i="0" dirty="0">
              <a:solidFill>
                <a:srgbClr val="242424"/>
              </a:solidFill>
              <a:effectLst/>
              <a:latin typeface="source-serif-pro"/>
            </a:endParaRPr>
          </a:p>
          <a:p>
            <a:r>
              <a:rPr lang="en-US" b="0" i="0" dirty="0">
                <a:solidFill>
                  <a:srgbClr val="242424"/>
                </a:solidFill>
                <a:effectLst/>
                <a:latin typeface="source-serif-pro"/>
              </a:rPr>
              <a:t>Easy to see how this can affect a Team. Are people sitting around waiting because other members are late? Are others taking phone calls in meetings and perceived as rude and wasting others time?</a:t>
            </a:r>
          </a:p>
          <a:p>
            <a:endParaRPr lang="en-US" b="0" i="0" dirty="0">
              <a:solidFill>
                <a:srgbClr val="242424"/>
              </a:solidFill>
              <a:effectLst/>
              <a:latin typeface="source-serif-pro"/>
            </a:endParaRPr>
          </a:p>
          <a:p>
            <a:r>
              <a:rPr lang="en-US" b="0" i="0" dirty="0">
                <a:solidFill>
                  <a:srgbClr val="242424"/>
                </a:solidFill>
                <a:effectLst/>
                <a:latin typeface="source-serif-pro"/>
              </a:rPr>
              <a:t>Also need to consider time zones for GVTs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59</a:t>
            </a:fld>
            <a:endParaRPr lang="en-US"/>
          </a:p>
        </p:txBody>
      </p:sp>
    </p:spTree>
    <p:extLst>
      <p:ext uri="{BB962C8B-B14F-4D97-AF65-F5344CB8AC3E}">
        <p14:creationId xmlns:p14="http://schemas.microsoft.com/office/powerpoint/2010/main" val="7088187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80D466-E920-400C-988A-A9DFA2A65EC0}" type="slidenum">
              <a:rPr lang="en-US" smtClean="0"/>
              <a:pPr/>
              <a:t>60</a:t>
            </a:fld>
            <a:endParaRPr lang="en-US"/>
          </a:p>
        </p:txBody>
      </p:sp>
    </p:spTree>
    <p:extLst>
      <p:ext uri="{BB962C8B-B14F-4D97-AF65-F5344CB8AC3E}">
        <p14:creationId xmlns:p14="http://schemas.microsoft.com/office/powerpoint/2010/main" val="20406760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80D466-E920-400C-988A-A9DFA2A65EC0}" type="slidenum">
              <a:rPr lang="en-US" smtClean="0"/>
              <a:pPr/>
              <a:t>61</a:t>
            </a:fld>
            <a:endParaRPr lang="en-US"/>
          </a:p>
        </p:txBody>
      </p:sp>
    </p:spTree>
    <p:extLst>
      <p:ext uri="{BB962C8B-B14F-4D97-AF65-F5344CB8AC3E}">
        <p14:creationId xmlns:p14="http://schemas.microsoft.com/office/powerpoint/2010/main" val="38687635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80D466-E920-400C-988A-A9DFA2A65EC0}" type="slidenum">
              <a:rPr lang="en-US" smtClean="0"/>
              <a:pPr/>
              <a:t>62</a:t>
            </a:fld>
            <a:endParaRPr lang="en-US"/>
          </a:p>
        </p:txBody>
      </p:sp>
    </p:spTree>
    <p:extLst>
      <p:ext uri="{BB962C8B-B14F-4D97-AF65-F5344CB8AC3E}">
        <p14:creationId xmlns:p14="http://schemas.microsoft.com/office/powerpoint/2010/main" val="17933281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63</a:t>
            </a:fld>
            <a:endParaRPr lang="en-US"/>
          </a:p>
        </p:txBody>
      </p:sp>
    </p:spTree>
    <p:extLst>
      <p:ext uri="{BB962C8B-B14F-4D97-AF65-F5344CB8AC3E}">
        <p14:creationId xmlns:p14="http://schemas.microsoft.com/office/powerpoint/2010/main" val="29305144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GB" dirty="0"/>
              <a:t>Support</a:t>
            </a:r>
          </a:p>
          <a:p>
            <a:pPr marL="0" indent="0">
              <a:buFont typeface="Arial" panose="020B0604020202020204" pitchFamily="34" charset="0"/>
              <a:buNone/>
            </a:pPr>
            <a:r>
              <a:rPr lang="en-US" b="0" i="0" dirty="0">
                <a:solidFill>
                  <a:srgbClr val="333333"/>
                </a:solidFill>
                <a:effectLst/>
                <a:latin typeface="Neue Helvetica eText W01"/>
              </a:rPr>
              <a:t>Talk through any difficulties and concerns you have and encourage other members of the group to do the same. You can help each other to find solutions and develop your confidence together.</a:t>
            </a:r>
            <a:endParaRPr lang="en-GB" dirty="0"/>
          </a:p>
          <a:p>
            <a:pPr marL="457200" indent="-457200">
              <a:buFont typeface="Arial" panose="020B0604020202020204" pitchFamily="34" charset="0"/>
              <a:buChar char="•"/>
            </a:pPr>
            <a:r>
              <a:rPr lang="en-GB" dirty="0"/>
              <a:t>Encourage</a:t>
            </a:r>
          </a:p>
          <a:p>
            <a:pPr marL="0" indent="0">
              <a:buFont typeface="Arial" panose="020B0604020202020204" pitchFamily="34" charset="0"/>
              <a:buNone/>
            </a:pPr>
            <a:r>
              <a:rPr lang="en-US" b="0" i="0" dirty="0">
                <a:solidFill>
                  <a:srgbClr val="333333"/>
                </a:solidFill>
                <a:effectLst/>
                <a:latin typeface="Neue Helvetica eText W01"/>
              </a:rPr>
              <a:t>Let others know what they do well and ask their opinions. If you appreciate a particular contribution, or you find a person’s comments helpful or relevant, tell them.</a:t>
            </a:r>
            <a:endParaRPr lang="en-GB" dirty="0"/>
          </a:p>
          <a:p>
            <a:pPr marL="457200" indent="-457200">
              <a:buFont typeface="Arial" panose="020B0604020202020204" pitchFamily="34" charset="0"/>
              <a:buChar char="•"/>
            </a:pPr>
            <a:r>
              <a:rPr lang="en-GB" dirty="0"/>
              <a:t>Collaborate</a:t>
            </a:r>
          </a:p>
          <a:p>
            <a:pPr marL="0" indent="0">
              <a:buFont typeface="Arial" panose="020B0604020202020204" pitchFamily="34" charset="0"/>
              <a:buNone/>
            </a:pPr>
            <a:r>
              <a:rPr lang="en-US" b="0" i="0" dirty="0">
                <a:solidFill>
                  <a:srgbClr val="333333"/>
                </a:solidFill>
                <a:effectLst/>
                <a:latin typeface="Neue Helvetica eText W01"/>
              </a:rPr>
              <a:t>Divide different aspects of your study between you. </a:t>
            </a:r>
            <a:r>
              <a:rPr lang="en-GB" b="0" i="0" dirty="0">
                <a:solidFill>
                  <a:srgbClr val="333333"/>
                </a:solidFill>
                <a:effectLst/>
                <a:latin typeface="Neue Helvetica eText W01"/>
              </a:rPr>
              <a:t>-Use a Gantt chart</a:t>
            </a:r>
            <a:endParaRPr lang="en-GB" dirty="0"/>
          </a:p>
          <a:p>
            <a:pPr marL="457200" indent="-457200">
              <a:buFont typeface="Arial" panose="020B0604020202020204" pitchFamily="34" charset="0"/>
              <a:buChar char="•"/>
            </a:pPr>
            <a:r>
              <a:rPr lang="en-GB" dirty="0"/>
              <a:t>Co-operate</a:t>
            </a:r>
          </a:p>
          <a:p>
            <a:pPr algn="l"/>
            <a:r>
              <a:rPr lang="en-US" b="0" i="0" dirty="0">
                <a:solidFill>
                  <a:srgbClr val="333333"/>
                </a:solidFill>
                <a:effectLst/>
                <a:latin typeface="Neue Helvetica eText W01"/>
              </a:rPr>
              <a:t>Develop each other’s ideas by continuing them to a logical. If a member of your group is struggling with a difficult task, help them by offering your time and advice when possible.</a:t>
            </a:r>
            <a:endParaRPr lang="en-GB" dirty="0"/>
          </a:p>
          <a:p>
            <a:pPr marL="457200" indent="-457200">
              <a:buFont typeface="Arial" panose="020B0604020202020204" pitchFamily="34" charset="0"/>
              <a:buChar char="•"/>
            </a:pPr>
            <a:r>
              <a:rPr lang="en-GB" dirty="0"/>
              <a:t>Be positive</a:t>
            </a:r>
          </a:p>
          <a:p>
            <a:pPr marL="0" indent="0">
              <a:buFont typeface="Arial" panose="020B0604020202020204" pitchFamily="34" charset="0"/>
              <a:buNone/>
            </a:pPr>
            <a:r>
              <a:rPr lang="en-US" b="0" i="0" dirty="0">
                <a:solidFill>
                  <a:srgbClr val="333333"/>
                </a:solidFill>
                <a:effectLst/>
                <a:latin typeface="Neue Helvetica eText W01"/>
              </a:rPr>
              <a:t>If you disagree with another person’s ideas, and if the issue needs to be addressed, phrase your suggestions in a positive way. Suggest ways of moving forward and making improvements rather than focusing on what is, or was, wrong.</a:t>
            </a:r>
            <a:endParaRPr lang="en-GB" dirty="0"/>
          </a:p>
          <a:p>
            <a:pPr marL="457200" indent="-457200">
              <a:buFont typeface="Arial" panose="020B0604020202020204" pitchFamily="34" charset="0"/>
              <a:buChar char="•"/>
            </a:pPr>
            <a:r>
              <a:rPr lang="en-GB" dirty="0"/>
              <a:t>Offer constructive criticism</a:t>
            </a:r>
          </a:p>
          <a:p>
            <a:pPr marL="0" indent="0">
              <a:buFont typeface="Arial" panose="020B0604020202020204" pitchFamily="34" charset="0"/>
              <a:buNone/>
            </a:pPr>
            <a:r>
              <a:rPr lang="en-US" b="0" i="0" dirty="0">
                <a:solidFill>
                  <a:srgbClr val="333333"/>
                </a:solidFill>
                <a:effectLst/>
                <a:latin typeface="Neue Helvetica eText W01"/>
              </a:rPr>
              <a:t>Comment on </a:t>
            </a:r>
            <a:r>
              <a:rPr lang="en-US" b="0" i="0" dirty="0" err="1">
                <a:solidFill>
                  <a:srgbClr val="333333"/>
                </a:solidFill>
                <a:effectLst/>
                <a:latin typeface="Neue Helvetica eText W01"/>
              </a:rPr>
              <a:t>behaviour</a:t>
            </a:r>
            <a:r>
              <a:rPr lang="en-US" b="0" i="0" dirty="0">
                <a:solidFill>
                  <a:srgbClr val="333333"/>
                </a:solidFill>
                <a:effectLst/>
                <a:latin typeface="Neue Helvetica eText W01"/>
              </a:rPr>
              <a:t> and outcomes, not on people. Point out what is good as well as what can be improved.</a:t>
            </a:r>
            <a:endParaRPr lang="en-GB" dirty="0"/>
          </a:p>
          <a:p>
            <a:pPr marL="457200" indent="-457200">
              <a:buFont typeface="Arial" panose="020B0604020202020204" pitchFamily="34" charset="0"/>
              <a:buChar char="•"/>
            </a:pPr>
            <a:r>
              <a:rPr lang="en-GB" dirty="0"/>
              <a:t>Receive criticism</a:t>
            </a:r>
          </a:p>
          <a:p>
            <a:pPr algn="l"/>
            <a:r>
              <a:rPr lang="en-US" b="0" i="0" dirty="0">
                <a:solidFill>
                  <a:srgbClr val="333333"/>
                </a:solidFill>
                <a:effectLst/>
                <a:latin typeface="Neue Helvetica eText W01"/>
              </a:rPr>
              <a:t>If a suggestion or a point you have made is </a:t>
            </a:r>
            <a:r>
              <a:rPr lang="en-US" b="0" i="0" dirty="0" err="1">
                <a:solidFill>
                  <a:srgbClr val="333333"/>
                </a:solidFill>
                <a:effectLst/>
                <a:latin typeface="Neue Helvetica eText W01"/>
              </a:rPr>
              <a:t>criticised</a:t>
            </a:r>
            <a:r>
              <a:rPr lang="en-US" b="0" i="0" dirty="0">
                <a:solidFill>
                  <a:srgbClr val="333333"/>
                </a:solidFill>
                <a:effectLst/>
                <a:latin typeface="Neue Helvetica eText W01"/>
              </a:rPr>
              <a:t>:</a:t>
            </a:r>
          </a:p>
          <a:p>
            <a:pPr algn="l">
              <a:buFont typeface="Arial" panose="020B0604020202020204" pitchFamily="34" charset="0"/>
              <a:buChar char="•"/>
            </a:pPr>
            <a:r>
              <a:rPr lang="en-US" b="0" i="0" dirty="0">
                <a:solidFill>
                  <a:srgbClr val="333333"/>
                </a:solidFill>
                <a:effectLst/>
                <a:latin typeface="Neue Helvetica eText W01"/>
              </a:rPr>
              <a:t>Listen attentively to the person’s point of view</a:t>
            </a:r>
          </a:p>
          <a:p>
            <a:pPr algn="l">
              <a:buFont typeface="Arial" panose="020B0604020202020204" pitchFamily="34" charset="0"/>
              <a:buChar char="•"/>
            </a:pPr>
            <a:r>
              <a:rPr lang="en-US" b="0" i="0" dirty="0">
                <a:solidFill>
                  <a:srgbClr val="333333"/>
                </a:solidFill>
                <a:effectLst/>
                <a:latin typeface="Neue Helvetica eText W01"/>
              </a:rPr>
              <a:t>Take time to think about what has been said</a:t>
            </a:r>
          </a:p>
          <a:p>
            <a:pPr algn="l">
              <a:buFont typeface="Arial" panose="020B0604020202020204" pitchFamily="34" charset="0"/>
              <a:buNone/>
            </a:pPr>
            <a:r>
              <a:rPr lang="en-US" b="0" i="0" dirty="0">
                <a:solidFill>
                  <a:srgbClr val="333333"/>
                </a:solidFill>
                <a:effectLst/>
                <a:latin typeface="Neue Helvetica eText W01"/>
              </a:rPr>
              <a:t>Ask questions to clarify any areas of confusion</a:t>
            </a:r>
          </a:p>
          <a:p>
            <a:pPr marL="0" indent="0">
              <a:buFont typeface="Arial" panose="020B0604020202020204" pitchFamily="34" charset="0"/>
              <a:buNone/>
            </a:pPr>
            <a:endParaRPr lang="en-GB"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64</a:t>
            </a:fld>
            <a:endParaRPr lang="en-US"/>
          </a:p>
        </p:txBody>
      </p:sp>
    </p:spTree>
    <p:extLst>
      <p:ext uri="{BB962C8B-B14F-4D97-AF65-F5344CB8AC3E}">
        <p14:creationId xmlns:p14="http://schemas.microsoft.com/office/powerpoint/2010/main" val="13851687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65</a:t>
            </a:fld>
            <a:endParaRPr lang="en-US"/>
          </a:p>
        </p:txBody>
      </p:sp>
    </p:spTree>
    <p:extLst>
      <p:ext uri="{BB962C8B-B14F-4D97-AF65-F5344CB8AC3E}">
        <p14:creationId xmlns:p14="http://schemas.microsoft.com/office/powerpoint/2010/main" val="203747756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Masculinity vs </a:t>
            </a:r>
            <a:r>
              <a:rPr lang="en-GB" dirty="0" err="1"/>
              <a:t>Feminity</a:t>
            </a:r>
            <a:r>
              <a:rPr lang="en-GB" dirty="0"/>
              <a:t> has had a name change </a:t>
            </a:r>
            <a:r>
              <a:rPr lang="en-US" b="1" i="0" dirty="0">
                <a:solidFill>
                  <a:srgbClr val="121212"/>
                </a:solidFill>
                <a:effectLst/>
                <a:latin typeface="Barlow" panose="00000500000000000000" pitchFamily="2" charset="0"/>
              </a:rPr>
              <a:t>Motivation towards Achievement and Success</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67</a:t>
            </a:fld>
            <a:endParaRPr lang="en-US"/>
          </a:p>
        </p:txBody>
      </p:sp>
    </p:spTree>
    <p:extLst>
      <p:ext uri="{BB962C8B-B14F-4D97-AF65-F5344CB8AC3E}">
        <p14:creationId xmlns:p14="http://schemas.microsoft.com/office/powerpoint/2010/main" val="6247638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Individualistic societies have loose ties that often only relate an individual to his/her immediate family. They emphasize the "I" versus the "we". Its counterpart, collectivism, describes a society in which tightly integrated relationships tie extended families and others into </a:t>
            </a:r>
            <a:r>
              <a:rPr lang="en-US" b="0" i="0" u="none" strike="noStrike" dirty="0">
                <a:solidFill>
                  <a:srgbClr val="3366CC"/>
                </a:solidFill>
                <a:effectLst/>
                <a:latin typeface="Arial" panose="020B0604020202020204" pitchFamily="34" charset="0"/>
              </a:rPr>
              <a:t>in-groups. </a:t>
            </a:r>
            <a:r>
              <a:rPr lang="en-US" b="0" i="0" dirty="0">
                <a:solidFill>
                  <a:srgbClr val="202122"/>
                </a:solidFill>
                <a:effectLst/>
                <a:latin typeface="Arial" panose="020B0604020202020204" pitchFamily="34" charset="0"/>
              </a:rPr>
              <a:t>These in-groups are laced with undoubted loyalty and support each other when a conflict arises with another in-group</a:t>
            </a:r>
          </a:p>
          <a:p>
            <a:endParaRPr lang="en-US" b="0" i="0" dirty="0">
              <a:solidFill>
                <a:srgbClr val="202122"/>
              </a:solidFill>
              <a:effectLst/>
              <a:latin typeface="Arial" panose="020B0604020202020204" pitchFamily="34" charset="0"/>
            </a:endParaRPr>
          </a:p>
          <a:p>
            <a:r>
              <a:rPr lang="en-US" b="0" i="0" dirty="0">
                <a:solidFill>
                  <a:srgbClr val="040C28"/>
                </a:solidFill>
                <a:effectLst/>
                <a:latin typeface="Google Sans"/>
              </a:rPr>
              <a:t>Indian society is collectivistic and promotes social cohesion and interdependence</a:t>
            </a:r>
            <a:r>
              <a:rPr lang="en-US" b="0" i="0" dirty="0">
                <a:solidFill>
                  <a:srgbClr val="202124"/>
                </a:solidFill>
                <a:effectLst/>
                <a:latin typeface="Google Sans"/>
              </a:rPr>
              <a:t>. The traditional Indian joint family, which follows the same principles of collectivism, has proved itself to be an excellent resource for the care</a:t>
            </a:r>
          </a:p>
          <a:p>
            <a:endParaRPr lang="en-US" b="0" i="0" dirty="0">
              <a:solidFill>
                <a:srgbClr val="202124"/>
              </a:solidFill>
              <a:effectLst/>
              <a:latin typeface="Google Sans"/>
            </a:endParaRPr>
          </a:p>
          <a:p>
            <a:r>
              <a:rPr lang="en-US" b="0" i="0" dirty="0">
                <a:solidFill>
                  <a:srgbClr val="202124"/>
                </a:solidFill>
                <a:effectLst/>
                <a:latin typeface="Google Sans"/>
              </a:rPr>
              <a:t>Nigeria- C</a:t>
            </a:r>
            <a:r>
              <a:rPr lang="en-US" b="0" i="0" dirty="0">
                <a:effectLst/>
                <a:latin typeface="Barlow" panose="00000500000000000000" pitchFamily="2" charset="0"/>
              </a:rPr>
              <a:t>lose long-term commitment to the member ‘group’, be that a family, extended family, or extended relationships. Loyalty in a collectivist culture is paramount and overrides most other societal rules and regulations. The society fosters strong relationships where everyone takes responsibility for fellow members of their group.</a:t>
            </a:r>
          </a:p>
          <a:p>
            <a:endParaRPr lang="en-US" b="0" i="0" dirty="0">
              <a:effectLst/>
              <a:latin typeface="Barlow" panose="00000500000000000000" pitchFamily="2" charset="0"/>
            </a:endParaRPr>
          </a:p>
          <a:p>
            <a:r>
              <a:rPr lang="en-US" b="0" i="0" dirty="0">
                <a:effectLst/>
                <a:latin typeface="Barlow" panose="00000500000000000000" pitchFamily="2" charset="0"/>
              </a:rPr>
              <a:t>How easy is it to get a job in a highly collectivist culture?</a:t>
            </a:r>
          </a:p>
          <a:p>
            <a:endParaRPr lang="en-US" b="0" i="0" dirty="0">
              <a:effectLst/>
              <a:latin typeface="Barlow" panose="00000500000000000000" pitchFamily="2" charset="0"/>
            </a:endParaRPr>
          </a:p>
          <a:p>
            <a:r>
              <a:rPr lang="en-US" b="0" i="0" dirty="0">
                <a:effectLst/>
                <a:latin typeface="Barlow" panose="00000500000000000000" pitchFamily="2" charset="0"/>
              </a:rPr>
              <a:t>In groups take care of each other in return for loyalty. </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68</a:t>
            </a:fld>
            <a:endParaRPr lang="en-US"/>
          </a:p>
        </p:txBody>
      </p:sp>
    </p:spTree>
    <p:extLst>
      <p:ext uri="{BB962C8B-B14F-4D97-AF65-F5344CB8AC3E}">
        <p14:creationId xmlns:p14="http://schemas.microsoft.com/office/powerpoint/2010/main" val="6440844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625"/>
              </a:lnSpc>
            </a:pPr>
            <a:r>
              <a:rPr lang="en-US" b="0" i="0" cap="all" dirty="0">
                <a:solidFill>
                  <a:srgbClr val="121212"/>
                </a:solidFill>
                <a:effectLst/>
                <a:latin typeface="Quicksand"/>
              </a:rPr>
              <a:t>India</a:t>
            </a:r>
          </a:p>
          <a:p>
            <a:pPr algn="l">
              <a:lnSpc>
                <a:spcPts val="1350"/>
              </a:lnSpc>
            </a:pPr>
            <a:r>
              <a:rPr lang="en-US" b="0" i="0" dirty="0">
                <a:solidFill>
                  <a:srgbClr val="FFFFFF"/>
                </a:solidFill>
                <a:effectLst/>
                <a:latin typeface="Barlow" panose="00000500000000000000" pitchFamily="2" charset="0"/>
              </a:rPr>
              <a:t>24</a:t>
            </a:r>
          </a:p>
          <a:p>
            <a:pPr algn="l">
              <a:lnSpc>
                <a:spcPts val="1800"/>
              </a:lnSpc>
              <a:spcBef>
                <a:spcPts val="1800"/>
              </a:spcBef>
            </a:pPr>
            <a:r>
              <a:rPr lang="en-US" b="0" i="0" dirty="0">
                <a:effectLst/>
                <a:latin typeface="Barlow" panose="00000500000000000000" pitchFamily="2" charset="0"/>
              </a:rPr>
              <a:t>India, with a rather low score of 24, is a society with both collectivistic and Individualist traits. The collectivist side means that there is a high preference for belonging to a larger social framework in which individuals are expected to act for the greater good of one’s defined in-group(s). In such situations, the actions of the individual are influenced by various concepts such as the opinion of one’s family, extended family, neighbors, work group, and other such wider social networks that one has some affiliation toward. For a collectivist, to be rejected by one’s peers or to be thought lowly of by one’s extended and immediate in-groups, leaves him or her rudderless and with a sense of intense emptiness. The employer/employee relationship is one of the expectations based on expectations – Loyalty by the employee and almost familial protection by the Employer. Hiring and promotion decisions are often made based on relationships which are the key to everything in a Collectivist society.</a:t>
            </a:r>
          </a:p>
          <a:p>
            <a:pPr algn="l">
              <a:lnSpc>
                <a:spcPts val="1800"/>
              </a:lnSpc>
              <a:spcBef>
                <a:spcPts val="1800"/>
              </a:spcBef>
            </a:pPr>
            <a:r>
              <a:rPr lang="en-US" b="0" i="0" dirty="0">
                <a:effectLst/>
                <a:latin typeface="Barlow" panose="00000500000000000000" pitchFamily="2" charset="0"/>
              </a:rPr>
              <a:t>The Individualist aspect of Indian society is seen as a result of its dominant religion/philosophy – Hinduism. The Hindus believe in a cycle of death and rebirth, with the manner of each rebirth being dependent upon how the individual lived the preceding life. People are, therefore, individually responsible for the way they lead their lives and the impact it will have upon their rebirth. This focus on individualism interacts with the otherwise collectivist tendencies of Indian society which leads to its intermediate score on this dimension.</a:t>
            </a:r>
          </a:p>
          <a:p>
            <a:pPr algn="l"/>
            <a:r>
              <a:rPr lang="en-US" b="1" i="0" u="none" strike="noStrike" dirty="0">
                <a:solidFill>
                  <a:srgbClr val="F28000"/>
                </a:solidFill>
                <a:effectLst/>
                <a:latin typeface="Barlow" panose="00000500000000000000" pitchFamily="2" charset="0"/>
              </a:rPr>
              <a:t>Overview</a:t>
            </a:r>
            <a:endParaRPr lang="en-US" b="0" i="0" dirty="0">
              <a:effectLst/>
              <a:latin typeface="Barlow" panose="00000500000000000000" pitchFamily="2" charset="0"/>
            </a:endParaRPr>
          </a:p>
          <a:p>
            <a:pPr algn="l">
              <a:lnSpc>
                <a:spcPts val="2625"/>
              </a:lnSpc>
            </a:pPr>
            <a:r>
              <a:rPr lang="en-US" b="0" i="0" cap="all" dirty="0">
                <a:solidFill>
                  <a:srgbClr val="121212"/>
                </a:solidFill>
                <a:effectLst/>
                <a:latin typeface="Quicksand"/>
              </a:rPr>
              <a:t>Nigeria</a:t>
            </a:r>
          </a:p>
          <a:p>
            <a:pPr algn="l">
              <a:lnSpc>
                <a:spcPts val="1350"/>
              </a:lnSpc>
            </a:pPr>
            <a:r>
              <a:rPr lang="en-US" b="0" i="0" dirty="0">
                <a:solidFill>
                  <a:srgbClr val="FFFFFF"/>
                </a:solidFill>
                <a:effectLst/>
                <a:latin typeface="Barlow" panose="00000500000000000000" pitchFamily="2" charset="0"/>
              </a:rPr>
              <a:t>0</a:t>
            </a:r>
          </a:p>
          <a:p>
            <a:pPr algn="l">
              <a:lnSpc>
                <a:spcPts val="1800"/>
              </a:lnSpc>
              <a:spcBef>
                <a:spcPts val="1800"/>
              </a:spcBef>
            </a:pPr>
            <a:r>
              <a:rPr lang="en-US" b="0" i="0" dirty="0">
                <a:effectLst/>
                <a:latin typeface="Barlow" panose="00000500000000000000" pitchFamily="2" charset="0"/>
              </a:rPr>
              <a:t>Nigeria, with a score of 0, the lowest score in the database, is a highly collectivistic society. This is manifest in a close long-term commitment to the member ‘group’, be that a family, extended family, or extended relationships. Loyalty in a collectivist culture is paramount and overrides most other societal rules and regulations. The society fosters strong relationships where everyone takes responsibility for fellow members of their group. In collectivist societies, offense leads to shame and loss of face, employer/employee relationships are perceived in moral terms (like a family link), hiring and promotion decisions take account of the employee’s in-group, and management is the management of groups.</a:t>
            </a:r>
          </a:p>
          <a:p>
            <a:pPr algn="l"/>
            <a:r>
              <a:rPr lang="en-US" b="1" i="0" u="none" strike="noStrike" dirty="0">
                <a:solidFill>
                  <a:srgbClr val="F28000"/>
                </a:solidFill>
                <a:effectLst/>
                <a:latin typeface="Barlow" panose="00000500000000000000" pitchFamily="2" charset="0"/>
              </a:rPr>
              <a:t>Overview</a:t>
            </a:r>
            <a:endParaRPr lang="en-US" b="0" i="0" dirty="0">
              <a:effectLst/>
              <a:latin typeface="Barlow" panose="00000500000000000000" pitchFamily="2" charset="0"/>
            </a:endParaRPr>
          </a:p>
          <a:p>
            <a:pPr algn="l">
              <a:lnSpc>
                <a:spcPts val="2625"/>
              </a:lnSpc>
            </a:pPr>
            <a:r>
              <a:rPr lang="en-US" b="0" i="0" cap="all" dirty="0">
                <a:solidFill>
                  <a:srgbClr val="121212"/>
                </a:solidFill>
                <a:effectLst/>
                <a:latin typeface="Quicksand"/>
              </a:rPr>
              <a:t>Russia</a:t>
            </a:r>
          </a:p>
          <a:p>
            <a:pPr algn="l">
              <a:lnSpc>
                <a:spcPts val="1350"/>
              </a:lnSpc>
            </a:pPr>
            <a:r>
              <a:rPr lang="en-US" b="0" i="0" dirty="0">
                <a:solidFill>
                  <a:srgbClr val="FFFFFF"/>
                </a:solidFill>
                <a:effectLst/>
                <a:latin typeface="Barlow" panose="00000500000000000000" pitchFamily="2" charset="0"/>
              </a:rPr>
              <a:t>46</a:t>
            </a:r>
          </a:p>
          <a:p>
            <a:pPr algn="l">
              <a:lnSpc>
                <a:spcPts val="1800"/>
              </a:lnSpc>
              <a:spcBef>
                <a:spcPts val="1800"/>
              </a:spcBef>
            </a:pPr>
            <a:r>
              <a:rPr lang="en-US" b="0" i="0" dirty="0">
                <a:effectLst/>
                <a:latin typeface="Barlow" panose="00000500000000000000" pitchFamily="2" charset="0"/>
              </a:rPr>
              <a:t>If Russians plan to go out with their friends they would say “We with friends” instead of “I and my friends”, if they talk about brothers and sisters it may well be cousins, so a score of 46 even finds its manifestations in the language. Family, friends, and not seldom the neighborhood are extremely important to get along with everyday life’s challenges. Relationships are crucial in obtaining information, getting introduced, or successful negotiations. They need to be personal, authentic, and trustful before they can focus on tasks and build on a careful to-recipient, rather implicit communication style.</a:t>
            </a:r>
          </a:p>
          <a:p>
            <a:pPr algn="l"/>
            <a:r>
              <a:rPr lang="en-US" b="1" i="0" u="none" strike="noStrike" dirty="0">
                <a:solidFill>
                  <a:srgbClr val="F28000"/>
                </a:solidFill>
                <a:effectLst/>
                <a:latin typeface="Barlow" panose="00000500000000000000" pitchFamily="2" charset="0"/>
              </a:rPr>
              <a:t>Overview</a:t>
            </a:r>
            <a:endParaRPr lang="en-US" b="0" i="0" dirty="0">
              <a:effectLst/>
              <a:latin typeface="Barlow" panose="00000500000000000000" pitchFamily="2" charset="0"/>
            </a:endParaRPr>
          </a:p>
          <a:p>
            <a:pPr algn="l">
              <a:lnSpc>
                <a:spcPts val="2625"/>
              </a:lnSpc>
            </a:pPr>
            <a:r>
              <a:rPr lang="en-US" b="0" i="0" cap="all" dirty="0">
                <a:solidFill>
                  <a:srgbClr val="121212"/>
                </a:solidFill>
                <a:effectLst/>
                <a:latin typeface="Quicksand"/>
              </a:rPr>
              <a:t>United kingdom</a:t>
            </a:r>
          </a:p>
          <a:p>
            <a:pPr algn="l">
              <a:lnSpc>
                <a:spcPts val="1350"/>
              </a:lnSpc>
            </a:pPr>
            <a:r>
              <a:rPr lang="en-US" b="0" i="0" dirty="0">
                <a:solidFill>
                  <a:srgbClr val="FFFFFF"/>
                </a:solidFill>
                <a:effectLst/>
                <a:latin typeface="Barlow" panose="00000500000000000000" pitchFamily="2" charset="0"/>
              </a:rPr>
              <a:t>76</a:t>
            </a:r>
          </a:p>
          <a:p>
            <a:pPr algn="l">
              <a:lnSpc>
                <a:spcPts val="1800"/>
              </a:lnSpc>
              <a:spcBef>
                <a:spcPts val="1800"/>
              </a:spcBef>
            </a:pPr>
            <a:r>
              <a:rPr lang="en-US" b="0" i="0" dirty="0">
                <a:effectLst/>
                <a:latin typeface="Barlow" panose="00000500000000000000" pitchFamily="2" charset="0"/>
              </a:rPr>
              <a:t>At a score of 76 the UK is an Individualist society. The British are highly Individualist and private people. Children are taught from an early age to think for themselves and to find out what their unique purpose in life is and how they uniquely can contribute to society. The route to happiness is through personal fulfillment. As the affluence of Britain has increased throughout the last decade, with wealth also ‘spreading North’, a much-discussed phenomenon is a rise of what has been seen as rampant consumerism and a strengthening of the ‘ME’ culture.</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69</a:t>
            </a:fld>
            <a:endParaRPr lang="en-US"/>
          </a:p>
        </p:txBody>
      </p:sp>
    </p:spTree>
    <p:extLst>
      <p:ext uri="{BB962C8B-B14F-4D97-AF65-F5344CB8AC3E}">
        <p14:creationId xmlns:p14="http://schemas.microsoft.com/office/powerpoint/2010/main" val="39216050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70</a:t>
            </a:fld>
            <a:endParaRPr lang="en-US"/>
          </a:p>
        </p:txBody>
      </p:sp>
    </p:spTree>
    <p:extLst>
      <p:ext uri="{BB962C8B-B14F-4D97-AF65-F5344CB8AC3E}">
        <p14:creationId xmlns:p14="http://schemas.microsoft.com/office/powerpoint/2010/main" val="11888020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Conservatism (also called embeddedness)  represents a culture’s emphasis on maintaining the status quo, propriety, and restraining actions or desires that may disrupt the solidarity of the group or the traditional order</a:t>
            </a:r>
            <a:endParaRPr lang="en-US" b="1" dirty="0"/>
          </a:p>
          <a:p>
            <a:r>
              <a:rPr lang="en-US" dirty="0"/>
              <a:t>Intellectual and affective autonomy refer to the extent to which people are free to independently pursue their own ideas and intellectual directions, and their affective desires, respectively</a:t>
            </a:r>
            <a:endParaRPr lang="en-US" b="1" dirty="0"/>
          </a:p>
          <a:p>
            <a:r>
              <a:rPr lang="en-US" b="1" dirty="0"/>
              <a:t>Embeddedness</a:t>
            </a:r>
          </a:p>
          <a:p>
            <a:r>
              <a:rPr lang="en-US" dirty="0"/>
              <a:t>This is a focus on sustaining the social order, of avoiding change and retaining tradition. Group norms are important.</a:t>
            </a:r>
          </a:p>
          <a:p>
            <a:endParaRPr lang="en-US" b="1"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What does this remind you of? Hofstede Individualism/collectivism, LTO and Uncertainty Avoidance</a:t>
            </a:r>
          </a:p>
          <a:p>
            <a:endParaRPr lang="en-US" b="1" i="1" dirty="0"/>
          </a:p>
          <a:p>
            <a:endParaRPr lang="en-US" dirty="0"/>
          </a:p>
          <a:p>
            <a:r>
              <a:rPr lang="en-US" b="1" dirty="0"/>
              <a:t>Autonomy</a:t>
            </a:r>
          </a:p>
          <a:p>
            <a:r>
              <a:rPr lang="en-US" dirty="0"/>
              <a:t>Where individuals have control over their choices as opposed to having to consider others and shared rules.</a:t>
            </a:r>
          </a:p>
          <a:p>
            <a:pPr algn="l"/>
            <a:r>
              <a:rPr lang="en-US" b="1" i="0" dirty="0">
                <a:solidFill>
                  <a:srgbClr val="000000"/>
                </a:solidFill>
                <a:effectLst/>
                <a:latin typeface="Verdana" panose="020B0604030504040204" pitchFamily="34" charset="0"/>
              </a:rPr>
              <a:t>Affective Autonomy </a:t>
            </a:r>
            <a:r>
              <a:rPr lang="en-US" b="0" i="0" dirty="0">
                <a:solidFill>
                  <a:srgbClr val="000000"/>
                </a:solidFill>
                <a:effectLst/>
                <a:latin typeface="Verdana" panose="020B0604030504040204" pitchFamily="34" charset="0"/>
              </a:rPr>
              <a:t>is the independent pursuit of pleasure, seeking enjoyment by any means without censure. In many societies there are limits when affective autonomy leads to taking banned substances or acting in ways that distresses or harms others.</a:t>
            </a:r>
          </a:p>
          <a:p>
            <a:pPr algn="l"/>
            <a:r>
              <a:rPr lang="en-US" b="1" i="0" dirty="0">
                <a:solidFill>
                  <a:srgbClr val="000000"/>
                </a:solidFill>
                <a:effectLst/>
                <a:latin typeface="Verdana" panose="020B0604030504040204" pitchFamily="34" charset="0"/>
              </a:rPr>
              <a:t>Intellectual Autonomy </a:t>
            </a:r>
            <a:r>
              <a:rPr lang="en-US" b="0" i="0" dirty="0">
                <a:solidFill>
                  <a:srgbClr val="000000"/>
                </a:solidFill>
                <a:effectLst/>
                <a:latin typeface="Verdana" panose="020B0604030504040204" pitchFamily="34" charset="0"/>
              </a:rPr>
              <a:t>is the independent pursuit of ideas and thought, whether it is theoretical, political or whatever. In embeddedness cultures it is hard to police what people are thinking, though actions can be taken to monitor intellectual publishing and discussions.</a:t>
            </a:r>
          </a:p>
          <a:p>
            <a:endParaRPr lang="en-US" dirty="0"/>
          </a:p>
          <a:p>
            <a:endParaRPr lang="en-US" dirty="0"/>
          </a:p>
          <a:p>
            <a:r>
              <a:rPr lang="en-US" b="1" i="1" dirty="0"/>
              <a:t>What does this remind you of from Hofstede? Individualism</a:t>
            </a:r>
          </a:p>
          <a:p>
            <a:endParaRPr lang="en-US" dirty="0"/>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71</a:t>
            </a:fld>
            <a:endParaRPr lang="en-US"/>
          </a:p>
        </p:txBody>
      </p:sp>
    </p:spTree>
    <p:extLst>
      <p:ext uri="{BB962C8B-B14F-4D97-AF65-F5344CB8AC3E}">
        <p14:creationId xmlns:p14="http://schemas.microsoft.com/office/powerpoint/2010/main" val="33504587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Nigeria 0 </a:t>
            </a:r>
            <a:r>
              <a:rPr lang="en-US" b="0" i="0" dirty="0">
                <a:effectLst/>
                <a:latin typeface="Barlow" panose="00000500000000000000" pitchFamily="2" charset="0"/>
              </a:rPr>
              <a:t>Nigeria, with a score of 0, the lowest score in the database, is a highly collectivistic society. This is manifest in a close long-term commitment to the member ‘group’, be that a family, extended family, or extended relationships. employer/employee relationships are perceived in moral terms (like a family link), hiring and promotion decisions take account of the employee’s in-group,</a:t>
            </a:r>
          </a:p>
          <a:p>
            <a:endParaRPr lang="en-US" b="0" i="0" dirty="0">
              <a:effectLst/>
              <a:latin typeface="Barlow" panose="00000500000000000000" pitchFamily="2" charset="0"/>
            </a:endParaRPr>
          </a:p>
          <a:p>
            <a:r>
              <a:rPr lang="en-US" b="0" i="0" dirty="0">
                <a:effectLst/>
                <a:latin typeface="Barlow" panose="00000500000000000000" pitchFamily="2" charset="0"/>
              </a:rPr>
              <a:t>Japan 62 Individualistic. Japanese society does not have an extended family system like China and Korea. Japan has been a paternalistic society and the family name and asset was inherited from the father to the eldest son. The younger siblings had to leave home and make their living with their core families. Japanese are famous for their loyalty to their companies, which people have chosen for themselves, which is an Individualist thing to do. You could say that the Japanese in-group is situational. Japanese are more private and reserved than most other Asians.</a:t>
            </a:r>
          </a:p>
          <a:p>
            <a:endParaRPr lang="en-US" b="0" i="0" dirty="0">
              <a:effectLst/>
              <a:latin typeface="Barlow" panose="00000500000000000000" pitchFamily="2" charset="0"/>
            </a:endParaRPr>
          </a:p>
          <a:p>
            <a:endParaRPr lang="en-US" b="0" i="0" dirty="0">
              <a:effectLst/>
              <a:latin typeface="Barlow" panose="00000500000000000000" pitchFamily="2" charset="0"/>
            </a:endParaRPr>
          </a:p>
          <a:p>
            <a:r>
              <a:rPr lang="en-US" b="0" i="0" dirty="0">
                <a:effectLst/>
                <a:latin typeface="Barlow" panose="00000500000000000000" pitchFamily="2" charset="0"/>
              </a:rPr>
              <a:t>India 24  is a society with both collectivistic and Individualist traits. he employer/employee relationship is one of the expectations based on expectations – Loyalty by the employee and almost familial protection by the Employer. Hiring and promotion decisions are often made based on relationships which are the key to everything in a Collectivist </a:t>
            </a:r>
            <a:r>
              <a:rPr lang="en-US" b="0" i="0" dirty="0" err="1">
                <a:effectLst/>
                <a:latin typeface="Barlow" panose="00000500000000000000" pitchFamily="2" charset="0"/>
              </a:rPr>
              <a:t>society.The</a:t>
            </a:r>
            <a:r>
              <a:rPr lang="en-US" b="0" i="0" dirty="0">
                <a:effectLst/>
                <a:latin typeface="Barlow" panose="00000500000000000000" pitchFamily="2" charset="0"/>
              </a:rPr>
              <a:t> collectivist side means that there is a high preference for belonging to a larger social framework in which individuals are expected to act for the greater good of one’s defined in-group(s)dominant religion/philosophy – Hinduism. The Hindus believe in a cycle of death and rebirth, with the manner of each rebirth being dependent upon how the individual lived the preceding life. People are, therefore, individually responsible for the way they lead their lives and the impact it will have upon their rebirth. </a:t>
            </a:r>
          </a:p>
          <a:p>
            <a:endParaRPr lang="en-US" b="0" i="0" dirty="0">
              <a:effectLst/>
              <a:latin typeface="Barlow" panose="00000500000000000000" pitchFamily="2" charset="0"/>
            </a:endParaRPr>
          </a:p>
          <a:p>
            <a:r>
              <a:rPr lang="en-US" b="0" i="0" dirty="0">
                <a:effectLst/>
                <a:latin typeface="Barlow" panose="00000500000000000000" pitchFamily="2" charset="0"/>
              </a:rPr>
              <a:t>https://www.hofstede-insights.com/country-comparison-tool?countries=greece%2Cindia%2Cjapan%2Cnigeria</a:t>
            </a:r>
          </a:p>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72</a:t>
            </a:fld>
            <a:endParaRPr lang="en-US"/>
          </a:p>
        </p:txBody>
      </p:sp>
    </p:spTree>
    <p:extLst>
      <p:ext uri="{BB962C8B-B14F-4D97-AF65-F5344CB8AC3E}">
        <p14:creationId xmlns:p14="http://schemas.microsoft.com/office/powerpoint/2010/main" val="790920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73</a:t>
            </a:fld>
            <a:endParaRPr lang="en-US"/>
          </a:p>
        </p:txBody>
      </p:sp>
    </p:spTree>
    <p:extLst>
      <p:ext uri="{BB962C8B-B14F-4D97-AF65-F5344CB8AC3E}">
        <p14:creationId xmlns:p14="http://schemas.microsoft.com/office/powerpoint/2010/main" val="31242389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 people want to achieve recognition for their individual achievement?</a:t>
            </a:r>
          </a:p>
          <a:p>
            <a:endParaRPr lang="en-GB" dirty="0"/>
          </a:p>
          <a:p>
            <a:r>
              <a:rPr lang="en-GB" dirty="0"/>
              <a:t>Clearly building on Hofstede</a:t>
            </a:r>
          </a:p>
          <a:p>
            <a:endParaRPr lang="en-GB" dirty="0"/>
          </a:p>
          <a:p>
            <a:r>
              <a:rPr lang="en-GB" dirty="0"/>
              <a:t>Individualistic- decision makers can make decisions without consulting others, therefore happens more quickly. Look after own happiness</a:t>
            </a:r>
          </a:p>
          <a:p>
            <a:r>
              <a:rPr lang="en-GB" dirty="0"/>
              <a:t>Working in these cultures you should reward on an individual basis, encourage use of initiative, try and align the individuals needs with those of the organisation</a:t>
            </a:r>
          </a:p>
          <a:p>
            <a:endParaRPr lang="en-GB" dirty="0"/>
          </a:p>
          <a:p>
            <a:r>
              <a:rPr lang="en-GB" dirty="0"/>
              <a:t>Communitarianism- Organised around groups- loyalty is important. Decision making takes longer as everyone inputs. Job turnover is lower due to high group loyalty</a:t>
            </a:r>
          </a:p>
          <a:p>
            <a:r>
              <a:rPr lang="en-GB" dirty="0"/>
              <a:t>Reward group in public and praise group in public. Praise individuals in private. Whole team should be included in decision making.</a:t>
            </a:r>
          </a:p>
          <a:p>
            <a:endParaRPr lang="en-GB" dirty="0"/>
          </a:p>
          <a:p>
            <a:r>
              <a:rPr lang="en-US" b="0" i="0" dirty="0">
                <a:solidFill>
                  <a:srgbClr val="202122"/>
                </a:solidFill>
                <a:effectLst/>
                <a:latin typeface="Arial" panose="020B0604020202020204" pitchFamily="34" charset="0"/>
              </a:rPr>
              <a:t>Trompenaars research yielded some interesting results and suggested that cultures may change more quickly than many people realize. It may not be surprising to see a country like the United States with high individualism, but Mexico and the former communist countries of Czechoslovakia and the Soviet Union were also found to be individualistic in Trompenaars research. In Mexico, the shift from a previously communitarian culture could be explained with its membership in NAFTA and involvement in the global economy. This contrasts with </a:t>
            </a:r>
            <a:r>
              <a:rPr lang="en-US" b="0" i="0" u="none" strike="noStrike" dirty="0">
                <a:solidFill>
                  <a:srgbClr val="3366CC"/>
                </a:solidFill>
                <a:effectLst/>
                <a:latin typeface="Arial" panose="020B0604020202020204" pitchFamily="34" charset="0"/>
                <a:hlinkClick r:id="rId3" tooltip="Hofstede's cultural dimensions theory"/>
              </a:rPr>
              <a:t>Hofstede's</a:t>
            </a:r>
            <a:r>
              <a:rPr lang="en-US" b="0" i="0" dirty="0">
                <a:solidFill>
                  <a:srgbClr val="202122"/>
                </a:solidFill>
                <a:effectLst/>
                <a:latin typeface="Arial" panose="020B0604020202020204" pitchFamily="34" charset="0"/>
              </a:rPr>
              <a:t> earlier research, which found these countries to be collectivist, and shows the dynamic and complex nature of culture. Countries with high communitarianism include Germany, China, France, Japan, and Singapore</a:t>
            </a:r>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74</a:t>
            </a:fld>
            <a:endParaRPr lang="en-US"/>
          </a:p>
        </p:txBody>
      </p:sp>
    </p:spTree>
    <p:extLst>
      <p:ext uri="{BB962C8B-B14F-4D97-AF65-F5344CB8AC3E}">
        <p14:creationId xmlns:p14="http://schemas.microsoft.com/office/powerpoint/2010/main" val="12457398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75</a:t>
            </a:fld>
            <a:endParaRPr lang="en-US"/>
          </a:p>
        </p:txBody>
      </p:sp>
    </p:spTree>
    <p:extLst>
      <p:ext uri="{BB962C8B-B14F-4D97-AF65-F5344CB8AC3E}">
        <p14:creationId xmlns:p14="http://schemas.microsoft.com/office/powerpoint/2010/main" val="6695892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D890D9-946C-F447-A007-CD62FC879AC5}" type="slidenum">
              <a:rPr lang="en-US" smtClean="0"/>
              <a:t>76</a:t>
            </a:fld>
            <a:endParaRPr lang="en-US"/>
          </a:p>
        </p:txBody>
      </p:sp>
    </p:spTree>
    <p:extLst>
      <p:ext uri="{BB962C8B-B14F-4D97-AF65-F5344CB8AC3E}">
        <p14:creationId xmlns:p14="http://schemas.microsoft.com/office/powerpoint/2010/main" val="437510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1D890D9-946C-F447-A007-CD62FC879AC5}" type="slidenum">
              <a:rPr lang="en-US" smtClean="0"/>
              <a:t>77</a:t>
            </a:fld>
            <a:endParaRPr lang="en-US"/>
          </a:p>
        </p:txBody>
      </p:sp>
    </p:spTree>
    <p:extLst>
      <p:ext uri="{BB962C8B-B14F-4D97-AF65-F5344CB8AC3E}">
        <p14:creationId xmlns:p14="http://schemas.microsoft.com/office/powerpoint/2010/main" val="12836132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Intro - Blue">
    <p:bg>
      <p:bgPr>
        <a:solidFill>
          <a:srgbClr val="3E77C0"/>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AA45605-E101-0EBA-E3C7-E88F3A8F035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57203890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go Intro - Mustard">
    <p:bg>
      <p:bgPr>
        <a:solidFill>
          <a:srgbClr val="FFC00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34111678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go Intro - Pink">
    <p:bg>
      <p:bgPr>
        <a:solidFill>
          <a:srgbClr val="F088B6"/>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0C359C5-7041-3106-960A-4317A98729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495233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o Intro - Red">
    <p:bg>
      <p:bgPr>
        <a:solidFill>
          <a:srgbClr val="FF3B58"/>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EDCD93D9-F4BB-135B-2729-5A64EE0DA2B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265924804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ogo Intro - Teal">
    <p:bg>
      <p:bgPr>
        <a:solidFill>
          <a:srgbClr val="1CA69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159C9131-9802-35F9-E086-DF9C52E499C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56421408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Intro - Black">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AC5DC91-1BF9-4ABC-60EC-78C3AD642F2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525332" y="2057399"/>
            <a:ext cx="7141336" cy="1859622"/>
          </a:xfrm>
          <a:prstGeom prst="rect">
            <a:avLst/>
          </a:prstGeom>
        </p:spPr>
      </p:pic>
    </p:spTree>
    <p:extLst>
      <p:ext uri="{BB962C8B-B14F-4D97-AF65-F5344CB8AC3E}">
        <p14:creationId xmlns:p14="http://schemas.microsoft.com/office/powerpoint/2010/main" val="351289843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 Intro - White">
    <p:bg>
      <p:bgPr>
        <a:solidFill>
          <a:schemeClr val="tx1"/>
        </a:solidFill>
        <a:effectLst/>
      </p:bgPr>
    </p:bg>
    <p:spTree>
      <p:nvGrpSpPr>
        <p:cNvPr id="1" name=""/>
        <p:cNvGrpSpPr/>
        <p:nvPr/>
      </p:nvGrpSpPr>
      <p:grpSpPr>
        <a:xfrm>
          <a:off x="0" y="0"/>
          <a:ext cx="0" cy="0"/>
          <a:chOff x="0" y="0"/>
          <a:chExt cx="0" cy="0"/>
        </a:xfrm>
      </p:grpSpPr>
      <p:pic>
        <p:nvPicPr>
          <p:cNvPr id="2" name="Graphic 4">
            <a:extLst>
              <a:ext uri="{FF2B5EF4-FFF2-40B4-BE49-F238E27FC236}">
                <a16:creationId xmlns:a16="http://schemas.microsoft.com/office/drawing/2014/main" id="{0B4789F8-AA27-494F-AA74-293C75985B9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525332" y="2099074"/>
            <a:ext cx="7141336" cy="1776271"/>
          </a:xfrm>
          <a:prstGeom prst="rect">
            <a:avLst/>
          </a:prstGeom>
        </p:spPr>
      </p:pic>
    </p:spTree>
    <p:extLst>
      <p:ext uri="{BB962C8B-B14F-4D97-AF65-F5344CB8AC3E}">
        <p14:creationId xmlns:p14="http://schemas.microsoft.com/office/powerpoint/2010/main" val="1655079119"/>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screenshot, fireworks&#10;&#10;Description automatically generated">
            <a:extLst>
              <a:ext uri="{FF2B5EF4-FFF2-40B4-BE49-F238E27FC236}">
                <a16:creationId xmlns:a16="http://schemas.microsoft.com/office/drawing/2014/main" id="{15B96FEC-57BA-5533-1816-0C6E4EC31D0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12700"/>
            <a:ext cx="12214663" cy="6845300"/>
          </a:xfrm>
          <a:prstGeom prst="rect">
            <a:avLst/>
          </a:prstGeom>
        </p:spPr>
      </p:pic>
      <p:sp>
        <p:nvSpPr>
          <p:cNvPr id="5" name="Title 1">
            <a:extLst>
              <a:ext uri="{FF2B5EF4-FFF2-40B4-BE49-F238E27FC236}">
                <a16:creationId xmlns:a16="http://schemas.microsoft.com/office/drawing/2014/main" id="{727C368D-4969-E2C9-1121-03D776A952F6}"/>
              </a:ext>
            </a:extLst>
          </p:cNvPr>
          <p:cNvSpPr>
            <a:spLocks noGrp="1"/>
          </p:cNvSpPr>
          <p:nvPr>
            <p:ph type="title" hasCustomPrompt="1"/>
          </p:nvPr>
        </p:nvSpPr>
        <p:spPr>
          <a:xfrm>
            <a:off x="292522" y="406399"/>
            <a:ext cx="9537278" cy="4089401"/>
          </a:xfrm>
          <a:prstGeom prst="rect">
            <a:avLst/>
          </a:prstGeom>
        </p:spPr>
        <p:txBody>
          <a:bodyPr anchor="ctr">
            <a:noAutofit/>
          </a:bodyPr>
          <a:lstStyle>
            <a:lvl1pPr>
              <a:defRPr sz="9000" b="0" i="0" u="none" cap="all" baseline="0">
                <a:solidFill>
                  <a:schemeClr val="bg1"/>
                </a:solidFill>
                <a:latin typeface="Impact" panose="020B0806030902050204" pitchFamily="34" charset="0"/>
                <a:ea typeface="Beatrice" pitchFamily="2" charset="77"/>
              </a:defRPr>
            </a:lvl1pPr>
          </a:lstStyle>
          <a:p>
            <a:r>
              <a:rPr lang="en-US" dirty="0"/>
              <a:t>Insert title </a:t>
            </a:r>
            <a:br>
              <a:rPr lang="en-US" dirty="0"/>
            </a:br>
            <a:r>
              <a:rPr lang="en-US" dirty="0"/>
              <a:t>text here</a:t>
            </a:r>
          </a:p>
        </p:txBody>
      </p:sp>
      <p:pic>
        <p:nvPicPr>
          <p:cNvPr id="7" name="Picture 6">
            <a:extLst>
              <a:ext uri="{FF2B5EF4-FFF2-40B4-BE49-F238E27FC236}">
                <a16:creationId xmlns:a16="http://schemas.microsoft.com/office/drawing/2014/main" id="{1DA5680C-DFDF-3627-5CBC-C4D906DE6C7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633143" y="5673919"/>
            <a:ext cx="3114674" cy="777682"/>
          </a:xfrm>
          <a:prstGeom prst="rect">
            <a:avLst/>
          </a:prstGeom>
        </p:spPr>
      </p:pic>
    </p:spTree>
    <p:extLst>
      <p:ext uri="{BB962C8B-B14F-4D97-AF65-F5344CB8AC3E}">
        <p14:creationId xmlns:p14="http://schemas.microsoft.com/office/powerpoint/2010/main" val="232601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 Text / Image 2">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0D43A2C-7F7D-F522-D966-8A94D059926D}"/>
              </a:ext>
            </a:extLst>
          </p:cNvPr>
          <p:cNvGrpSpPr/>
          <p:nvPr userDrawn="1"/>
        </p:nvGrpSpPr>
        <p:grpSpPr>
          <a:xfrm>
            <a:off x="4573" y="59918"/>
            <a:ext cx="12124601" cy="6763575"/>
            <a:chOff x="4573" y="59918"/>
            <a:chExt cx="12124601" cy="6763575"/>
          </a:xfrm>
        </p:grpSpPr>
        <p:pic>
          <p:nvPicPr>
            <p:cNvPr id="3" name="Picture 2" descr="A yellow star with a black background&#10;&#10;Description automatically generated with low confidence">
              <a:extLst>
                <a:ext uri="{FF2B5EF4-FFF2-40B4-BE49-F238E27FC236}">
                  <a16:creationId xmlns:a16="http://schemas.microsoft.com/office/drawing/2014/main" id="{F599F180-AC71-CE73-1173-AC3ED7CBDF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3" y="5184009"/>
              <a:ext cx="1703892" cy="1639484"/>
            </a:xfrm>
            <a:prstGeom prst="rect">
              <a:avLst/>
            </a:prstGeom>
          </p:spPr>
        </p:pic>
        <p:pic>
          <p:nvPicPr>
            <p:cNvPr id="4" name="Picture 3" descr="A yellow star with a black background&#10;&#10;Description automatically generated with low confidence">
              <a:extLst>
                <a:ext uri="{FF2B5EF4-FFF2-40B4-BE49-F238E27FC236}">
                  <a16:creationId xmlns:a16="http://schemas.microsoft.com/office/drawing/2014/main" id="{D6156A45-B06D-93C2-2F7D-15E6A4E29E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25282" y="59918"/>
              <a:ext cx="1703892" cy="1639484"/>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4E1BA221-E291-FFB6-E5F1-8AE178158877}"/>
              </a:ext>
            </a:extLst>
          </p:cNvPr>
          <p:cNvSpPr>
            <a:spLocks noGrp="1"/>
          </p:cNvSpPr>
          <p:nvPr>
            <p:ph idx="13" hasCustomPrompt="1"/>
          </p:nvPr>
        </p:nvSpPr>
        <p:spPr>
          <a:xfrm>
            <a:off x="574240" y="1645920"/>
            <a:ext cx="10980451" cy="3538089"/>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179160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 Text / Image 1">
    <p:bg>
      <p:bgPr>
        <a:solidFill>
          <a:schemeClr val="bg1">
            <a:lumMod val="95000"/>
          </a:schemeClr>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E57500C-78C7-9101-A77C-A4F2F86AC100}"/>
              </a:ext>
            </a:extLst>
          </p:cNvPr>
          <p:cNvGrpSpPr/>
          <p:nvPr userDrawn="1"/>
        </p:nvGrpSpPr>
        <p:grpSpPr>
          <a:xfrm>
            <a:off x="-1" y="132520"/>
            <a:ext cx="12192001" cy="6619463"/>
            <a:chOff x="-1" y="132520"/>
            <a:chExt cx="12192001" cy="6619463"/>
          </a:xfrm>
        </p:grpSpPr>
        <p:pic>
          <p:nvPicPr>
            <p:cNvPr id="12" name="Picture 11" descr="Shape&#10;&#10;Description automatically generated">
              <a:extLst>
                <a:ext uri="{FF2B5EF4-FFF2-40B4-BE49-F238E27FC236}">
                  <a16:creationId xmlns:a16="http://schemas.microsoft.com/office/drawing/2014/main" id="{685863C0-3CC0-79D1-C10E-E4A128FDB0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5428020"/>
              <a:ext cx="1846729" cy="1323963"/>
            </a:xfrm>
            <a:prstGeom prst="rect">
              <a:avLst/>
            </a:prstGeom>
          </p:spPr>
        </p:pic>
        <p:pic>
          <p:nvPicPr>
            <p:cNvPr id="13" name="Picture 12" descr="Shape&#10;&#10;Description automatically generated">
              <a:extLst>
                <a:ext uri="{FF2B5EF4-FFF2-40B4-BE49-F238E27FC236}">
                  <a16:creationId xmlns:a16="http://schemas.microsoft.com/office/drawing/2014/main" id="{011EFACB-3A5C-91A4-B00C-B6D273EEA6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26122" y="132520"/>
              <a:ext cx="1865878" cy="1337691"/>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6" name="Content Placeholder 1">
            <a:extLst>
              <a:ext uri="{FF2B5EF4-FFF2-40B4-BE49-F238E27FC236}">
                <a16:creationId xmlns:a16="http://schemas.microsoft.com/office/drawing/2014/main" id="{9846EE08-C60C-6611-7559-F5A3D426BE0D}"/>
              </a:ext>
            </a:extLst>
          </p:cNvPr>
          <p:cNvSpPr>
            <a:spLocks noGrp="1"/>
          </p:cNvSpPr>
          <p:nvPr>
            <p:ph idx="14" hasCustomPrompt="1"/>
          </p:nvPr>
        </p:nvSpPr>
        <p:spPr>
          <a:xfrm>
            <a:off x="574240" y="1645920"/>
            <a:ext cx="10980451" cy="3557847"/>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178206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 Image 1">
    <p:bg>
      <p:bgPr>
        <a:solidFill>
          <a:schemeClr val="bg1">
            <a:lumMod val="95000"/>
          </a:schemeClr>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E57500C-78C7-9101-A77C-A4F2F86AC100}"/>
              </a:ext>
            </a:extLst>
          </p:cNvPr>
          <p:cNvGrpSpPr/>
          <p:nvPr userDrawn="1"/>
        </p:nvGrpSpPr>
        <p:grpSpPr>
          <a:xfrm>
            <a:off x="-1" y="132520"/>
            <a:ext cx="12192001" cy="6619463"/>
            <a:chOff x="-1" y="132520"/>
            <a:chExt cx="12192001" cy="6619463"/>
          </a:xfrm>
        </p:grpSpPr>
        <p:pic>
          <p:nvPicPr>
            <p:cNvPr id="12" name="Picture 11" descr="Shape&#10;&#10;Description automatically generated">
              <a:extLst>
                <a:ext uri="{FF2B5EF4-FFF2-40B4-BE49-F238E27FC236}">
                  <a16:creationId xmlns:a16="http://schemas.microsoft.com/office/drawing/2014/main" id="{685863C0-3CC0-79D1-C10E-E4A128FDB0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5428020"/>
              <a:ext cx="1846729" cy="1323963"/>
            </a:xfrm>
            <a:prstGeom prst="rect">
              <a:avLst/>
            </a:prstGeom>
          </p:spPr>
        </p:pic>
        <p:pic>
          <p:nvPicPr>
            <p:cNvPr id="13" name="Picture 12" descr="Shape&#10;&#10;Description automatically generated">
              <a:extLst>
                <a:ext uri="{FF2B5EF4-FFF2-40B4-BE49-F238E27FC236}">
                  <a16:creationId xmlns:a16="http://schemas.microsoft.com/office/drawing/2014/main" id="{011EFACB-3A5C-91A4-B00C-B6D273EEA6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26122" y="132520"/>
              <a:ext cx="1865878" cy="1337691"/>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6" name="Content Placeholder 1">
            <a:extLst>
              <a:ext uri="{FF2B5EF4-FFF2-40B4-BE49-F238E27FC236}">
                <a16:creationId xmlns:a16="http://schemas.microsoft.com/office/drawing/2014/main" id="{9846EE08-C60C-6611-7559-F5A3D426BE0D}"/>
              </a:ext>
            </a:extLst>
          </p:cNvPr>
          <p:cNvSpPr>
            <a:spLocks noGrp="1"/>
          </p:cNvSpPr>
          <p:nvPr>
            <p:ph idx="14" hasCustomPrompt="1"/>
          </p:nvPr>
        </p:nvSpPr>
        <p:spPr>
          <a:xfrm>
            <a:off x="574240" y="1645920"/>
            <a:ext cx="10980451" cy="3557847"/>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800539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ext / Image 2">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0D43A2C-7F7D-F522-D966-8A94D059926D}"/>
              </a:ext>
            </a:extLst>
          </p:cNvPr>
          <p:cNvGrpSpPr/>
          <p:nvPr userDrawn="1"/>
        </p:nvGrpSpPr>
        <p:grpSpPr>
          <a:xfrm>
            <a:off x="4573" y="59918"/>
            <a:ext cx="12124601" cy="6763575"/>
            <a:chOff x="4573" y="59918"/>
            <a:chExt cx="12124601" cy="6763575"/>
          </a:xfrm>
        </p:grpSpPr>
        <p:pic>
          <p:nvPicPr>
            <p:cNvPr id="3" name="Picture 2" descr="A yellow star with a black background&#10;&#10;Description automatically generated with low confidence">
              <a:extLst>
                <a:ext uri="{FF2B5EF4-FFF2-40B4-BE49-F238E27FC236}">
                  <a16:creationId xmlns:a16="http://schemas.microsoft.com/office/drawing/2014/main" id="{F599F180-AC71-CE73-1173-AC3ED7CBDF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573" y="5184009"/>
              <a:ext cx="1703892" cy="1639484"/>
            </a:xfrm>
            <a:prstGeom prst="rect">
              <a:avLst/>
            </a:prstGeom>
          </p:spPr>
        </p:pic>
        <p:pic>
          <p:nvPicPr>
            <p:cNvPr id="4" name="Picture 3" descr="A yellow star with a black background&#10;&#10;Description automatically generated with low confidence">
              <a:extLst>
                <a:ext uri="{FF2B5EF4-FFF2-40B4-BE49-F238E27FC236}">
                  <a16:creationId xmlns:a16="http://schemas.microsoft.com/office/drawing/2014/main" id="{D6156A45-B06D-93C2-2F7D-15E6A4E29E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425282" y="59918"/>
              <a:ext cx="1703892" cy="1639484"/>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4E1BA221-E291-FFB6-E5F1-8AE178158877}"/>
              </a:ext>
            </a:extLst>
          </p:cNvPr>
          <p:cNvSpPr>
            <a:spLocks noGrp="1"/>
          </p:cNvSpPr>
          <p:nvPr>
            <p:ph idx="13" hasCustomPrompt="1"/>
          </p:nvPr>
        </p:nvSpPr>
        <p:spPr>
          <a:xfrm>
            <a:off x="574240" y="1645920"/>
            <a:ext cx="10980451" cy="3538089"/>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1889316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 Image 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2E0A79-490D-14C4-F974-11E2E0181BB3}"/>
              </a:ext>
            </a:extLst>
          </p:cNvPr>
          <p:cNvGrpSpPr/>
          <p:nvPr userDrawn="1"/>
        </p:nvGrpSpPr>
        <p:grpSpPr>
          <a:xfrm>
            <a:off x="164597" y="191844"/>
            <a:ext cx="11844874" cy="6529141"/>
            <a:chOff x="164597" y="191844"/>
            <a:chExt cx="11844874" cy="6529141"/>
          </a:xfrm>
        </p:grpSpPr>
        <p:pic>
          <p:nvPicPr>
            <p:cNvPr id="4" name="Picture 3" descr="A picture containing shape&#10;&#10;Description automatically generated">
              <a:extLst>
                <a:ext uri="{FF2B5EF4-FFF2-40B4-BE49-F238E27FC236}">
                  <a16:creationId xmlns:a16="http://schemas.microsoft.com/office/drawing/2014/main" id="{BD70B058-B4D0-65A6-2C50-5166F35FCE6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64597" y="5495288"/>
              <a:ext cx="1541327" cy="1225697"/>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id="{9FA93485-F273-1BFA-737E-980BFAEDDC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flipH="1">
              <a:off x="10468144" y="191844"/>
              <a:ext cx="1541327" cy="1225697"/>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716916"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7" name="Content Placeholder 1">
            <a:extLst>
              <a:ext uri="{FF2B5EF4-FFF2-40B4-BE49-F238E27FC236}">
                <a16:creationId xmlns:a16="http://schemas.microsoft.com/office/drawing/2014/main" id="{D810EC07-7220-6405-0597-FBD62F939213}"/>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2892453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Text / Image 4">
    <p:bg>
      <p:bgPr>
        <a:solidFill>
          <a:schemeClr val="bg1">
            <a:lumMod val="95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grpSp>
        <p:nvGrpSpPr>
          <p:cNvPr id="5" name="Group 4">
            <a:extLst>
              <a:ext uri="{FF2B5EF4-FFF2-40B4-BE49-F238E27FC236}">
                <a16:creationId xmlns:a16="http://schemas.microsoft.com/office/drawing/2014/main" id="{C9F18925-F85C-D131-011C-526A582F4B4F}"/>
              </a:ext>
            </a:extLst>
          </p:cNvPr>
          <p:cNvGrpSpPr/>
          <p:nvPr userDrawn="1"/>
        </p:nvGrpSpPr>
        <p:grpSpPr>
          <a:xfrm>
            <a:off x="66260" y="66260"/>
            <a:ext cx="12025040" cy="6738732"/>
            <a:chOff x="66260" y="66260"/>
            <a:chExt cx="12025040" cy="6738732"/>
          </a:xfrm>
        </p:grpSpPr>
        <p:pic>
          <p:nvPicPr>
            <p:cNvPr id="7" name="Picture 6" descr="Shape&#10;&#10;Description automatically generated">
              <a:extLst>
                <a:ext uri="{FF2B5EF4-FFF2-40B4-BE49-F238E27FC236}">
                  <a16:creationId xmlns:a16="http://schemas.microsoft.com/office/drawing/2014/main" id="{373F1712-B533-21FC-01AC-4AEFCF410E8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260" y="5433392"/>
              <a:ext cx="2437092" cy="1371600"/>
            </a:xfrm>
            <a:prstGeom prst="rect">
              <a:avLst/>
            </a:prstGeom>
          </p:spPr>
        </p:pic>
        <p:pic>
          <p:nvPicPr>
            <p:cNvPr id="9" name="Picture 8" descr="Shape&#10;&#10;Description automatically generated">
              <a:extLst>
                <a:ext uri="{FF2B5EF4-FFF2-40B4-BE49-F238E27FC236}">
                  <a16:creationId xmlns:a16="http://schemas.microsoft.com/office/drawing/2014/main" id="{92F91E10-FAB2-4120-0F13-629A41F5590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9654208" y="66260"/>
              <a:ext cx="2437092" cy="1371600"/>
            </a:xfrm>
            <a:prstGeom prst="rect">
              <a:avLst/>
            </a:prstGeom>
          </p:spPr>
        </p:pic>
      </p:grpSp>
      <p:sp>
        <p:nvSpPr>
          <p:cNvPr id="10" name="Content Placeholder 1">
            <a:extLst>
              <a:ext uri="{FF2B5EF4-FFF2-40B4-BE49-F238E27FC236}">
                <a16:creationId xmlns:a16="http://schemas.microsoft.com/office/drawing/2014/main" id="{8E4D6CBC-5F47-838E-5EA6-EC8C6DD1B4B6}"/>
              </a:ext>
            </a:extLst>
          </p:cNvPr>
          <p:cNvSpPr>
            <a:spLocks noGrp="1"/>
          </p:cNvSpPr>
          <p:nvPr>
            <p:ph idx="13" hasCustomPrompt="1"/>
          </p:nvPr>
        </p:nvSpPr>
        <p:spPr>
          <a:xfrm>
            <a:off x="574240" y="1645920"/>
            <a:ext cx="10980451" cy="3607724"/>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7750000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Text / Image 5">
    <p:bg>
      <p:bgPr>
        <a:solidFill>
          <a:schemeClr val="bg1">
            <a:lumMod val="9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660F8BE-8535-0A6D-3C7D-584A13A08D87}"/>
              </a:ext>
            </a:extLst>
          </p:cNvPr>
          <p:cNvGrpSpPr/>
          <p:nvPr userDrawn="1"/>
        </p:nvGrpSpPr>
        <p:grpSpPr>
          <a:xfrm>
            <a:off x="0" y="0"/>
            <a:ext cx="12190476" cy="6858000"/>
            <a:chOff x="0" y="0"/>
            <a:chExt cx="12190476" cy="6858000"/>
          </a:xfrm>
        </p:grpSpPr>
        <p:pic>
          <p:nvPicPr>
            <p:cNvPr id="4" name="Picture 3" descr="Shape, rectangle&#10;&#10;Description automatically generated">
              <a:extLst>
                <a:ext uri="{FF2B5EF4-FFF2-40B4-BE49-F238E27FC236}">
                  <a16:creationId xmlns:a16="http://schemas.microsoft.com/office/drawing/2014/main" id="{4B66CEE4-A825-4223-10DF-E13ED9A0B3C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5818537"/>
              <a:ext cx="1846943" cy="1039463"/>
            </a:xfrm>
            <a:prstGeom prst="rect">
              <a:avLst/>
            </a:prstGeom>
          </p:spPr>
        </p:pic>
        <p:pic>
          <p:nvPicPr>
            <p:cNvPr id="6" name="Picture 5" descr="Shape, rectangle&#10;&#10;Description automatically generated">
              <a:extLst>
                <a:ext uri="{FF2B5EF4-FFF2-40B4-BE49-F238E27FC236}">
                  <a16:creationId xmlns:a16="http://schemas.microsoft.com/office/drawing/2014/main" id="{A9FB3CD6-7EE3-A5AC-8D4A-43299D34B38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flipV="1">
              <a:off x="10343533" y="0"/>
              <a:ext cx="1846943" cy="1039463"/>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462707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ext / Image 6">
    <p:bg>
      <p:bgPr>
        <a:solidFill>
          <a:schemeClr val="bg1">
            <a:lumMod val="95000"/>
          </a:schemeClr>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4258EA6-9FB2-815D-57CF-615D3156E80E}"/>
              </a:ext>
            </a:extLst>
          </p:cNvPr>
          <p:cNvGrpSpPr/>
          <p:nvPr userDrawn="1"/>
        </p:nvGrpSpPr>
        <p:grpSpPr>
          <a:xfrm>
            <a:off x="28090" y="1"/>
            <a:ext cx="12160862" cy="6854674"/>
            <a:chOff x="28090" y="1"/>
            <a:chExt cx="12160862" cy="6854674"/>
          </a:xfrm>
        </p:grpSpPr>
        <p:pic>
          <p:nvPicPr>
            <p:cNvPr id="7" name="Picture 6" descr="Logo&#10;&#10;Description automatically generated">
              <a:extLst>
                <a:ext uri="{FF2B5EF4-FFF2-40B4-BE49-F238E27FC236}">
                  <a16:creationId xmlns:a16="http://schemas.microsoft.com/office/drawing/2014/main" id="{EFEC4D6A-4A22-15C3-F75A-33BC8BC2464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448563" y="5150836"/>
              <a:ext cx="2180492" cy="1227185"/>
            </a:xfrm>
            <a:prstGeom prst="rect">
              <a:avLst/>
            </a:prstGeom>
          </p:spPr>
        </p:pic>
        <p:pic>
          <p:nvPicPr>
            <p:cNvPr id="9" name="Picture 8" descr="Logo&#10;&#10;Description automatically generated">
              <a:extLst>
                <a:ext uri="{FF2B5EF4-FFF2-40B4-BE49-F238E27FC236}">
                  <a16:creationId xmlns:a16="http://schemas.microsoft.com/office/drawing/2014/main" id="{9038D2EC-E056-06EE-6961-9C7E479FDDC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flipH="1">
              <a:off x="10485114" y="476654"/>
              <a:ext cx="2180492" cy="1227185"/>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0" name="Content Placeholder 1">
            <a:extLst>
              <a:ext uri="{FF2B5EF4-FFF2-40B4-BE49-F238E27FC236}">
                <a16:creationId xmlns:a16="http://schemas.microsoft.com/office/drawing/2014/main" id="{D8B7A707-66EB-F3C0-7C6B-41B63F4EC67B}"/>
              </a:ext>
            </a:extLst>
          </p:cNvPr>
          <p:cNvSpPr>
            <a:spLocks noGrp="1"/>
          </p:cNvSpPr>
          <p:nvPr>
            <p:ph idx="13" hasCustomPrompt="1"/>
          </p:nvPr>
        </p:nvSpPr>
        <p:spPr>
          <a:xfrm>
            <a:off x="1255276" y="1645920"/>
            <a:ext cx="9667649" cy="4572000"/>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3314366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Text / Image 7">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36B1C24-D3E5-EB08-D472-3268D44B70F2}"/>
              </a:ext>
            </a:extLst>
          </p:cNvPr>
          <p:cNvGrpSpPr/>
          <p:nvPr userDrawn="1"/>
        </p:nvGrpSpPr>
        <p:grpSpPr>
          <a:xfrm>
            <a:off x="41360" y="-25400"/>
            <a:ext cx="12123716" cy="6857999"/>
            <a:chOff x="66760" y="0"/>
            <a:chExt cx="12123716" cy="6857999"/>
          </a:xfrm>
        </p:grpSpPr>
        <p:pic>
          <p:nvPicPr>
            <p:cNvPr id="5" name="Picture 4" descr="Shape&#10;&#10;Description automatically generated">
              <a:extLst>
                <a:ext uri="{FF2B5EF4-FFF2-40B4-BE49-F238E27FC236}">
                  <a16:creationId xmlns:a16="http://schemas.microsoft.com/office/drawing/2014/main" id="{99BF3BF0-382E-38F4-F4C8-EAE9F7EFE69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760" y="5627077"/>
              <a:ext cx="1294317" cy="1230922"/>
            </a:xfrm>
            <a:prstGeom prst="rect">
              <a:avLst/>
            </a:prstGeom>
          </p:spPr>
        </p:pic>
        <p:pic>
          <p:nvPicPr>
            <p:cNvPr id="7" name="Picture 6" descr="Shape&#10;&#10;Description automatically generated">
              <a:extLst>
                <a:ext uri="{FF2B5EF4-FFF2-40B4-BE49-F238E27FC236}">
                  <a16:creationId xmlns:a16="http://schemas.microsoft.com/office/drawing/2014/main" id="{D3C6E284-0EE8-45F4-56A5-D76701A2E2C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96159" y="0"/>
              <a:ext cx="1294317" cy="1230922"/>
            </a:xfrm>
            <a:prstGeom prst="rect">
              <a:avLst/>
            </a:prstGeom>
          </p:spPr>
        </p:pic>
      </p:grpSp>
      <p:sp>
        <p:nvSpPr>
          <p:cNvPr id="8" name="Title 1">
            <a:extLst>
              <a:ext uri="{FF2B5EF4-FFF2-40B4-BE49-F238E27FC236}">
                <a16:creationId xmlns:a16="http://schemas.microsoft.com/office/drawing/2014/main" id="{DFF506FE-E5AB-E683-725A-02121047878D}"/>
              </a:ext>
            </a:extLst>
          </p:cNvPr>
          <p:cNvSpPr>
            <a:spLocks noGrp="1"/>
          </p:cNvSpPr>
          <p:nvPr>
            <p:ph type="title" hasCustomPrompt="1"/>
          </p:nvPr>
        </p:nvSpPr>
        <p:spPr>
          <a:xfrm>
            <a:off x="574240" y="357188"/>
            <a:ext cx="9079968" cy="756718"/>
          </a:xfrm>
          <a:prstGeom prst="rect">
            <a:avLst/>
          </a:prstGeom>
        </p:spPr>
        <p:txBody>
          <a:bodyPr anchor="t"/>
          <a:lstStyle>
            <a:lvl1pPr>
              <a:lnSpc>
                <a:spcPct val="85000"/>
              </a:lnSpc>
              <a:defRPr sz="5200" cap="all" baseline="0">
                <a:solidFill>
                  <a:schemeClr val="tx1"/>
                </a:solidFill>
                <a:latin typeface="Impact" panose="020B0806030902050204" pitchFamily="34" charset="0"/>
              </a:defRPr>
            </a:lvl1pPr>
          </a:lstStyle>
          <a:p>
            <a:r>
              <a:rPr lang="en-GB" dirty="0"/>
              <a:t>INSERT title</a:t>
            </a:r>
            <a:endParaRPr lang="en-US" dirty="0"/>
          </a:p>
        </p:txBody>
      </p:sp>
      <p:sp>
        <p:nvSpPr>
          <p:cNvPr id="11" name="Content Placeholder 1">
            <a:extLst>
              <a:ext uri="{FF2B5EF4-FFF2-40B4-BE49-F238E27FC236}">
                <a16:creationId xmlns:a16="http://schemas.microsoft.com/office/drawing/2014/main" id="{A4C939C7-490B-17B5-2006-52C790352D21}"/>
              </a:ext>
            </a:extLst>
          </p:cNvPr>
          <p:cNvSpPr>
            <a:spLocks noGrp="1"/>
          </p:cNvSpPr>
          <p:nvPr>
            <p:ph idx="13" hasCustomPrompt="1"/>
          </p:nvPr>
        </p:nvSpPr>
        <p:spPr>
          <a:xfrm>
            <a:off x="574240" y="1645920"/>
            <a:ext cx="10980451" cy="3849368"/>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Tree>
    <p:extLst>
      <p:ext uri="{BB962C8B-B14F-4D97-AF65-F5344CB8AC3E}">
        <p14:creationId xmlns:p14="http://schemas.microsoft.com/office/powerpoint/2010/main" val="40540881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 column gree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371DAE-A209-4F99-8998-011EBCC6FC9F}"/>
              </a:ext>
            </a:extLst>
          </p:cNvPr>
          <p:cNvSpPr/>
          <p:nvPr userDrawn="1"/>
        </p:nvSpPr>
        <p:spPr>
          <a:xfrm>
            <a:off x="0" y="6348923"/>
            <a:ext cx="12192000" cy="522000"/>
          </a:xfrm>
          <a:prstGeom prst="rect">
            <a:avLst/>
          </a:prstGeom>
          <a:solidFill>
            <a:srgbClr val="3637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D3559C2F-91B3-4E84-B4E9-A061D33D4EE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 y="6346825"/>
            <a:ext cx="12192000" cy="521208"/>
          </a:xfrm>
          <a:prstGeom prst="rect">
            <a:avLst/>
          </a:prstGeom>
        </p:spPr>
      </p:pic>
      <p:sp>
        <p:nvSpPr>
          <p:cNvPr id="10" name="Footer Placeholder 4">
            <a:extLst>
              <a:ext uri="{FF2B5EF4-FFF2-40B4-BE49-F238E27FC236}">
                <a16:creationId xmlns:a16="http://schemas.microsoft.com/office/drawing/2014/main" id="{A1CFA9FA-EDA5-4F6D-B82B-E4139442758D}"/>
              </a:ext>
            </a:extLst>
          </p:cNvPr>
          <p:cNvSpPr txBox="1">
            <a:spLocks/>
          </p:cNvSpPr>
          <p:nvPr userDrawn="1"/>
        </p:nvSpPr>
        <p:spPr>
          <a:xfrm>
            <a:off x="522000" y="6348923"/>
            <a:ext cx="10652400" cy="501650"/>
          </a:xfrm>
          <a:prstGeom prst="rect">
            <a:avLst/>
          </a:prstGeom>
        </p:spPr>
        <p:txBody>
          <a:bodyPr vert="horz" lIns="0" tIns="0" rIns="0" bIns="0" rtlCol="0" anchor="ctr"/>
          <a:lstStyle>
            <a:defPPr>
              <a:defRPr lang="en-US"/>
            </a:defPPr>
            <a:lvl1pPr marL="0" algn="l" defTabSz="914400" rtl="0" eaLnBrk="1" latinLnBrk="0" hangingPunct="1">
              <a:lnSpc>
                <a:spcPts val="1900"/>
              </a:lnSpc>
              <a:defRPr lang="en-GB" sz="900" b="0" i="0" u="none" strike="noStrike" kern="1200" baseline="0" smtClean="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University of Gloucestershire</a:t>
            </a:r>
          </a:p>
        </p:txBody>
      </p:sp>
      <p:sp>
        <p:nvSpPr>
          <p:cNvPr id="11" name="Slide Number Placeholder 5">
            <a:extLst>
              <a:ext uri="{FF2B5EF4-FFF2-40B4-BE49-F238E27FC236}">
                <a16:creationId xmlns:a16="http://schemas.microsoft.com/office/drawing/2014/main" id="{8F84C52A-A232-44B0-91E1-6C35437E881A}"/>
              </a:ext>
            </a:extLst>
          </p:cNvPr>
          <p:cNvSpPr txBox="1">
            <a:spLocks/>
          </p:cNvSpPr>
          <p:nvPr userDrawn="1"/>
        </p:nvSpPr>
        <p:spPr>
          <a:xfrm>
            <a:off x="11174400" y="6348923"/>
            <a:ext cx="500400" cy="501650"/>
          </a:xfrm>
          <a:prstGeom prst="rect">
            <a:avLst/>
          </a:prstGeom>
        </p:spPr>
        <p:txBody>
          <a:bodyPr vert="horz" lIns="0" tIns="0" rIns="0" bIns="0" rtlCol="0" anchor="ctr"/>
          <a:lstStyle>
            <a:defPPr>
              <a:defRPr lang="en-US"/>
            </a:defPPr>
            <a:lvl1pPr marL="0" algn="r" defTabSz="914400" rtl="0" eaLnBrk="1" latinLnBrk="0" hangingPunct="1">
              <a:lnSpc>
                <a:spcPts val="1900"/>
              </a:lnSpc>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865ED3-5985-4D19-8FFA-E2B1DCF4EC52}" type="slidenum">
              <a:rPr lang="en-GB" smtClean="0"/>
              <a:pPr/>
              <a:t>‹#›</a:t>
            </a:fld>
            <a:endParaRPr lang="en-GB" dirty="0"/>
          </a:p>
        </p:txBody>
      </p:sp>
      <p:pic>
        <p:nvPicPr>
          <p:cNvPr id="12" name="Picture 11">
            <a:extLst>
              <a:ext uri="{FF2B5EF4-FFF2-40B4-BE49-F238E27FC236}">
                <a16:creationId xmlns:a16="http://schemas.microsoft.com/office/drawing/2014/main" id="{A1137DBE-3DCB-461E-8748-28DDBCC2B31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0" y="10033"/>
            <a:ext cx="12192000" cy="6336792"/>
          </a:xfrm>
          <a:prstGeom prst="rect">
            <a:avLst/>
          </a:prstGeom>
        </p:spPr>
      </p:pic>
      <p:cxnSp>
        <p:nvCxnSpPr>
          <p:cNvPr id="13" name="Straight Connector 12">
            <a:extLst>
              <a:ext uri="{FF2B5EF4-FFF2-40B4-BE49-F238E27FC236}">
                <a16:creationId xmlns:a16="http://schemas.microsoft.com/office/drawing/2014/main" id="{2F497D97-B2B5-4B96-894C-954DC149DFD0}"/>
              </a:ext>
            </a:extLst>
          </p:cNvPr>
          <p:cNvCxnSpPr/>
          <p:nvPr userDrawn="1"/>
        </p:nvCxnSpPr>
        <p:spPr>
          <a:xfrm>
            <a:off x="522000" y="522000"/>
            <a:ext cx="497175" cy="0"/>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01849FF-D1BD-4B43-80E5-706DB49E99E8}"/>
              </a:ext>
            </a:extLst>
          </p:cNvPr>
          <p:cNvSpPr>
            <a:spLocks noGrp="1"/>
          </p:cNvSpPr>
          <p:nvPr>
            <p:ph type="title"/>
          </p:nvPr>
        </p:nvSpPr>
        <p:spPr>
          <a:xfrm>
            <a:off x="522000" y="842400"/>
            <a:ext cx="5479200" cy="720000"/>
          </a:xfrm>
          <a:prstGeom prst="rect">
            <a:avLst/>
          </a:prstGeom>
        </p:spPr>
        <p:txBody>
          <a:bodyPr vert="horz" lIns="0" tIns="0" rIns="0" bIns="0" rtlCol="0" anchor="t" anchorCtr="0">
            <a:noAutofit/>
          </a:bodyPr>
          <a:lstStyle>
            <a:lvl1pPr>
              <a:defRPr lang="en-GB">
                <a:solidFill>
                  <a:schemeClr val="accent1"/>
                </a:solidFill>
              </a:defRPr>
            </a:lvl1pPr>
          </a:lstStyle>
          <a:p>
            <a:pPr lvl="0">
              <a:lnSpc>
                <a:spcPts val="3250"/>
              </a:lnSpc>
            </a:pPr>
            <a:r>
              <a:rPr lang="en-GB"/>
              <a:t>Click to edit Master title style</a:t>
            </a:r>
            <a:endParaRPr lang="en-GB" dirty="0"/>
          </a:p>
        </p:txBody>
      </p:sp>
      <p:sp>
        <p:nvSpPr>
          <p:cNvPr id="3" name="Content Placeholder 2">
            <a:extLst>
              <a:ext uri="{FF2B5EF4-FFF2-40B4-BE49-F238E27FC236}">
                <a16:creationId xmlns:a16="http://schemas.microsoft.com/office/drawing/2014/main" id="{6F85DCEE-F5DF-40E7-8009-7017483BB2D3}"/>
              </a:ext>
            </a:extLst>
          </p:cNvPr>
          <p:cNvSpPr>
            <a:spLocks noGrp="1"/>
          </p:cNvSpPr>
          <p:nvPr>
            <p:ph sz="half" idx="1" hasCustomPrompt="1"/>
          </p:nvPr>
        </p:nvSpPr>
        <p:spPr>
          <a:xfrm>
            <a:off x="522000" y="1566000"/>
            <a:ext cx="9734400" cy="4467600"/>
          </a:xfrm>
        </p:spPr>
        <p:txBody>
          <a:bodyPr vert="horz" lIns="0" tIns="331200" rIns="0" bIns="0" rtlCol="0">
            <a:noAutofit/>
          </a:bodyPr>
          <a:lstStyle>
            <a:lvl1pPr>
              <a:defRPr lang="en-US" dirty="0">
                <a:solidFill>
                  <a:schemeClr val="accent1"/>
                </a:solidFill>
              </a:defRPr>
            </a:lvl1pPr>
            <a:lvl2pPr>
              <a:defRPr lang="en-US" dirty="0">
                <a:solidFill>
                  <a:schemeClr val="accent1"/>
                </a:solidFill>
              </a:defRPr>
            </a:lvl2pPr>
            <a:lvl3pPr>
              <a:defRPr lang="en-US" dirty="0"/>
            </a:lvl3pPr>
            <a:lvl4pPr>
              <a:defRPr lang="en-GB" dirty="0"/>
            </a:lvl4pPr>
            <a:lvl5pPr>
              <a:buClr>
                <a:schemeClr val="accent1"/>
              </a:buClr>
              <a:defRPr/>
            </a:lvl5pPr>
            <a:lvl6pPr>
              <a:defRPr baseline="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endParaRPr lang="en-GB" dirty="0"/>
          </a:p>
        </p:txBody>
      </p:sp>
    </p:spTree>
    <p:extLst>
      <p:ext uri="{BB962C8B-B14F-4D97-AF65-F5344CB8AC3E}">
        <p14:creationId xmlns:p14="http://schemas.microsoft.com/office/powerpoint/2010/main" val="3071229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1073" y="334963"/>
            <a:ext cx="10981267" cy="630942"/>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685800" y="1600220"/>
            <a:ext cx="10803467" cy="47545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mtClean="0"/>
            </a:lvl1pPr>
          </a:lstStyle>
          <a:p>
            <a:pPr>
              <a:defRPr/>
            </a:pPr>
            <a:r>
              <a:rPr lang="en-US" dirty="0">
                <a:solidFill>
                  <a:srgbClr val="000000"/>
                </a:solidFill>
              </a:rPr>
              <a:t>©Routledge/Taylor &amp; Francis 2013</a:t>
            </a:r>
          </a:p>
        </p:txBody>
      </p:sp>
      <p:sp>
        <p:nvSpPr>
          <p:cNvPr id="5" name="Slide Number Placeholder 4"/>
          <p:cNvSpPr>
            <a:spLocks noGrp="1"/>
          </p:cNvSpPr>
          <p:nvPr>
            <p:ph type="sldNum" sz="quarter" idx="11"/>
          </p:nvPr>
        </p:nvSpPr>
        <p:spPr/>
        <p:txBody>
          <a:bodyPr/>
          <a:lstStyle>
            <a:lvl1pPr>
              <a:defRPr smtClean="0"/>
            </a:lvl1pPr>
          </a:lstStyle>
          <a:p>
            <a:pPr>
              <a:defRPr/>
            </a:pPr>
            <a:r>
              <a:rPr lang="en-US" dirty="0">
                <a:solidFill>
                  <a:srgbClr val="000000"/>
                </a:solidFill>
              </a:rPr>
              <a:t>6–</a:t>
            </a:r>
            <a:fld id="{A19813E6-4B98-423F-9418-E260DC03EE9B}"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775797688"/>
      </p:ext>
    </p:extLst>
  </p:cSld>
  <p:clrMapOvr>
    <a:masterClrMapping/>
  </p:clrMapOvr>
  <p:transition spd="med">
    <p:cut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A586CAC-B69C-45CA-ACBD-D0C3AF8BF1A0}" type="datetimeFigureOut">
              <a:rPr lang="en-US" smtClean="0"/>
              <a:pPr/>
              <a:t>11/13/2024</a:t>
            </a:fld>
            <a:endParaRPr lang="en-US"/>
          </a:p>
        </p:txBody>
      </p:sp>
      <p:sp>
        <p:nvSpPr>
          <p:cNvPr id="8" name="Slide Number Placeholder 7"/>
          <p:cNvSpPr>
            <a:spLocks noGrp="1"/>
          </p:cNvSpPr>
          <p:nvPr>
            <p:ph type="sldNum" sz="quarter" idx="11"/>
          </p:nvPr>
        </p:nvSpPr>
        <p:spPr/>
        <p:txBody>
          <a:bodyPr/>
          <a:lstStyle/>
          <a:p>
            <a:fld id="{D01F8170-0D77-46D6-A1D4-83D20065C231}"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60466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xt + Text / Table - Blue">
    <p:bg>
      <p:bgPr>
        <a:solidFill>
          <a:srgbClr val="3E77C0"/>
        </a:solidFill>
        <a:effectLst/>
      </p:bgPr>
    </p:bg>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6A9E545A-CD31-BDD1-8D26-AC71F833C228}"/>
              </a:ext>
            </a:extLst>
          </p:cNvPr>
          <p:cNvSpPr>
            <a:spLocks noGrp="1"/>
          </p:cNvSpPr>
          <p:nvPr>
            <p:ph idx="13" hasCustomPrompt="1"/>
          </p:nvPr>
        </p:nvSpPr>
        <p:spPr>
          <a:xfrm>
            <a:off x="574240" y="1503679"/>
            <a:ext cx="11229015" cy="4050669"/>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
        <p:nvSpPr>
          <p:cNvPr id="6" name="Title 1">
            <a:extLst>
              <a:ext uri="{FF2B5EF4-FFF2-40B4-BE49-F238E27FC236}">
                <a16:creationId xmlns:a16="http://schemas.microsoft.com/office/drawing/2014/main" id="{65BCBAD8-5AEA-F6D3-FA34-009904C2CCDC}"/>
              </a:ext>
            </a:extLst>
          </p:cNvPr>
          <p:cNvSpPr>
            <a:spLocks noGrp="1"/>
          </p:cNvSpPr>
          <p:nvPr>
            <p:ph type="title" hasCustomPrompt="1"/>
          </p:nvPr>
        </p:nvSpPr>
        <p:spPr>
          <a:xfrm>
            <a:off x="574241" y="429527"/>
            <a:ext cx="9234777" cy="893947"/>
          </a:xfrm>
          <a:prstGeom prst="rect">
            <a:avLst/>
          </a:prstGeom>
        </p:spPr>
        <p:txBody>
          <a:bodyPr anchor="ctr">
            <a:noAutofit/>
          </a:bodyPr>
          <a:lstStyle>
            <a:lvl1pPr>
              <a:defRPr sz="5200" b="0" i="0" u="none" cap="all" baseline="0">
                <a:solidFill>
                  <a:schemeClr val="tx1"/>
                </a:solidFill>
                <a:latin typeface="Impact" panose="020B0806030902050204" pitchFamily="34" charset="0"/>
                <a:ea typeface="Beatrice" pitchFamily="2" charset="77"/>
              </a:defRPr>
            </a:lvl1pPr>
          </a:lstStyle>
          <a:p>
            <a:r>
              <a:rPr lang="en-US" dirty="0"/>
              <a:t>Insert title</a:t>
            </a:r>
          </a:p>
        </p:txBody>
      </p:sp>
      <p:pic>
        <p:nvPicPr>
          <p:cNvPr id="7" name="Picture 6">
            <a:extLst>
              <a:ext uri="{FF2B5EF4-FFF2-40B4-BE49-F238E27FC236}">
                <a16:creationId xmlns:a16="http://schemas.microsoft.com/office/drawing/2014/main" id="{3B34D674-B1B1-06A4-A4DE-5A115027333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091652" y="287006"/>
            <a:ext cx="1711151" cy="784111"/>
          </a:xfrm>
          <a:prstGeom prst="rect">
            <a:avLst/>
          </a:prstGeom>
        </p:spPr>
      </p:pic>
      <p:pic>
        <p:nvPicPr>
          <p:cNvPr id="8" name="Picture 7">
            <a:extLst>
              <a:ext uri="{FF2B5EF4-FFF2-40B4-BE49-F238E27FC236}">
                <a16:creationId xmlns:a16="http://schemas.microsoft.com/office/drawing/2014/main" id="{4B69219E-FCEA-C875-A238-12AFFB5DE99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355947" y="5806705"/>
            <a:ext cx="1711151" cy="784111"/>
          </a:xfrm>
          <a:prstGeom prst="rect">
            <a:avLst/>
          </a:prstGeom>
        </p:spPr>
      </p:pic>
    </p:spTree>
    <p:extLst>
      <p:ext uri="{BB962C8B-B14F-4D97-AF65-F5344CB8AC3E}">
        <p14:creationId xmlns:p14="http://schemas.microsoft.com/office/powerpoint/2010/main" val="1977018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ext + Text / Table - Mustard">
    <p:bg>
      <p:bgPr>
        <a:solidFill>
          <a:srgbClr val="FAA719"/>
        </a:solidFill>
        <a:effectLst/>
      </p:bgPr>
    </p:bg>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6A9E545A-CD31-BDD1-8D26-AC71F833C228}"/>
              </a:ext>
            </a:extLst>
          </p:cNvPr>
          <p:cNvSpPr>
            <a:spLocks noGrp="1"/>
          </p:cNvSpPr>
          <p:nvPr>
            <p:ph idx="13" hasCustomPrompt="1"/>
          </p:nvPr>
        </p:nvSpPr>
        <p:spPr>
          <a:xfrm>
            <a:off x="574240" y="1503679"/>
            <a:ext cx="11229015" cy="3833092"/>
          </a:xfrm>
          <a:prstGeom prst="rect">
            <a:avLst/>
          </a:prstGeom>
        </p:spPr>
        <p:txBody>
          <a:bodyPr/>
          <a:lstStyle>
            <a:lvl1pPr marL="0" marR="0" indent="0" algn="l" defTabSz="914400" rtl="0" eaLnBrk="1" fontAlgn="auto" latinLnBrk="0" hangingPunct="1">
              <a:lnSpc>
                <a:spcPct val="80000"/>
              </a:lnSpc>
              <a:spcBef>
                <a:spcPts val="1000"/>
              </a:spcBef>
              <a:spcAft>
                <a:spcPts val="0"/>
              </a:spcAft>
              <a:buClrTx/>
              <a:buSzTx/>
              <a:buFont typeface="System Font Regular"/>
              <a:buNone/>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a:t>
            </a:r>
          </a:p>
        </p:txBody>
      </p:sp>
      <p:sp>
        <p:nvSpPr>
          <p:cNvPr id="6" name="Title 1">
            <a:extLst>
              <a:ext uri="{FF2B5EF4-FFF2-40B4-BE49-F238E27FC236}">
                <a16:creationId xmlns:a16="http://schemas.microsoft.com/office/drawing/2014/main" id="{65BCBAD8-5AEA-F6D3-FA34-009904C2CCDC}"/>
              </a:ext>
            </a:extLst>
          </p:cNvPr>
          <p:cNvSpPr>
            <a:spLocks noGrp="1"/>
          </p:cNvSpPr>
          <p:nvPr>
            <p:ph type="title" hasCustomPrompt="1"/>
          </p:nvPr>
        </p:nvSpPr>
        <p:spPr>
          <a:xfrm>
            <a:off x="574241" y="429527"/>
            <a:ext cx="9700290" cy="893947"/>
          </a:xfrm>
          <a:prstGeom prst="rect">
            <a:avLst/>
          </a:prstGeom>
        </p:spPr>
        <p:txBody>
          <a:bodyPr anchor="ctr">
            <a:noAutofit/>
          </a:bodyPr>
          <a:lstStyle>
            <a:lvl1pPr>
              <a:defRPr sz="5200" b="0" i="0" u="none" cap="all" baseline="0">
                <a:solidFill>
                  <a:schemeClr val="tx1"/>
                </a:solidFill>
                <a:latin typeface="Impact" panose="020B0806030902050204" pitchFamily="34" charset="0"/>
                <a:ea typeface="Beatrice" pitchFamily="2" charset="77"/>
              </a:defRPr>
            </a:lvl1pPr>
          </a:lstStyle>
          <a:p>
            <a:r>
              <a:rPr lang="en-US" dirty="0"/>
              <a:t>Insert title</a:t>
            </a:r>
          </a:p>
        </p:txBody>
      </p:sp>
      <p:pic>
        <p:nvPicPr>
          <p:cNvPr id="2" name="Picture 1">
            <a:extLst>
              <a:ext uri="{FF2B5EF4-FFF2-40B4-BE49-F238E27FC236}">
                <a16:creationId xmlns:a16="http://schemas.microsoft.com/office/drawing/2014/main" id="{A075A15D-A8B8-8EF8-4647-19369A68697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08822" y="5524823"/>
            <a:ext cx="1149335" cy="1099243"/>
          </a:xfrm>
          <a:prstGeom prst="rect">
            <a:avLst/>
          </a:prstGeom>
        </p:spPr>
      </p:pic>
      <p:pic>
        <p:nvPicPr>
          <p:cNvPr id="3" name="Picture 2">
            <a:extLst>
              <a:ext uri="{FF2B5EF4-FFF2-40B4-BE49-F238E27FC236}">
                <a16:creationId xmlns:a16="http://schemas.microsoft.com/office/drawing/2014/main" id="{50C4838F-16DB-DB20-DC86-8B3911E30F5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0600593" y="233933"/>
            <a:ext cx="1149335" cy="1099243"/>
          </a:xfrm>
          <a:prstGeom prst="rect">
            <a:avLst/>
          </a:prstGeom>
        </p:spPr>
      </p:pic>
    </p:spTree>
    <p:extLst>
      <p:ext uri="{BB962C8B-B14F-4D97-AF65-F5344CB8AC3E}">
        <p14:creationId xmlns:p14="http://schemas.microsoft.com/office/powerpoint/2010/main" val="1775666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ext + Larger Image - Mustard">
    <p:bg>
      <p:bgPr>
        <a:solidFill>
          <a:srgbClr val="FAA71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dirty="0"/>
              <a:t>Insert </a:t>
            </a:r>
            <a:r>
              <a:rPr lang="en-US" dirty="0" err="1"/>
              <a:t>usp</a:t>
            </a:r>
            <a:r>
              <a:rPr lang="en-US" dirty="0"/>
              <a:t> </a:t>
            </a:r>
            <a:br>
              <a:rPr lang="en-US" dirty="0"/>
            </a:br>
            <a:r>
              <a:rPr lang="en-US" dirty="0"/>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Tree>
    <p:extLst>
      <p:ext uri="{BB962C8B-B14F-4D97-AF65-F5344CB8AC3E}">
        <p14:creationId xmlns:p14="http://schemas.microsoft.com/office/powerpoint/2010/main" val="42925229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ext + Larger Image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A00B-B302-66E5-55F4-1070290D5386}"/>
              </a:ext>
            </a:extLst>
          </p:cNvPr>
          <p:cNvSpPr>
            <a:spLocks noGrp="1"/>
          </p:cNvSpPr>
          <p:nvPr>
            <p:ph type="title" hasCustomPrompt="1"/>
          </p:nvPr>
        </p:nvSpPr>
        <p:spPr>
          <a:xfrm>
            <a:off x="222187" y="958362"/>
            <a:ext cx="3458273" cy="4941275"/>
          </a:xfrm>
          <a:prstGeom prst="rect">
            <a:avLst/>
          </a:prstGeom>
        </p:spPr>
        <p:txBody>
          <a:bodyPr anchor="ctr">
            <a:noAutofit/>
          </a:bodyPr>
          <a:lstStyle>
            <a:lvl1pPr>
              <a:lnSpc>
                <a:spcPct val="85000"/>
              </a:lnSpc>
              <a:defRPr sz="4400" b="0" i="0" u="none" cap="all" baseline="0">
                <a:solidFill>
                  <a:schemeClr val="tx1"/>
                </a:solidFill>
                <a:latin typeface="Impact" panose="020B0806030902050204" pitchFamily="34" charset="0"/>
                <a:ea typeface="Beatrice" pitchFamily="2" charset="77"/>
              </a:defRPr>
            </a:lvl1pPr>
          </a:lstStyle>
          <a:p>
            <a:r>
              <a:rPr lang="en-US"/>
              <a:t>Insert </a:t>
            </a:r>
            <a:r>
              <a:rPr lang="en-US" err="1"/>
              <a:t>usp</a:t>
            </a:r>
            <a:r>
              <a:rPr lang="en-US"/>
              <a:t> </a:t>
            </a:r>
            <a:br>
              <a:rPr lang="en-US"/>
            </a:br>
            <a:r>
              <a:rPr lang="en-US"/>
              <a:t>– one point only</a:t>
            </a:r>
          </a:p>
        </p:txBody>
      </p:sp>
      <p:sp>
        <p:nvSpPr>
          <p:cNvPr id="4" name="Picture Placeholder 3">
            <a:extLst>
              <a:ext uri="{FF2B5EF4-FFF2-40B4-BE49-F238E27FC236}">
                <a16:creationId xmlns:a16="http://schemas.microsoft.com/office/drawing/2014/main" id="{AF3C6395-8F92-A63B-69A2-D30BF0A3C477}"/>
              </a:ext>
            </a:extLst>
          </p:cNvPr>
          <p:cNvSpPr>
            <a:spLocks noGrp="1"/>
          </p:cNvSpPr>
          <p:nvPr>
            <p:ph type="pic" sz="quarter" idx="24" hasCustomPrompt="1"/>
          </p:nvPr>
        </p:nvSpPr>
        <p:spPr>
          <a:xfrm>
            <a:off x="4240530" y="958362"/>
            <a:ext cx="7951470" cy="4941276"/>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a:t>Insert Picture</a:t>
            </a:r>
          </a:p>
        </p:txBody>
      </p:sp>
    </p:spTree>
    <p:extLst>
      <p:ext uri="{BB962C8B-B14F-4D97-AF65-F5344CB8AC3E}">
        <p14:creationId xmlns:p14="http://schemas.microsoft.com/office/powerpoint/2010/main" val="38962991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Text + Image - Blue">
    <p:bg>
      <p:bgPr>
        <a:solidFill>
          <a:srgbClr val="3E77C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65E3F6E-7AE8-7029-B63F-79557072DAB3}"/>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9F618F1D-F863-B3CE-F9CB-A4D4D3125A2A}"/>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63AD18B0-E39B-37B8-613A-E55F9D47F8E4}"/>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9246042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Text + Image - Mustard">
    <p:bg>
      <p:bgPr>
        <a:solidFill>
          <a:srgbClr val="FAA719"/>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126AB98-9CB3-D0E1-EE6F-515E28859AFC}"/>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4FADF643-ABE6-679C-68C3-F6AA3BC198B3}"/>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54F291C8-DF2C-1FD0-C127-42F50358AAA2}"/>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18419005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Text + Image - Pink">
    <p:bg>
      <p:bgPr>
        <a:solidFill>
          <a:srgbClr val="F088B6"/>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C41BEA2-B145-B2D2-4CCC-04E49981A052}"/>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AAF77B74-A798-632A-79E0-7843F4AB81FD}"/>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5D999A1E-EBC3-F8C8-0D66-05F11EBE878D}"/>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3765788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 Image - Red">
    <p:bg>
      <p:bgPr>
        <a:solidFill>
          <a:srgbClr val="FF3B58"/>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545C05-391D-B49D-8CA0-EDE5B16DADE6}"/>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3EE5A007-D97F-3169-4DE8-99E313BC7BF7}"/>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1A59696C-F022-EBB2-663D-14C951F97DBA}"/>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365699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 Image - Teal">
    <p:bg>
      <p:bgPr>
        <a:solidFill>
          <a:srgbClr val="1CA69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DA9CBD-4690-61BA-8439-F213199DB115}"/>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77B31DE1-1114-14B1-F4E6-D99AE9146806}"/>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E6A11601-E796-C5CD-6607-3DE096A50E78}"/>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9361257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Text + Image - Black">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A365F7C-1550-025D-512A-22B56B9C9013}"/>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bg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BC768C92-B10E-E104-6A6C-B56EE91990D8}"/>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79239266-98B2-4598-7647-DAA162EAFAFF}"/>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bg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13797845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 Image - White">
    <p:bg>
      <p:bgPr>
        <a:solidFill>
          <a:schemeClr val="bg1">
            <a:lumMod val="9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319DDB-8A63-8605-350D-80BFF4D12485}"/>
              </a:ext>
            </a:extLst>
          </p:cNvPr>
          <p:cNvSpPr>
            <a:spLocks noGrp="1"/>
          </p:cNvSpPr>
          <p:nvPr>
            <p:ph type="title" hasCustomPrompt="1"/>
          </p:nvPr>
        </p:nvSpPr>
        <p:spPr>
          <a:xfrm>
            <a:off x="388744" y="642887"/>
            <a:ext cx="5293159" cy="625843"/>
          </a:xfrm>
          <a:prstGeom prst="rect">
            <a:avLst/>
          </a:prstGeom>
        </p:spPr>
        <p:txBody>
          <a:bodyPr anchor="t">
            <a:noAutofit/>
          </a:bodyPr>
          <a:lstStyle>
            <a:lvl1pPr>
              <a:defRPr sz="4400" b="0" i="0" u="none" cap="all" baseline="0">
                <a:solidFill>
                  <a:schemeClr val="tx1"/>
                </a:solidFill>
                <a:latin typeface="Impact" panose="020B0806030902050204" pitchFamily="34" charset="0"/>
                <a:ea typeface="Beatrice" pitchFamily="2" charset="77"/>
              </a:defRPr>
            </a:lvl1pPr>
          </a:lstStyle>
          <a:p>
            <a:r>
              <a:rPr lang="en-US" dirty="0"/>
              <a:t>Insert title</a:t>
            </a:r>
          </a:p>
        </p:txBody>
      </p:sp>
      <p:sp>
        <p:nvSpPr>
          <p:cNvPr id="5" name="Picture Placeholder 3">
            <a:extLst>
              <a:ext uri="{FF2B5EF4-FFF2-40B4-BE49-F238E27FC236}">
                <a16:creationId xmlns:a16="http://schemas.microsoft.com/office/drawing/2014/main" id="{2456614B-8F35-DF4B-4FE5-2D55DAA7B71B}"/>
              </a:ext>
            </a:extLst>
          </p:cNvPr>
          <p:cNvSpPr>
            <a:spLocks noGrp="1"/>
          </p:cNvSpPr>
          <p:nvPr>
            <p:ph type="pic" sz="quarter" idx="24" hasCustomPrompt="1"/>
          </p:nvPr>
        </p:nvSpPr>
        <p:spPr>
          <a:xfrm>
            <a:off x="6096000" y="685800"/>
            <a:ext cx="6096000" cy="5529312"/>
          </a:xfrm>
          <a:prstGeom prst="rect">
            <a:avLst/>
          </a:prstGeom>
          <a:solidFill>
            <a:schemeClr val="bg1">
              <a:lumMod val="85000"/>
            </a:schemeClr>
          </a:solidFill>
        </p:spPr>
        <p:txBody>
          <a:bodyPr anchor="ctr"/>
          <a:lstStyle>
            <a:lvl1pPr marL="0" indent="0" algn="ctr">
              <a:buFontTx/>
              <a:buNone/>
              <a:defRPr sz="2600" b="0" i="0">
                <a:solidFill>
                  <a:schemeClr val="tx1"/>
                </a:solidFill>
                <a:latin typeface="Arial" panose="020B0604020202020204" pitchFamily="34" charset="0"/>
                <a:ea typeface="Beatrice" pitchFamily="2" charset="77"/>
                <a:cs typeface="Arial" panose="020B0604020202020204" pitchFamily="34" charset="0"/>
              </a:defRPr>
            </a:lvl1pPr>
            <a:lvl2pPr marL="723900" indent="0">
              <a:buNone/>
              <a:defRPr/>
            </a:lvl2pPr>
          </a:lstStyle>
          <a:p>
            <a:pPr marL="228600" marR="0" lvl="0" indent="-228600" algn="ctr" defTabSz="914400" rtl="0" eaLnBrk="1" latinLnBrk="0" hangingPunct="1">
              <a:lnSpc>
                <a:spcPct val="90000"/>
              </a:lnSpc>
              <a:spcBef>
                <a:spcPts val="1000"/>
              </a:spcBef>
              <a:spcAft>
                <a:spcPts val="0"/>
              </a:spcAft>
              <a:buClrTx/>
              <a:buSzPct val="100000"/>
              <a:buFont typeface="Helvetica"/>
              <a:buChar char="–"/>
              <a:tabLst/>
            </a:pPr>
            <a:r>
              <a:rPr lang="en-GB" dirty="0"/>
              <a:t>Insert Picture</a:t>
            </a:r>
          </a:p>
        </p:txBody>
      </p:sp>
      <p:sp>
        <p:nvSpPr>
          <p:cNvPr id="6" name="Content Placeholder 1">
            <a:extLst>
              <a:ext uri="{FF2B5EF4-FFF2-40B4-BE49-F238E27FC236}">
                <a16:creationId xmlns:a16="http://schemas.microsoft.com/office/drawing/2014/main" id="{C3AC4AC0-7FBF-D61A-A8E8-A8DF56EA004D}"/>
              </a:ext>
            </a:extLst>
          </p:cNvPr>
          <p:cNvSpPr>
            <a:spLocks noGrp="1"/>
          </p:cNvSpPr>
          <p:nvPr>
            <p:ph idx="13" hasCustomPrompt="1"/>
          </p:nvPr>
        </p:nvSpPr>
        <p:spPr>
          <a:xfrm>
            <a:off x="421841" y="1595119"/>
            <a:ext cx="5293159" cy="4655073"/>
          </a:xfrm>
          <a:prstGeom prst="rect">
            <a:avLst/>
          </a:prstGeom>
        </p:spPr>
        <p:txBody>
          <a:bodyPr/>
          <a:lstStyle>
            <a:lvl1pPr marL="457200" marR="0" indent="-4572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sz="2600" b="0" i="0">
                <a:solidFill>
                  <a:schemeClr val="tx1"/>
                </a:solidFill>
                <a:latin typeface="Arial" panose="020B0604020202020204" pitchFamily="34" charset="0"/>
                <a:ea typeface="Beatrice" pitchFamily="2" charset="77"/>
                <a:cs typeface="Arial" panose="020B0604020202020204" pitchFamily="34" charset="0"/>
              </a:defRPr>
            </a:lvl1pPr>
          </a:lstStyle>
          <a:p>
            <a:r>
              <a:rPr lang="en-US" dirty="0"/>
              <a:t>Insert body copy or bullet points</a:t>
            </a:r>
          </a:p>
        </p:txBody>
      </p:sp>
    </p:spTree>
    <p:extLst>
      <p:ext uri="{BB962C8B-B14F-4D97-AF65-F5344CB8AC3E}">
        <p14:creationId xmlns:p14="http://schemas.microsoft.com/office/powerpoint/2010/main" val="380157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heme" Target="../theme/theme3.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131039"/>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7" r:id="rId4"/>
    <p:sldLayoutId id="2147483856" r:id="rId5"/>
    <p:sldLayoutId id="2147483763" r:id="rId6"/>
    <p:sldLayoutId id="21474838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240114"/>
      </p:ext>
    </p:extLst>
  </p:cSld>
  <p:clrMap bg1="lt1" tx1="dk1" bg2="lt2" tx2="dk2" accent1="accent1" accent2="accent2" accent3="accent3" accent4="accent4" accent5="accent5" accent6="accent6" hlink="hlink" folHlink="folHlink"/>
  <p:sldLayoutIdLst>
    <p:sldLayoutId id="2147483779" r:id="rId1"/>
    <p:sldLayoutId id="2147484046" r:id="rId2"/>
    <p:sldLayoutId id="214748404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716968"/>
      </p:ext>
    </p:extLst>
  </p:cSld>
  <p:clrMap bg1="lt1" tx1="dk1" bg2="lt2" tx2="dk2" accent1="accent1" accent2="accent2" accent3="accent3" accent4="accent4" accent5="accent5" accent6="accent6" hlink="hlink" folHlink="folHlink"/>
  <p:sldLayoutIdLst>
    <p:sldLayoutId id="2147483759" r:id="rId1"/>
    <p:sldLayoutId id="2147483761" r:id="rId2"/>
    <p:sldLayoutId id="2147483760" r:id="rId3"/>
    <p:sldLayoutId id="2147483762" r:id="rId4"/>
    <p:sldLayoutId id="2147483961" r:id="rId5"/>
    <p:sldLayoutId id="2147483962" r:id="rId6"/>
    <p:sldLayoutId id="2147483963" r:id="rId7"/>
    <p:sldLayoutId id="2147484045" r:id="rId8"/>
    <p:sldLayoutId id="2147484048" r:id="rId9"/>
    <p:sldLayoutId id="2147484049" r:id="rId10"/>
    <p:sldLayoutId id="2147484050" r:id="rId11"/>
    <p:sldLayoutId id="2147484051" r:id="rId12"/>
    <p:sldLayoutId id="2147484052" r:id="rId13"/>
    <p:sldLayoutId id="214748405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8748963"/>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moodle.glos.ac.uk/mod/assign/view.php?id=1978799"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Bruce_Tuckman"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uniofglos.padlet.org/shooke/sem-1-24-25-how-does-culture-affect-the-different-stages-of--s4s9tnfo99r9l4tb" TargetMode="External"/><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hyperlink" Target="https://doi.org/10.1007/s10726-006-9042-x" TargetMode="Externa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2.xml"/><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uniofglos.padlet.org/shooke/bm7703-assessment-questions-u9xnmg0iqcmmqrh5" TargetMode="Externa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A868-CE15-6040-6AAC-B13D8F853C3F}"/>
              </a:ext>
            </a:extLst>
          </p:cNvPr>
          <p:cNvSpPr>
            <a:spLocks noGrp="1"/>
          </p:cNvSpPr>
          <p:nvPr>
            <p:ph type="title"/>
          </p:nvPr>
        </p:nvSpPr>
        <p:spPr/>
        <p:txBody>
          <a:bodyPr/>
          <a:lstStyle/>
          <a:p>
            <a:r>
              <a:rPr lang="en-GB" sz="4800" dirty="0"/>
              <a:t>BM7703 </a:t>
            </a:r>
            <a:br>
              <a:rPr lang="en-GB" sz="4800" dirty="0"/>
            </a:br>
            <a:r>
              <a:rPr lang="en-GB" sz="4800" dirty="0"/>
              <a:t>Cross-cultural issues in international business</a:t>
            </a:r>
            <a:br>
              <a:rPr lang="en-GB" sz="4800" dirty="0"/>
            </a:br>
            <a:br>
              <a:rPr lang="en-GB" sz="4800" dirty="0"/>
            </a:br>
            <a:r>
              <a:rPr lang="en-GB" sz="2800" dirty="0"/>
              <a:t>Week 6 -teams</a:t>
            </a:r>
            <a:br>
              <a:rPr lang="en-GB" sz="2800" dirty="0"/>
            </a:br>
            <a:r>
              <a:rPr lang="en-GB" sz="2800" dirty="0"/>
              <a:t>Sara </a:t>
            </a:r>
            <a:r>
              <a:rPr lang="en-GB" sz="2800" dirty="0" err="1"/>
              <a:t>hooke</a:t>
            </a:r>
            <a:endParaRPr lang="en-GB" sz="2800" dirty="0"/>
          </a:p>
        </p:txBody>
      </p:sp>
    </p:spTree>
    <p:extLst>
      <p:ext uri="{BB962C8B-B14F-4D97-AF65-F5344CB8AC3E}">
        <p14:creationId xmlns:p14="http://schemas.microsoft.com/office/powerpoint/2010/main" val="54544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C25A-BFA0-746B-D321-3AF2C9D37DB5}"/>
              </a:ext>
            </a:extLst>
          </p:cNvPr>
          <p:cNvSpPr>
            <a:spLocks noGrp="1"/>
          </p:cNvSpPr>
          <p:nvPr>
            <p:ph type="title"/>
          </p:nvPr>
        </p:nvSpPr>
        <p:spPr/>
        <p:txBody>
          <a:bodyPr/>
          <a:lstStyle/>
          <a:p>
            <a:r>
              <a:rPr lang="en-GB" sz="4800" dirty="0"/>
              <a:t>Working and leading in multicultural teams</a:t>
            </a:r>
          </a:p>
        </p:txBody>
      </p:sp>
      <p:sp>
        <p:nvSpPr>
          <p:cNvPr id="3" name="Content Placeholder 2">
            <a:extLst>
              <a:ext uri="{FF2B5EF4-FFF2-40B4-BE49-F238E27FC236}">
                <a16:creationId xmlns:a16="http://schemas.microsoft.com/office/drawing/2014/main" id="{FFEB1A33-BC97-7304-ACCD-B4B83785B621}"/>
              </a:ext>
            </a:extLst>
          </p:cNvPr>
          <p:cNvSpPr>
            <a:spLocks noGrp="1"/>
          </p:cNvSpPr>
          <p:nvPr>
            <p:ph idx="13"/>
          </p:nvPr>
        </p:nvSpPr>
        <p:spPr/>
        <p:txBody>
          <a:bodyPr/>
          <a:lstStyle/>
          <a:p>
            <a:endParaRPr lang="en-GB" dirty="0">
              <a:latin typeface="+mn-lt"/>
            </a:endParaRPr>
          </a:p>
          <a:p>
            <a:r>
              <a:rPr lang="en-GB" dirty="0">
                <a:latin typeface="+mn-lt"/>
              </a:rPr>
              <a:t>This week we are going to…</a:t>
            </a:r>
          </a:p>
          <a:p>
            <a:r>
              <a:rPr lang="en-US" dirty="0">
                <a:solidFill>
                  <a:srgbClr val="1D2125"/>
                </a:solidFill>
                <a:latin typeface="+mn-lt"/>
              </a:rPr>
              <a:t>Look at</a:t>
            </a:r>
            <a:r>
              <a:rPr lang="en-US" b="0" i="0" dirty="0">
                <a:solidFill>
                  <a:srgbClr val="1D2125"/>
                </a:solidFill>
                <a:effectLst/>
                <a:latin typeface="+mn-lt"/>
              </a:rPr>
              <a:t> working and leading in multicultural teams with a specific focus on teamwork. </a:t>
            </a:r>
            <a:endParaRPr lang="en-GB" dirty="0">
              <a:latin typeface="+mn-lt"/>
            </a:endParaRPr>
          </a:p>
        </p:txBody>
      </p:sp>
    </p:spTree>
    <p:extLst>
      <p:ext uri="{BB962C8B-B14F-4D97-AF65-F5344CB8AC3E}">
        <p14:creationId xmlns:p14="http://schemas.microsoft.com/office/powerpoint/2010/main" val="358382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F817-8954-9A8D-FC12-14B11B361107}"/>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5510EFA4-2D06-D802-B423-F45A4D3DCEC6}"/>
              </a:ext>
            </a:extLst>
          </p:cNvPr>
          <p:cNvSpPr>
            <a:spLocks noGrp="1"/>
          </p:cNvSpPr>
          <p:nvPr>
            <p:ph idx="13"/>
          </p:nvPr>
        </p:nvSpPr>
        <p:spPr/>
        <p:txBody>
          <a:bodyPr/>
          <a:lstStyle/>
          <a:p>
            <a:r>
              <a:rPr lang="en-GB" b="0" i="0" dirty="0">
                <a:solidFill>
                  <a:srgbClr val="1D2125"/>
                </a:solidFill>
                <a:effectLst/>
                <a:latin typeface="+mn-lt"/>
              </a:rPr>
              <a:t>It links to your learning </a:t>
            </a:r>
            <a:r>
              <a:rPr lang="en-GB" dirty="0">
                <a:solidFill>
                  <a:srgbClr val="1D2125"/>
                </a:solidFill>
                <a:latin typeface="+mn-lt"/>
              </a:rPr>
              <a:t>outcomes…</a:t>
            </a:r>
          </a:p>
          <a:p>
            <a:r>
              <a:rPr lang="en-GB" b="0" i="0" dirty="0">
                <a:solidFill>
                  <a:srgbClr val="1D2125"/>
                </a:solidFill>
                <a:effectLst/>
                <a:latin typeface="+mn-lt"/>
              </a:rPr>
              <a:t>1.</a:t>
            </a:r>
            <a:r>
              <a:rPr lang="en-US" b="0" i="0" dirty="0">
                <a:solidFill>
                  <a:srgbClr val="1D2125"/>
                </a:solidFill>
                <a:effectLst/>
                <a:latin typeface="+mn-lt"/>
              </a:rPr>
              <a:t>demonstrate a deep, systematic and integrated understanding in the </a:t>
            </a:r>
            <a:r>
              <a:rPr lang="en-US" b="0" i="0" dirty="0" err="1">
                <a:solidFill>
                  <a:srgbClr val="1D2125"/>
                </a:solidFill>
                <a:effectLst/>
                <a:latin typeface="+mn-lt"/>
              </a:rPr>
              <a:t>specialised</a:t>
            </a:r>
            <a:r>
              <a:rPr lang="en-US" b="0" i="0" dirty="0">
                <a:solidFill>
                  <a:srgbClr val="1D2125"/>
                </a:solidFill>
                <a:effectLst/>
                <a:latin typeface="+mn-lt"/>
              </a:rPr>
              <a:t> fields of intercultural issues and cross-cultural issues in an international management context. </a:t>
            </a:r>
            <a:endParaRPr lang="en-GB" dirty="0">
              <a:latin typeface="+mn-lt"/>
            </a:endParaRPr>
          </a:p>
        </p:txBody>
      </p:sp>
    </p:spTree>
    <p:extLst>
      <p:ext uri="{BB962C8B-B14F-4D97-AF65-F5344CB8AC3E}">
        <p14:creationId xmlns:p14="http://schemas.microsoft.com/office/powerpoint/2010/main" val="1550494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64C3-E704-D328-321B-892FFB85A8D5}"/>
              </a:ext>
            </a:extLst>
          </p:cNvPr>
          <p:cNvSpPr>
            <a:spLocks noGrp="1"/>
          </p:cNvSpPr>
          <p:nvPr>
            <p:ph type="title"/>
          </p:nvPr>
        </p:nvSpPr>
        <p:spPr/>
        <p:txBody>
          <a:bodyPr/>
          <a:lstStyle/>
          <a:p>
            <a:r>
              <a:rPr lang="en-GB" dirty="0"/>
              <a:t>Why are we looking at this?</a:t>
            </a:r>
          </a:p>
        </p:txBody>
      </p:sp>
      <p:sp>
        <p:nvSpPr>
          <p:cNvPr id="3" name="Content Placeholder 2">
            <a:extLst>
              <a:ext uri="{FF2B5EF4-FFF2-40B4-BE49-F238E27FC236}">
                <a16:creationId xmlns:a16="http://schemas.microsoft.com/office/drawing/2014/main" id="{3C357A02-1627-034F-9EE3-81C601BF0631}"/>
              </a:ext>
            </a:extLst>
          </p:cNvPr>
          <p:cNvSpPr>
            <a:spLocks noGrp="1"/>
          </p:cNvSpPr>
          <p:nvPr>
            <p:ph idx="14"/>
          </p:nvPr>
        </p:nvSpPr>
        <p:spPr/>
        <p:txBody>
          <a:bodyPr/>
          <a:lstStyle/>
          <a:p>
            <a:r>
              <a:rPr lang="en-GB" dirty="0"/>
              <a:t>I</a:t>
            </a:r>
            <a:r>
              <a:rPr lang="en-GB" dirty="0">
                <a:latin typeface="+mn-lt"/>
              </a:rPr>
              <a:t>t links to your assessment</a:t>
            </a:r>
          </a:p>
          <a:p>
            <a:endParaRPr lang="en-GB" dirty="0">
              <a:latin typeface="+mn-lt"/>
            </a:endParaRPr>
          </a:p>
          <a:p>
            <a:pPr algn="l">
              <a:lnSpc>
                <a:spcPct val="100000"/>
              </a:lnSpc>
            </a:pPr>
            <a:r>
              <a:rPr lang="en-US" sz="2400" b="0" i="0" dirty="0">
                <a:solidFill>
                  <a:srgbClr val="1D2125"/>
                </a:solidFill>
                <a:effectLst/>
                <a:latin typeface="+mn-lt"/>
              </a:rPr>
              <a:t>You will need to advise your manager on the following:</a:t>
            </a:r>
          </a:p>
          <a:p>
            <a:pPr algn="l">
              <a:lnSpc>
                <a:spcPct val="100000"/>
              </a:lnSpc>
            </a:pPr>
            <a:r>
              <a:rPr lang="en-US" sz="2400" b="0" i="0" dirty="0">
                <a:solidFill>
                  <a:srgbClr val="1D2125"/>
                </a:solidFill>
                <a:effectLst/>
                <a:latin typeface="+mn-lt"/>
              </a:rPr>
              <a:t>1.What issues might the team experience whilst they work on this project? Think particularly about communication, decision making and trust</a:t>
            </a:r>
          </a:p>
          <a:p>
            <a:pPr algn="l">
              <a:lnSpc>
                <a:spcPct val="100000"/>
              </a:lnSpc>
            </a:pPr>
            <a:r>
              <a:rPr lang="en-US" sz="2400" b="0" i="0" dirty="0">
                <a:solidFill>
                  <a:srgbClr val="1D2125"/>
                </a:solidFill>
                <a:effectLst/>
                <a:latin typeface="+mn-lt"/>
                <a:hlinkClick r:id="rId3"/>
              </a:rPr>
              <a:t>https://moodle.glos.ac.uk/mod/assign/view.php?id=1978799</a:t>
            </a:r>
            <a:r>
              <a:rPr lang="en-US" sz="2400" dirty="0">
                <a:solidFill>
                  <a:srgbClr val="1D2125"/>
                </a:solidFill>
                <a:latin typeface="+mn-lt"/>
              </a:rPr>
              <a:t> </a:t>
            </a:r>
            <a:endParaRPr lang="en-US" sz="2400" b="0" i="0" dirty="0">
              <a:solidFill>
                <a:srgbClr val="1D2125"/>
              </a:solidFill>
              <a:effectLst/>
              <a:latin typeface="+mn-lt"/>
            </a:endParaRPr>
          </a:p>
          <a:p>
            <a:endParaRPr lang="en-GB" dirty="0"/>
          </a:p>
        </p:txBody>
      </p:sp>
    </p:spTree>
    <p:extLst>
      <p:ext uri="{BB962C8B-B14F-4D97-AF65-F5344CB8AC3E}">
        <p14:creationId xmlns:p14="http://schemas.microsoft.com/office/powerpoint/2010/main" val="75770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E55E-0260-C450-0A9E-A951645AE2EF}"/>
              </a:ext>
            </a:extLst>
          </p:cNvPr>
          <p:cNvSpPr>
            <a:spLocks noGrp="1"/>
          </p:cNvSpPr>
          <p:nvPr>
            <p:ph type="title"/>
          </p:nvPr>
        </p:nvSpPr>
        <p:spPr/>
        <p:txBody>
          <a:bodyPr/>
          <a:lstStyle/>
          <a:p>
            <a:r>
              <a:rPr lang="en-GB" dirty="0"/>
              <a:t>Learning objectives for this session</a:t>
            </a:r>
            <a:br>
              <a:rPr lang="en-GB" dirty="0"/>
            </a:br>
            <a:endParaRPr lang="en-GB" dirty="0"/>
          </a:p>
        </p:txBody>
      </p:sp>
      <p:sp>
        <p:nvSpPr>
          <p:cNvPr id="3" name="Content Placeholder 2">
            <a:extLst>
              <a:ext uri="{FF2B5EF4-FFF2-40B4-BE49-F238E27FC236}">
                <a16:creationId xmlns:a16="http://schemas.microsoft.com/office/drawing/2014/main" id="{B6A0AB9D-02AF-3C28-9A3B-C0C033AACF6F}"/>
              </a:ext>
            </a:extLst>
          </p:cNvPr>
          <p:cNvSpPr>
            <a:spLocks noGrp="1"/>
          </p:cNvSpPr>
          <p:nvPr>
            <p:ph idx="13"/>
          </p:nvPr>
        </p:nvSpPr>
        <p:spPr>
          <a:xfrm>
            <a:off x="574240" y="2296633"/>
            <a:ext cx="10980451" cy="2887376"/>
          </a:xfrm>
        </p:spPr>
        <p:txBody>
          <a:bodyPr/>
          <a:lstStyle/>
          <a:p>
            <a:pPr marL="457200" indent="-457200">
              <a:buFont typeface="Arial" panose="020B0604020202020204" pitchFamily="34" charset="0"/>
              <a:buChar char="•"/>
            </a:pPr>
            <a:r>
              <a:rPr lang="en-GB" dirty="0"/>
              <a:t>To understand the how a team forms and operates</a:t>
            </a:r>
          </a:p>
          <a:p>
            <a:pPr marL="457200" indent="-457200">
              <a:buFont typeface="Arial" panose="020B0604020202020204" pitchFamily="34" charset="0"/>
              <a:buChar char="•"/>
            </a:pPr>
            <a:r>
              <a:rPr lang="en-GB" dirty="0"/>
              <a:t>To understand how individuals affect team dynamics</a:t>
            </a:r>
          </a:p>
          <a:p>
            <a:pPr marL="457200" indent="-457200">
              <a:buFont typeface="Arial" panose="020B0604020202020204" pitchFamily="34" charset="0"/>
              <a:buChar char="•"/>
            </a:pPr>
            <a:r>
              <a:rPr lang="en-GB" dirty="0"/>
              <a:t>To understand how our culture affects teamwork</a:t>
            </a:r>
          </a:p>
        </p:txBody>
      </p:sp>
    </p:spTree>
    <p:extLst>
      <p:ext uri="{BB962C8B-B14F-4D97-AF65-F5344CB8AC3E}">
        <p14:creationId xmlns:p14="http://schemas.microsoft.com/office/powerpoint/2010/main" val="203508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E2DF6-1DC8-C83A-94D1-FD281CC860BC}"/>
              </a:ext>
            </a:extLst>
          </p:cNvPr>
          <p:cNvSpPr>
            <a:spLocks noGrp="1"/>
          </p:cNvSpPr>
          <p:nvPr>
            <p:ph type="title"/>
          </p:nvPr>
        </p:nvSpPr>
        <p:spPr/>
        <p:txBody>
          <a:bodyPr/>
          <a:lstStyle/>
          <a:p>
            <a:r>
              <a:rPr lang="en-GB" dirty="0"/>
              <a:t>Recap from last week</a:t>
            </a:r>
          </a:p>
        </p:txBody>
      </p:sp>
      <p:sp>
        <p:nvSpPr>
          <p:cNvPr id="3" name="Content Placeholder 2">
            <a:extLst>
              <a:ext uri="{FF2B5EF4-FFF2-40B4-BE49-F238E27FC236}">
                <a16:creationId xmlns:a16="http://schemas.microsoft.com/office/drawing/2014/main" id="{F64429B4-EE60-8ACF-933F-B7B18AE3926C}"/>
              </a:ext>
            </a:extLst>
          </p:cNvPr>
          <p:cNvSpPr>
            <a:spLocks noGrp="1"/>
          </p:cNvSpPr>
          <p:nvPr>
            <p:ph idx="13"/>
          </p:nvPr>
        </p:nvSpPr>
        <p:spPr>
          <a:xfrm>
            <a:off x="574240" y="1381169"/>
            <a:ext cx="10980451" cy="4095661"/>
          </a:xfrm>
        </p:spPr>
        <p:txBody>
          <a:bodyPr/>
          <a:lstStyle/>
          <a:p>
            <a:pPr eaLnBrk="1" hangingPunct="1">
              <a:lnSpc>
                <a:spcPct val="90000"/>
              </a:lnSpc>
              <a:spcBef>
                <a:spcPct val="20000"/>
              </a:spcBef>
            </a:pPr>
            <a:r>
              <a:rPr lang="en-GB" altLang="zh-CN" sz="2800" b="1" dirty="0"/>
              <a:t>Influence and intrinsic/extrinsic motivation</a:t>
            </a:r>
          </a:p>
          <a:p>
            <a:pPr eaLnBrk="1" hangingPunct="1">
              <a:lnSpc>
                <a:spcPct val="90000"/>
              </a:lnSpc>
              <a:spcBef>
                <a:spcPct val="20000"/>
              </a:spcBef>
            </a:pPr>
            <a:endParaRPr lang="en-GB" altLang="zh-CN" sz="2800" b="1" dirty="0"/>
          </a:p>
          <a:p>
            <a:pPr eaLnBrk="1" hangingPunct="1">
              <a:lnSpc>
                <a:spcPct val="90000"/>
              </a:lnSpc>
              <a:spcBef>
                <a:spcPct val="20000"/>
              </a:spcBef>
            </a:pPr>
            <a:r>
              <a:rPr lang="en-GB" altLang="zh-CN" sz="2800" b="1" dirty="0"/>
              <a:t>Leader Definition and Styles</a:t>
            </a:r>
          </a:p>
          <a:p>
            <a:pPr marL="1028700" lvl="1" indent="-571500">
              <a:lnSpc>
                <a:spcPct val="90000"/>
              </a:lnSpc>
              <a:spcBef>
                <a:spcPct val="20000"/>
              </a:spcBef>
              <a:buFont typeface="Arial" panose="020B0604020202020204" pitchFamily="34" charset="0"/>
              <a:buChar char="•"/>
            </a:pPr>
            <a:r>
              <a:rPr lang="en-GB" altLang="zh-CN" sz="2400" dirty="0"/>
              <a:t>Transformation v Transactional</a:t>
            </a:r>
          </a:p>
          <a:p>
            <a:pPr marL="1028700" lvl="1" indent="-571500">
              <a:lnSpc>
                <a:spcPct val="90000"/>
              </a:lnSpc>
              <a:spcBef>
                <a:spcPct val="20000"/>
              </a:spcBef>
              <a:buFont typeface="Arial" panose="020B0604020202020204" pitchFamily="34" charset="0"/>
              <a:buChar char="•"/>
            </a:pPr>
            <a:endParaRPr lang="en-GB" altLang="zh-CN" sz="1050" dirty="0"/>
          </a:p>
          <a:p>
            <a:pPr eaLnBrk="1" hangingPunct="1">
              <a:lnSpc>
                <a:spcPct val="90000"/>
              </a:lnSpc>
              <a:spcBef>
                <a:spcPct val="20000"/>
              </a:spcBef>
            </a:pPr>
            <a:r>
              <a:rPr lang="en-GB" altLang="zh-CN" sz="2800" b="1" dirty="0"/>
              <a:t>The Role of a Leader</a:t>
            </a:r>
          </a:p>
          <a:p>
            <a:pPr marL="1028700" lvl="1" indent="-571500">
              <a:lnSpc>
                <a:spcPct val="90000"/>
              </a:lnSpc>
              <a:spcBef>
                <a:spcPct val="20000"/>
              </a:spcBef>
              <a:buFont typeface="Arial" panose="020B0604020202020204" pitchFamily="34" charset="0"/>
              <a:buChar char="•"/>
            </a:pPr>
            <a:r>
              <a:rPr lang="en-GB" altLang="zh-CN" sz="2400" dirty="0"/>
              <a:t>Path Goal Leadership Approach</a:t>
            </a:r>
          </a:p>
          <a:p>
            <a:pPr marL="1714500" lvl="3" indent="-342900">
              <a:lnSpc>
                <a:spcPct val="90000"/>
              </a:lnSpc>
              <a:spcBef>
                <a:spcPct val="20000"/>
              </a:spcBef>
              <a:buFont typeface="Arial" panose="020B0604020202020204" pitchFamily="34" charset="0"/>
              <a:buChar char="•"/>
            </a:pPr>
            <a:r>
              <a:rPr lang="en-GB" altLang="zh-CN" sz="2000" dirty="0"/>
              <a:t>Directive</a:t>
            </a:r>
          </a:p>
          <a:p>
            <a:pPr marL="1714500" lvl="3" indent="-342900">
              <a:lnSpc>
                <a:spcPct val="90000"/>
              </a:lnSpc>
              <a:spcBef>
                <a:spcPct val="20000"/>
              </a:spcBef>
              <a:buFont typeface="Arial" panose="020B0604020202020204" pitchFamily="34" charset="0"/>
              <a:buChar char="•"/>
            </a:pPr>
            <a:r>
              <a:rPr lang="en-GB" altLang="zh-CN" sz="2000" dirty="0"/>
              <a:t>Supportive</a:t>
            </a:r>
          </a:p>
          <a:p>
            <a:pPr marL="1714500" lvl="3" indent="-342900">
              <a:lnSpc>
                <a:spcPct val="90000"/>
              </a:lnSpc>
              <a:spcBef>
                <a:spcPct val="20000"/>
              </a:spcBef>
              <a:buFont typeface="Arial" panose="020B0604020202020204" pitchFamily="34" charset="0"/>
              <a:buChar char="•"/>
            </a:pPr>
            <a:r>
              <a:rPr lang="en-GB" altLang="zh-CN" sz="2000" dirty="0"/>
              <a:t>Participative</a:t>
            </a:r>
          </a:p>
          <a:p>
            <a:pPr marL="1714500" lvl="3" indent="-342900">
              <a:lnSpc>
                <a:spcPct val="90000"/>
              </a:lnSpc>
              <a:spcBef>
                <a:spcPct val="20000"/>
              </a:spcBef>
              <a:buFont typeface="Arial" panose="020B0604020202020204" pitchFamily="34" charset="0"/>
              <a:buChar char="•"/>
            </a:pPr>
            <a:r>
              <a:rPr lang="en-GB" altLang="zh-CN" sz="2000" dirty="0"/>
              <a:t>Achievement Oriented</a:t>
            </a:r>
          </a:p>
          <a:p>
            <a:pPr marL="1714500" lvl="3" indent="-342900">
              <a:lnSpc>
                <a:spcPct val="90000"/>
              </a:lnSpc>
              <a:spcBef>
                <a:spcPct val="20000"/>
              </a:spcBef>
              <a:buFont typeface="Arial" panose="020B0604020202020204" pitchFamily="34" charset="0"/>
              <a:buChar char="•"/>
            </a:pPr>
            <a:endParaRPr lang="en-GB" altLang="zh-CN" sz="1200" dirty="0"/>
          </a:p>
          <a:p>
            <a:pPr eaLnBrk="1" hangingPunct="1">
              <a:lnSpc>
                <a:spcPct val="90000"/>
              </a:lnSpc>
              <a:spcBef>
                <a:spcPct val="20000"/>
              </a:spcBef>
            </a:pPr>
            <a:r>
              <a:rPr lang="en-GB" altLang="zh-CN" sz="2800" b="1" dirty="0"/>
              <a:t>GLOBE</a:t>
            </a:r>
            <a:r>
              <a:rPr lang="en-GB" altLang="zh-CN" sz="2800" dirty="0"/>
              <a:t> – Culturally dependent Leadership Characteristics</a:t>
            </a:r>
          </a:p>
          <a:p>
            <a:endParaRPr lang="en-GB" dirty="0"/>
          </a:p>
        </p:txBody>
      </p:sp>
    </p:spTree>
    <p:extLst>
      <p:ext uri="{BB962C8B-B14F-4D97-AF65-F5344CB8AC3E}">
        <p14:creationId xmlns:p14="http://schemas.microsoft.com/office/powerpoint/2010/main" val="286016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D877D-E8DE-DE6E-6BB0-AA50C5C0B586}"/>
              </a:ext>
            </a:extLst>
          </p:cNvPr>
          <p:cNvSpPr>
            <a:spLocks noGrp="1"/>
          </p:cNvSpPr>
          <p:nvPr>
            <p:ph type="title"/>
          </p:nvPr>
        </p:nvSpPr>
        <p:spPr/>
        <p:txBody>
          <a:bodyPr/>
          <a:lstStyle/>
          <a:p>
            <a:r>
              <a:rPr lang="en-GB" dirty="0"/>
              <a:t>Agenda for today’s session</a:t>
            </a:r>
          </a:p>
        </p:txBody>
      </p:sp>
      <p:sp>
        <p:nvSpPr>
          <p:cNvPr id="3" name="Content Placeholder 2">
            <a:extLst>
              <a:ext uri="{FF2B5EF4-FFF2-40B4-BE49-F238E27FC236}">
                <a16:creationId xmlns:a16="http://schemas.microsoft.com/office/drawing/2014/main" id="{B5C848B6-5FAB-33F2-F0E0-7DBBD308A3F5}"/>
              </a:ext>
            </a:extLst>
          </p:cNvPr>
          <p:cNvSpPr>
            <a:spLocks noGrp="1"/>
          </p:cNvSpPr>
          <p:nvPr>
            <p:ph idx="13"/>
          </p:nvPr>
        </p:nvSpPr>
        <p:spPr/>
        <p:txBody>
          <a:bodyPr/>
          <a:lstStyle/>
          <a:p>
            <a:pPr marL="457200" indent="-457200">
              <a:buFont typeface="Arial" panose="020B0604020202020204" pitchFamily="34" charset="0"/>
              <a:buChar char="•"/>
            </a:pPr>
            <a:r>
              <a:rPr lang="en-GB" dirty="0"/>
              <a:t>What is a Team</a:t>
            </a:r>
          </a:p>
          <a:p>
            <a:pPr marL="457200" indent="-457200">
              <a:buFont typeface="Arial" panose="020B0604020202020204" pitchFamily="34" charset="0"/>
              <a:buChar char="•"/>
            </a:pPr>
            <a:r>
              <a:rPr lang="en-GB" dirty="0"/>
              <a:t>Stages of Teamwork- Tuckman</a:t>
            </a:r>
          </a:p>
          <a:p>
            <a:pPr marL="457200" indent="-457200">
              <a:buFont typeface="Arial" panose="020B0604020202020204" pitchFamily="34" charset="0"/>
              <a:buChar char="•"/>
            </a:pPr>
            <a:r>
              <a:rPr lang="en-GB" dirty="0"/>
              <a:t>Team Dynamics- Belbin</a:t>
            </a:r>
          </a:p>
          <a:p>
            <a:pPr marL="457200" indent="-457200">
              <a:buFont typeface="Arial" panose="020B0604020202020204" pitchFamily="34" charset="0"/>
              <a:buChar char="•"/>
            </a:pPr>
            <a:r>
              <a:rPr lang="en-GB" dirty="0"/>
              <a:t>The Effects of Culture -Meyer</a:t>
            </a:r>
          </a:p>
          <a:p>
            <a:pPr marL="457200" indent="-457200">
              <a:buFont typeface="Arial" panose="020B0604020202020204" pitchFamily="34" charset="0"/>
              <a:buChar char="•"/>
            </a:pPr>
            <a:r>
              <a:rPr lang="en-GB" dirty="0"/>
              <a:t>How to make group tasks successful</a:t>
            </a:r>
          </a:p>
        </p:txBody>
      </p:sp>
    </p:spTree>
    <p:extLst>
      <p:ext uri="{BB962C8B-B14F-4D97-AF65-F5344CB8AC3E}">
        <p14:creationId xmlns:p14="http://schemas.microsoft.com/office/powerpoint/2010/main" val="81898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84A4-0580-63A4-49AB-7AC99DC54048}"/>
              </a:ext>
            </a:extLst>
          </p:cNvPr>
          <p:cNvSpPr>
            <a:spLocks noGrp="1"/>
          </p:cNvSpPr>
          <p:nvPr>
            <p:ph type="title"/>
          </p:nvPr>
        </p:nvSpPr>
        <p:spPr/>
        <p:txBody>
          <a:bodyPr/>
          <a:lstStyle/>
          <a:p>
            <a:r>
              <a:rPr lang="en-GB" dirty="0"/>
              <a:t>What is a Team?</a:t>
            </a:r>
            <a:br>
              <a:rPr lang="en-GB" dirty="0"/>
            </a:br>
            <a:endParaRPr lang="en-GB" dirty="0"/>
          </a:p>
        </p:txBody>
      </p:sp>
      <p:sp>
        <p:nvSpPr>
          <p:cNvPr id="3" name="Content Placeholder 2">
            <a:extLst>
              <a:ext uri="{FF2B5EF4-FFF2-40B4-BE49-F238E27FC236}">
                <a16:creationId xmlns:a16="http://schemas.microsoft.com/office/drawing/2014/main" id="{89598E64-ABF2-96E2-BE20-8D25D6A0F275}"/>
              </a:ext>
            </a:extLst>
          </p:cNvPr>
          <p:cNvSpPr>
            <a:spLocks noGrp="1"/>
          </p:cNvSpPr>
          <p:nvPr>
            <p:ph idx="13"/>
          </p:nvPr>
        </p:nvSpPr>
        <p:spPr>
          <a:xfrm>
            <a:off x="574240" y="1382234"/>
            <a:ext cx="10980451" cy="3801776"/>
          </a:xfrm>
        </p:spPr>
        <p:txBody>
          <a:bodyPr/>
          <a:lstStyle/>
          <a:p>
            <a:r>
              <a:rPr lang="en-GB" sz="2400" dirty="0"/>
              <a:t>More than 2 people working together on a shared task or objective</a:t>
            </a:r>
          </a:p>
          <a:p>
            <a:endParaRPr lang="en-GB" sz="2400" dirty="0"/>
          </a:p>
          <a:p>
            <a:r>
              <a:rPr lang="en-GB" sz="2400" u="none" dirty="0">
                <a:solidFill>
                  <a:schemeClr val="tx1"/>
                </a:solidFill>
                <a:latin typeface="Calibri" panose="020F0502020204030204" pitchFamily="34" charset="0"/>
                <a:cs typeface="Calibri" panose="020F0502020204030204" pitchFamily="34" charset="0"/>
              </a:rPr>
              <a:t>“A team is a group of people who are interdependent with respect to information, resources, knowledge and skills and who seek to combine their efforts to achieve a common goal“ (Thompson, 2008)</a:t>
            </a:r>
          </a:p>
          <a:p>
            <a:endParaRPr lang="en-GB" sz="2400" u="none" dirty="0">
              <a:solidFill>
                <a:schemeClr val="tx1"/>
              </a:solidFill>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Not ALL groups are Teams!</a:t>
            </a:r>
          </a:p>
          <a:p>
            <a:pPr marL="342900" indent="-342900">
              <a:buFont typeface="Arial" panose="020B0604020202020204" pitchFamily="34" charset="0"/>
              <a:buChar char="•"/>
            </a:pPr>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To be a team the group must be working towards a common goal, be reliant on each other in achieving that goal.</a:t>
            </a:r>
          </a:p>
          <a:p>
            <a:endParaRPr lang="en-GB" dirty="0"/>
          </a:p>
        </p:txBody>
      </p:sp>
    </p:spTree>
    <p:extLst>
      <p:ext uri="{BB962C8B-B14F-4D97-AF65-F5344CB8AC3E}">
        <p14:creationId xmlns:p14="http://schemas.microsoft.com/office/powerpoint/2010/main" val="230474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0E4F8-B27C-796A-C5B6-F77468CDEAF5}"/>
              </a:ext>
            </a:extLst>
          </p:cNvPr>
          <p:cNvSpPr>
            <a:spLocks noGrp="1"/>
          </p:cNvSpPr>
          <p:nvPr>
            <p:ph type="title"/>
          </p:nvPr>
        </p:nvSpPr>
        <p:spPr/>
        <p:txBody>
          <a:bodyPr/>
          <a:lstStyle/>
          <a:p>
            <a:r>
              <a:rPr lang="en-GB" dirty="0"/>
              <a:t>Why is being able to work as part of a team important?</a:t>
            </a:r>
          </a:p>
        </p:txBody>
      </p:sp>
      <p:sp>
        <p:nvSpPr>
          <p:cNvPr id="3" name="Content Placeholder 2">
            <a:extLst>
              <a:ext uri="{FF2B5EF4-FFF2-40B4-BE49-F238E27FC236}">
                <a16:creationId xmlns:a16="http://schemas.microsoft.com/office/drawing/2014/main" id="{0AD12162-0733-55A7-5562-1A6304A06EF6}"/>
              </a:ext>
            </a:extLst>
          </p:cNvPr>
          <p:cNvSpPr>
            <a:spLocks noGrp="1"/>
          </p:cNvSpPr>
          <p:nvPr>
            <p:ph idx="13"/>
          </p:nvPr>
        </p:nvSpPr>
        <p:spPr>
          <a:xfrm>
            <a:off x="574240" y="2211572"/>
            <a:ext cx="10980451" cy="2972437"/>
          </a:xfrm>
        </p:spPr>
        <p:txBody>
          <a:bodyPr/>
          <a:lstStyle/>
          <a:p>
            <a:r>
              <a:rPr lang="en-US" dirty="0"/>
              <a:t>Multinational teams of all shapes and sizes have been called the ‘heart’ of globalization (Snow, Snell, </a:t>
            </a:r>
            <a:r>
              <a:rPr lang="en-US" dirty="0" err="1"/>
              <a:t>Canney</a:t>
            </a:r>
            <a:r>
              <a:rPr lang="en-US" dirty="0"/>
              <a:t> </a:t>
            </a:r>
            <a:r>
              <a:rPr lang="en-US" dirty="0" err="1"/>
              <a:t>Davision</a:t>
            </a:r>
            <a:r>
              <a:rPr lang="en-US" dirty="0"/>
              <a:t>, &amp; Hambrick, 1996) </a:t>
            </a:r>
          </a:p>
          <a:p>
            <a:endParaRPr lang="en-US" dirty="0"/>
          </a:p>
          <a:p>
            <a:r>
              <a:rPr lang="en-US" dirty="0"/>
              <a:t>They are routinely used to cope with our increasingly competitive, complex and culturally diverse 21st century world (DiStefano &amp; </a:t>
            </a:r>
            <a:r>
              <a:rPr lang="en-US" dirty="0" err="1"/>
              <a:t>Maznevski</a:t>
            </a:r>
            <a:r>
              <a:rPr lang="en-US" dirty="0"/>
              <a:t>, 2000; </a:t>
            </a:r>
            <a:r>
              <a:rPr lang="en-US" dirty="0" err="1"/>
              <a:t>Ravlin</a:t>
            </a:r>
            <a:r>
              <a:rPr lang="en-US" dirty="0"/>
              <a:t>, Thomas, &amp; </a:t>
            </a:r>
            <a:r>
              <a:rPr lang="en-US" dirty="0" err="1"/>
              <a:t>Ilsev</a:t>
            </a:r>
            <a:r>
              <a:rPr lang="en-US" dirty="0"/>
              <a:t>, 2000).</a:t>
            </a:r>
            <a:endParaRPr lang="en-GB" dirty="0"/>
          </a:p>
        </p:txBody>
      </p:sp>
    </p:spTree>
    <p:extLst>
      <p:ext uri="{BB962C8B-B14F-4D97-AF65-F5344CB8AC3E}">
        <p14:creationId xmlns:p14="http://schemas.microsoft.com/office/powerpoint/2010/main" val="594484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B2F28-9986-6176-8AEB-5EDB36BB32D3}"/>
              </a:ext>
            </a:extLst>
          </p:cNvPr>
          <p:cNvSpPr>
            <a:spLocks noGrp="1"/>
          </p:cNvSpPr>
          <p:nvPr>
            <p:ph type="title"/>
          </p:nvPr>
        </p:nvSpPr>
        <p:spPr>
          <a:xfrm>
            <a:off x="836680" y="245263"/>
            <a:ext cx="6002110" cy="957270"/>
          </a:xfrm>
        </p:spPr>
        <p:txBody>
          <a:bodyPr vert="horz" lIns="91440" tIns="45720" rIns="91440" bIns="45720" rtlCol="0" anchor="ctr">
            <a:normAutofit/>
          </a:bodyPr>
          <a:lstStyle/>
          <a:p>
            <a:pPr>
              <a:lnSpc>
                <a:spcPct val="90000"/>
              </a:lnSpc>
            </a:pPr>
            <a:r>
              <a:rPr lang="en-US" sz="4000" dirty="0"/>
              <a:t>Stages of Teamwork</a:t>
            </a:r>
          </a:p>
        </p:txBody>
      </p:sp>
      <p:sp>
        <p:nvSpPr>
          <p:cNvPr id="4" name="Content Placeholder 4">
            <a:extLst>
              <a:ext uri="{FF2B5EF4-FFF2-40B4-BE49-F238E27FC236}">
                <a16:creationId xmlns:a16="http://schemas.microsoft.com/office/drawing/2014/main" id="{1376BCCD-1A4E-C7FB-EE73-44BBBCD65DB6}"/>
              </a:ext>
            </a:extLst>
          </p:cNvPr>
          <p:cNvSpPr>
            <a:spLocks noGrp="1"/>
          </p:cNvSpPr>
          <p:nvPr>
            <p:ph idx="13"/>
          </p:nvPr>
        </p:nvSpPr>
        <p:spPr>
          <a:xfrm>
            <a:off x="836680" y="1382234"/>
            <a:ext cx="6002110" cy="4751868"/>
          </a:xfrm>
        </p:spPr>
        <p:txBody>
          <a:bodyPr vert="horz" lIns="91440" tIns="45720" rIns="91440" bIns="45720" rtlCol="0">
            <a:normAutofit/>
          </a:bodyPr>
          <a:lstStyle/>
          <a:p>
            <a:pPr>
              <a:lnSpc>
                <a:spcPct val="90000"/>
              </a:lnSpc>
            </a:pPr>
            <a:r>
              <a:rPr lang="en-US" sz="2400" i="0" u="none" dirty="0">
                <a:effectLst/>
                <a:latin typeface="+mn-lt"/>
                <a:ea typeface="+mn-ea"/>
                <a:cs typeface="+mn-cs"/>
              </a:rPr>
              <a:t>The model of group development was first proposed by </a:t>
            </a:r>
            <a:r>
              <a:rPr lang="en-US" sz="2400" i="0" u="none" strike="noStrike" dirty="0">
                <a:effectLst/>
                <a:latin typeface="+mn-lt"/>
                <a:ea typeface="+mn-ea"/>
                <a:cs typeface="+mn-cs"/>
                <a:hlinkClick r:id="rId3"/>
              </a:rPr>
              <a:t>Bruce Tuckman</a:t>
            </a:r>
            <a:r>
              <a:rPr lang="en-US" sz="2400" i="0" u="none" dirty="0">
                <a:effectLst/>
                <a:latin typeface="+mn-lt"/>
                <a:ea typeface="+mn-ea"/>
                <a:cs typeface="+mn-cs"/>
              </a:rPr>
              <a:t> in 1965, who said that these phases are all necessary and inevitable in order for a team to grow, face up to challenges, tackle problems, find solutions, plan work, and deliver results.</a:t>
            </a:r>
          </a:p>
          <a:p>
            <a:pPr marL="457200" indent="-228600">
              <a:lnSpc>
                <a:spcPct val="90000"/>
              </a:lnSpc>
              <a:buFont typeface="Arial" panose="020B0604020202020204" pitchFamily="34" charset="0"/>
              <a:buChar char="•"/>
            </a:pPr>
            <a:r>
              <a:rPr lang="en-US" sz="2400" u="none" dirty="0">
                <a:latin typeface="+mn-lt"/>
                <a:ea typeface="+mn-ea"/>
                <a:cs typeface="+mn-cs"/>
              </a:rPr>
              <a:t>Forming</a:t>
            </a:r>
          </a:p>
          <a:p>
            <a:pPr marL="457200" indent="-228600">
              <a:lnSpc>
                <a:spcPct val="90000"/>
              </a:lnSpc>
              <a:buFont typeface="Arial" panose="020B0604020202020204" pitchFamily="34" charset="0"/>
              <a:buChar char="•"/>
            </a:pPr>
            <a:r>
              <a:rPr lang="en-US" sz="2400" dirty="0">
                <a:latin typeface="+mn-lt"/>
                <a:ea typeface="+mn-ea"/>
                <a:cs typeface="+mn-cs"/>
              </a:rPr>
              <a:t>Storming </a:t>
            </a:r>
          </a:p>
          <a:p>
            <a:pPr marL="457200" indent="-228600">
              <a:lnSpc>
                <a:spcPct val="90000"/>
              </a:lnSpc>
              <a:buFont typeface="Arial" panose="020B0604020202020204" pitchFamily="34" charset="0"/>
              <a:buChar char="•"/>
            </a:pPr>
            <a:r>
              <a:rPr lang="en-US" sz="2400" u="none" dirty="0">
                <a:latin typeface="+mn-lt"/>
                <a:ea typeface="+mn-ea"/>
                <a:cs typeface="+mn-cs"/>
              </a:rPr>
              <a:t>Norming</a:t>
            </a:r>
          </a:p>
          <a:p>
            <a:pPr marL="457200" indent="-228600">
              <a:lnSpc>
                <a:spcPct val="90000"/>
              </a:lnSpc>
              <a:buFont typeface="Arial" panose="020B0604020202020204" pitchFamily="34" charset="0"/>
              <a:buChar char="•"/>
            </a:pPr>
            <a:r>
              <a:rPr lang="en-US" sz="2400" dirty="0">
                <a:latin typeface="+mn-lt"/>
                <a:ea typeface="+mn-ea"/>
                <a:cs typeface="+mn-cs"/>
              </a:rPr>
              <a:t>Conforming</a:t>
            </a:r>
          </a:p>
          <a:p>
            <a:pPr marL="457200" indent="-228600">
              <a:lnSpc>
                <a:spcPct val="90000"/>
              </a:lnSpc>
              <a:buFont typeface="Arial" panose="020B0604020202020204" pitchFamily="34" charset="0"/>
              <a:buChar char="•"/>
            </a:pPr>
            <a:r>
              <a:rPr lang="en-US" sz="2400" u="none" dirty="0">
                <a:latin typeface="+mn-lt"/>
                <a:ea typeface="+mn-ea"/>
                <a:cs typeface="+mn-cs"/>
              </a:rPr>
              <a:t>Adjourning (mourning)</a:t>
            </a:r>
          </a:p>
          <a:p>
            <a:pPr indent="-228600">
              <a:lnSpc>
                <a:spcPct val="90000"/>
              </a:lnSpc>
              <a:buFont typeface="Arial" panose="020B0604020202020204" pitchFamily="34" charset="0"/>
              <a:buChar char="•"/>
            </a:pPr>
            <a:endParaRPr lang="en-US" sz="1900" u="none" dirty="0">
              <a:latin typeface="+mn-lt"/>
              <a:ea typeface="+mn-ea"/>
              <a:cs typeface="+mn-cs"/>
            </a:endParaRPr>
          </a:p>
          <a:p>
            <a:pPr indent="-228600">
              <a:lnSpc>
                <a:spcPct val="90000"/>
              </a:lnSpc>
              <a:buFont typeface="Arial" panose="020B0604020202020204" pitchFamily="34" charset="0"/>
              <a:buChar char="•"/>
            </a:pPr>
            <a:endParaRPr lang="en-US" sz="1900" u="none" dirty="0">
              <a:latin typeface="+mn-lt"/>
              <a:ea typeface="+mn-ea"/>
              <a:cs typeface="+mn-cs"/>
            </a:endParaRPr>
          </a:p>
        </p:txBody>
      </p:sp>
      <p:pic>
        <p:nvPicPr>
          <p:cNvPr id="6" name="Picture 5" descr="3D rendering of game pieces tied together with a rope">
            <a:extLst>
              <a:ext uri="{FF2B5EF4-FFF2-40B4-BE49-F238E27FC236}">
                <a16:creationId xmlns:a16="http://schemas.microsoft.com/office/drawing/2014/main" id="{4CFFF33F-66BA-2A5C-15AE-769C4ED843F4}"/>
              </a:ext>
            </a:extLst>
          </p:cNvPr>
          <p:cNvPicPr>
            <a:picLocks noChangeAspect="1"/>
          </p:cNvPicPr>
          <p:nvPr/>
        </p:nvPicPr>
        <p:blipFill rotWithShape="1">
          <a:blip r:embed="rId4"/>
          <a:srcRect l="9615" r="35786"/>
          <a:stretch/>
        </p:blipFill>
        <p:spPr>
          <a:xfrm>
            <a:off x="7199440" y="10"/>
            <a:ext cx="4992560" cy="6857990"/>
          </a:xfrm>
          <a:prstGeom prst="rect">
            <a:avLst/>
          </a:prstGeom>
          <a:effectLst/>
        </p:spPr>
      </p:pic>
    </p:spTree>
    <p:extLst>
      <p:ext uri="{BB962C8B-B14F-4D97-AF65-F5344CB8AC3E}">
        <p14:creationId xmlns:p14="http://schemas.microsoft.com/office/powerpoint/2010/main" val="2957791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9384374-32BB-9F01-5823-0182C53DACFA}"/>
              </a:ext>
            </a:extLst>
          </p:cNvPr>
          <p:cNvPicPr>
            <a:picLocks noGrp="1" noChangeAspect="1"/>
          </p:cNvPicPr>
          <p:nvPr>
            <p:ph idx="13"/>
          </p:nvPr>
        </p:nvPicPr>
        <p:blipFill>
          <a:blip r:embed="rId3"/>
          <a:stretch>
            <a:fillRect/>
          </a:stretch>
        </p:blipFill>
        <p:spPr>
          <a:xfrm>
            <a:off x="889396" y="643466"/>
            <a:ext cx="10413207" cy="5571067"/>
          </a:xfrm>
          <a:prstGeom prst="rect">
            <a:avLst/>
          </a:prstGeom>
        </p:spPr>
      </p:pic>
    </p:spTree>
    <p:extLst>
      <p:ext uri="{BB962C8B-B14F-4D97-AF65-F5344CB8AC3E}">
        <p14:creationId xmlns:p14="http://schemas.microsoft.com/office/powerpoint/2010/main" val="95856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50BDC-EDC9-F5D9-90C5-8C36763F25D7}"/>
              </a:ext>
            </a:extLst>
          </p:cNvPr>
          <p:cNvSpPr>
            <a:spLocks noGrp="1"/>
          </p:cNvSpPr>
          <p:nvPr>
            <p:ph type="title"/>
          </p:nvPr>
        </p:nvSpPr>
        <p:spPr/>
        <p:txBody>
          <a:bodyPr/>
          <a:lstStyle/>
          <a:p>
            <a:r>
              <a:rPr lang="en-GB" dirty="0"/>
              <a:t>Forming</a:t>
            </a:r>
          </a:p>
        </p:txBody>
      </p:sp>
      <p:sp>
        <p:nvSpPr>
          <p:cNvPr id="3" name="Content Placeholder 2">
            <a:extLst>
              <a:ext uri="{FF2B5EF4-FFF2-40B4-BE49-F238E27FC236}">
                <a16:creationId xmlns:a16="http://schemas.microsoft.com/office/drawing/2014/main" id="{7039F37D-EA9C-04EA-0F37-EEF1DA97B10A}"/>
              </a:ext>
            </a:extLst>
          </p:cNvPr>
          <p:cNvSpPr>
            <a:spLocks noGrp="1"/>
          </p:cNvSpPr>
          <p:nvPr>
            <p:ph idx="13"/>
          </p:nvPr>
        </p:nvSpPr>
        <p:spPr/>
        <p:txBody>
          <a:bodyPr/>
          <a:lstStyle/>
          <a:p>
            <a:pPr marL="457200" indent="-457200">
              <a:buFont typeface="Arial" panose="020B0604020202020204" pitchFamily="34" charset="0"/>
              <a:buChar char="•"/>
            </a:pPr>
            <a:r>
              <a:rPr lang="en-GB" dirty="0"/>
              <a:t>Introductions</a:t>
            </a:r>
          </a:p>
          <a:p>
            <a:pPr marL="457200" indent="-457200">
              <a:buFont typeface="Arial" panose="020B0604020202020204" pitchFamily="34" charset="0"/>
              <a:buChar char="•"/>
            </a:pPr>
            <a:r>
              <a:rPr lang="en-GB" dirty="0"/>
              <a:t>Getting to know each other</a:t>
            </a:r>
          </a:p>
          <a:p>
            <a:pPr marL="457200" indent="-457200">
              <a:buFont typeface="Arial" panose="020B0604020202020204" pitchFamily="34" charset="0"/>
              <a:buChar char="•"/>
            </a:pPr>
            <a:r>
              <a:rPr lang="en-GB" dirty="0"/>
              <a:t>Finding out about the task</a:t>
            </a:r>
          </a:p>
        </p:txBody>
      </p:sp>
    </p:spTree>
    <p:extLst>
      <p:ext uri="{BB962C8B-B14F-4D97-AF65-F5344CB8AC3E}">
        <p14:creationId xmlns:p14="http://schemas.microsoft.com/office/powerpoint/2010/main" val="372085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0C96-7915-94C6-1524-D12189D42087}"/>
              </a:ext>
            </a:extLst>
          </p:cNvPr>
          <p:cNvSpPr>
            <a:spLocks noGrp="1"/>
          </p:cNvSpPr>
          <p:nvPr>
            <p:ph type="title"/>
          </p:nvPr>
        </p:nvSpPr>
        <p:spPr/>
        <p:txBody>
          <a:bodyPr/>
          <a:lstStyle/>
          <a:p>
            <a:r>
              <a:rPr lang="en-GB" dirty="0"/>
              <a:t>Storming</a:t>
            </a:r>
          </a:p>
        </p:txBody>
      </p:sp>
      <p:sp>
        <p:nvSpPr>
          <p:cNvPr id="3" name="Content Placeholder 2">
            <a:extLst>
              <a:ext uri="{FF2B5EF4-FFF2-40B4-BE49-F238E27FC236}">
                <a16:creationId xmlns:a16="http://schemas.microsoft.com/office/drawing/2014/main" id="{C64694A8-A97F-0D5C-35CD-4C078FF01F05}"/>
              </a:ext>
            </a:extLst>
          </p:cNvPr>
          <p:cNvSpPr>
            <a:spLocks noGrp="1"/>
          </p:cNvSpPr>
          <p:nvPr>
            <p:ph idx="13"/>
          </p:nvPr>
        </p:nvSpPr>
        <p:spPr/>
        <p:txBody>
          <a:bodyPr/>
          <a:lstStyle/>
          <a:p>
            <a:pPr marL="457200" indent="-457200">
              <a:buFont typeface="Arial" panose="020B0604020202020204" pitchFamily="34" charset="0"/>
              <a:buChar char="•"/>
            </a:pPr>
            <a:r>
              <a:rPr lang="en-GB" dirty="0"/>
              <a:t>Resistance</a:t>
            </a:r>
          </a:p>
          <a:p>
            <a:pPr marL="457200" indent="-457200">
              <a:buFont typeface="Arial" panose="020B0604020202020204" pitchFamily="34" charset="0"/>
              <a:buChar char="•"/>
            </a:pPr>
            <a:r>
              <a:rPr lang="en-GB" dirty="0"/>
              <a:t>Lack of participation</a:t>
            </a:r>
          </a:p>
          <a:p>
            <a:pPr marL="457200" indent="-457200">
              <a:buFont typeface="Arial" panose="020B0604020202020204" pitchFamily="34" charset="0"/>
              <a:buChar char="•"/>
            </a:pPr>
            <a:r>
              <a:rPr lang="en-GB" dirty="0"/>
              <a:t>Conflict</a:t>
            </a:r>
          </a:p>
          <a:p>
            <a:pPr marL="457200" indent="-457200">
              <a:buFont typeface="Arial" panose="020B0604020202020204" pitchFamily="34" charset="0"/>
              <a:buChar char="•"/>
            </a:pPr>
            <a:r>
              <a:rPr lang="en-GB" dirty="0"/>
              <a:t>Moving towards group norms</a:t>
            </a:r>
          </a:p>
        </p:txBody>
      </p:sp>
    </p:spTree>
    <p:extLst>
      <p:ext uri="{BB962C8B-B14F-4D97-AF65-F5344CB8AC3E}">
        <p14:creationId xmlns:p14="http://schemas.microsoft.com/office/powerpoint/2010/main" val="223199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2229-7035-0DC1-574C-66E213A023D4}"/>
              </a:ext>
            </a:extLst>
          </p:cNvPr>
          <p:cNvSpPr>
            <a:spLocks noGrp="1"/>
          </p:cNvSpPr>
          <p:nvPr>
            <p:ph type="title"/>
          </p:nvPr>
        </p:nvSpPr>
        <p:spPr/>
        <p:txBody>
          <a:bodyPr/>
          <a:lstStyle/>
          <a:p>
            <a:r>
              <a:rPr lang="en-GB" dirty="0"/>
              <a:t>Norming</a:t>
            </a:r>
          </a:p>
        </p:txBody>
      </p:sp>
      <p:sp>
        <p:nvSpPr>
          <p:cNvPr id="3" name="Content Placeholder 2">
            <a:extLst>
              <a:ext uri="{FF2B5EF4-FFF2-40B4-BE49-F238E27FC236}">
                <a16:creationId xmlns:a16="http://schemas.microsoft.com/office/drawing/2014/main" id="{07F18E50-76BB-3D0F-5FB1-BE5E0684CDC6}"/>
              </a:ext>
            </a:extLst>
          </p:cNvPr>
          <p:cNvSpPr>
            <a:spLocks noGrp="1"/>
          </p:cNvSpPr>
          <p:nvPr>
            <p:ph idx="13"/>
          </p:nvPr>
        </p:nvSpPr>
        <p:spPr/>
        <p:txBody>
          <a:bodyPr/>
          <a:lstStyle/>
          <a:p>
            <a:pPr marL="457200" indent="-457200">
              <a:buFont typeface="Arial" panose="020B0604020202020204" pitchFamily="34" charset="0"/>
              <a:buChar char="•"/>
            </a:pPr>
            <a:r>
              <a:rPr lang="en-GB" dirty="0" err="1"/>
              <a:t>Reconcillition</a:t>
            </a:r>
            <a:endParaRPr lang="en-GB" dirty="0"/>
          </a:p>
          <a:p>
            <a:pPr marL="457200" indent="-457200">
              <a:buFont typeface="Arial" panose="020B0604020202020204" pitchFamily="34" charset="0"/>
              <a:buChar char="•"/>
            </a:pPr>
            <a:r>
              <a:rPr lang="en-GB" dirty="0"/>
              <a:t>Engaged and supportive</a:t>
            </a:r>
          </a:p>
          <a:p>
            <a:pPr marL="457200" indent="-457200">
              <a:buFont typeface="Arial" panose="020B0604020202020204" pitchFamily="34" charset="0"/>
              <a:buChar char="•"/>
            </a:pPr>
            <a:r>
              <a:rPr lang="en-GB" dirty="0"/>
              <a:t>Developing cohesion</a:t>
            </a:r>
          </a:p>
        </p:txBody>
      </p:sp>
    </p:spTree>
    <p:extLst>
      <p:ext uri="{BB962C8B-B14F-4D97-AF65-F5344CB8AC3E}">
        <p14:creationId xmlns:p14="http://schemas.microsoft.com/office/powerpoint/2010/main" val="472650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3084-B6B7-26FE-4D82-BD0F245478A8}"/>
              </a:ext>
            </a:extLst>
          </p:cNvPr>
          <p:cNvSpPr>
            <a:spLocks noGrp="1"/>
          </p:cNvSpPr>
          <p:nvPr>
            <p:ph type="title"/>
          </p:nvPr>
        </p:nvSpPr>
        <p:spPr/>
        <p:txBody>
          <a:bodyPr/>
          <a:lstStyle/>
          <a:p>
            <a:r>
              <a:rPr lang="en-GB" dirty="0"/>
              <a:t>Performing</a:t>
            </a:r>
          </a:p>
        </p:txBody>
      </p:sp>
      <p:sp>
        <p:nvSpPr>
          <p:cNvPr id="3" name="Content Placeholder 2">
            <a:extLst>
              <a:ext uri="{FF2B5EF4-FFF2-40B4-BE49-F238E27FC236}">
                <a16:creationId xmlns:a16="http://schemas.microsoft.com/office/drawing/2014/main" id="{A85247AB-2B8D-9BC0-03F2-97C6BBBD6017}"/>
              </a:ext>
            </a:extLst>
          </p:cNvPr>
          <p:cNvSpPr>
            <a:spLocks noGrp="1"/>
          </p:cNvSpPr>
          <p:nvPr>
            <p:ph idx="13"/>
          </p:nvPr>
        </p:nvSpPr>
        <p:spPr/>
        <p:txBody>
          <a:bodyPr/>
          <a:lstStyle/>
          <a:p>
            <a:pPr marL="457200" indent="-457200">
              <a:buFont typeface="Arial" panose="020B0604020202020204" pitchFamily="34" charset="0"/>
              <a:buChar char="•"/>
            </a:pPr>
            <a:r>
              <a:rPr lang="en-GB" dirty="0"/>
              <a:t>Group norms and roles established</a:t>
            </a:r>
          </a:p>
          <a:p>
            <a:pPr marL="457200" indent="-457200">
              <a:buFont typeface="Arial" panose="020B0604020202020204" pitchFamily="34" charset="0"/>
              <a:buChar char="•"/>
            </a:pPr>
            <a:r>
              <a:rPr lang="en-GB" dirty="0"/>
              <a:t>Motivated and knowledgeable</a:t>
            </a:r>
          </a:p>
          <a:p>
            <a:pPr marL="457200" indent="-457200">
              <a:buFont typeface="Arial" panose="020B0604020202020204" pitchFamily="34" charset="0"/>
              <a:buChar char="•"/>
            </a:pPr>
            <a:r>
              <a:rPr lang="en-GB" dirty="0"/>
              <a:t>Focus on achieving goals</a:t>
            </a:r>
          </a:p>
          <a:p>
            <a:pPr marL="457200" indent="-457200">
              <a:buFont typeface="Arial" panose="020B0604020202020204" pitchFamily="34" charset="0"/>
              <a:buChar char="•"/>
            </a:pPr>
            <a:r>
              <a:rPr lang="en-GB" dirty="0"/>
              <a:t>High levels of success</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967512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7CA5-5ED0-D75F-E0AB-ABF62D51CCA5}"/>
              </a:ext>
            </a:extLst>
          </p:cNvPr>
          <p:cNvSpPr>
            <a:spLocks noGrp="1"/>
          </p:cNvSpPr>
          <p:nvPr>
            <p:ph type="title"/>
          </p:nvPr>
        </p:nvSpPr>
        <p:spPr/>
        <p:txBody>
          <a:bodyPr/>
          <a:lstStyle/>
          <a:p>
            <a:r>
              <a:rPr lang="en-GB" dirty="0"/>
              <a:t>Adjourning (Mourning)</a:t>
            </a:r>
          </a:p>
        </p:txBody>
      </p:sp>
      <p:sp>
        <p:nvSpPr>
          <p:cNvPr id="3" name="Content Placeholder 2">
            <a:extLst>
              <a:ext uri="{FF2B5EF4-FFF2-40B4-BE49-F238E27FC236}">
                <a16:creationId xmlns:a16="http://schemas.microsoft.com/office/drawing/2014/main" id="{5A5B9EE2-BD78-9A35-BB95-584509988A90}"/>
              </a:ext>
            </a:extLst>
          </p:cNvPr>
          <p:cNvSpPr>
            <a:spLocks noGrp="1"/>
          </p:cNvSpPr>
          <p:nvPr>
            <p:ph idx="13"/>
          </p:nvPr>
        </p:nvSpPr>
        <p:spPr/>
        <p:txBody>
          <a:bodyPr/>
          <a:lstStyle/>
          <a:p>
            <a:pPr marL="457200" indent="-457200">
              <a:buFont typeface="Arial" panose="020B0604020202020204" pitchFamily="34" charset="0"/>
              <a:buChar char="•"/>
            </a:pPr>
            <a:r>
              <a:rPr lang="en-GB" dirty="0"/>
              <a:t>Task is completed</a:t>
            </a:r>
          </a:p>
          <a:p>
            <a:pPr marL="457200" indent="-457200">
              <a:buFont typeface="Arial" panose="020B0604020202020204" pitchFamily="34" charset="0"/>
              <a:buChar char="•"/>
            </a:pPr>
            <a:r>
              <a:rPr lang="en-GB" dirty="0"/>
              <a:t>Team broken up</a:t>
            </a:r>
          </a:p>
        </p:txBody>
      </p:sp>
    </p:spTree>
    <p:extLst>
      <p:ext uri="{BB962C8B-B14F-4D97-AF65-F5344CB8AC3E}">
        <p14:creationId xmlns:p14="http://schemas.microsoft.com/office/powerpoint/2010/main" val="1942345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4D30D-847E-9EED-593E-7540769DED23}"/>
              </a:ext>
            </a:extLst>
          </p:cNvPr>
          <p:cNvSpPr>
            <a:spLocks noGrp="1"/>
          </p:cNvSpPr>
          <p:nvPr>
            <p:ph type="title"/>
          </p:nvPr>
        </p:nvSpPr>
        <p:spPr/>
        <p:txBody>
          <a:bodyPr/>
          <a:lstStyle/>
          <a:p>
            <a:r>
              <a:rPr lang="en-GB" dirty="0"/>
              <a:t>How does culture affect the different stages of teamwork (Tuckman’s model)?</a:t>
            </a:r>
          </a:p>
        </p:txBody>
      </p:sp>
      <p:sp>
        <p:nvSpPr>
          <p:cNvPr id="4" name="TextBox 3">
            <a:extLst>
              <a:ext uri="{FF2B5EF4-FFF2-40B4-BE49-F238E27FC236}">
                <a16:creationId xmlns:a16="http://schemas.microsoft.com/office/drawing/2014/main" id="{A9A5C715-8CB2-7A75-3407-4BF27385E882}"/>
              </a:ext>
            </a:extLst>
          </p:cNvPr>
          <p:cNvSpPr txBox="1"/>
          <p:nvPr/>
        </p:nvSpPr>
        <p:spPr>
          <a:xfrm>
            <a:off x="388744" y="5050135"/>
            <a:ext cx="6096000" cy="923330"/>
          </a:xfrm>
          <a:prstGeom prst="rect">
            <a:avLst/>
          </a:prstGeom>
          <a:noFill/>
        </p:spPr>
        <p:txBody>
          <a:bodyPr wrap="square">
            <a:spAutoFit/>
          </a:bodyPr>
          <a:lstStyle/>
          <a:p>
            <a:r>
              <a:rPr lang="en-GB" dirty="0">
                <a:hlinkClick r:id="rId3"/>
              </a:rPr>
              <a:t>https://uniofglos.padlet.org/shooke/sem-1-24-25-how-does-culture-affect-the-different-stages-of--s4s9tnfo99r9l4tb</a:t>
            </a:r>
            <a:r>
              <a:rPr lang="en-GB" dirty="0"/>
              <a:t> </a:t>
            </a:r>
          </a:p>
        </p:txBody>
      </p:sp>
      <p:pic>
        <p:nvPicPr>
          <p:cNvPr id="1025" name="Picture 1" descr="Padlet QR code">
            <a:extLst>
              <a:ext uri="{FF2B5EF4-FFF2-40B4-BE49-F238E27FC236}">
                <a16:creationId xmlns:a16="http://schemas.microsoft.com/office/drawing/2014/main" id="{EC56FB38-C6BE-D374-C1EA-F2B5F8638D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4744" y="520700"/>
            <a:ext cx="5283200" cy="528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A7EC605A-52FF-872B-2CE4-0BBFC95A9E57}"/>
              </a:ext>
            </a:extLst>
          </p:cNvPr>
          <p:cNvSpPr>
            <a:spLocks noChangeArrowheads="1"/>
          </p:cNvSpPr>
          <p:nvPr/>
        </p:nvSpPr>
        <p:spPr bwMode="auto">
          <a:xfrm>
            <a:off x="10967844" y="466615"/>
            <a:ext cx="4628892"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Inter var"/>
              </a:rPr>
              <a:t>Pin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1878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8E31-0FC0-46D2-A05B-FF69AC5350DC}"/>
              </a:ext>
            </a:extLst>
          </p:cNvPr>
          <p:cNvSpPr>
            <a:spLocks noGrp="1"/>
          </p:cNvSpPr>
          <p:nvPr>
            <p:ph type="title"/>
          </p:nvPr>
        </p:nvSpPr>
        <p:spPr/>
        <p:txBody>
          <a:bodyPr rtlCol="0">
            <a:normAutofit fontScale="90000"/>
          </a:bodyPr>
          <a:lstStyle/>
          <a:p>
            <a:pPr>
              <a:defRPr/>
            </a:pPr>
            <a:r>
              <a:rPr lang="en-GB" sz="4900" dirty="0">
                <a:cs typeface="Arial" pitchFamily="34" charset="0"/>
              </a:rPr>
              <a:t>Virtual Teams: </a:t>
            </a:r>
            <a:br>
              <a:rPr lang="en-GB" sz="5300" dirty="0">
                <a:solidFill>
                  <a:schemeClr val="accent6">
                    <a:lumMod val="50000"/>
                  </a:schemeClr>
                </a:solidFill>
                <a:latin typeface="Arial" pitchFamily="34" charset="0"/>
                <a:cs typeface="Arial" pitchFamily="34" charset="0"/>
              </a:rPr>
            </a:br>
            <a:r>
              <a:rPr lang="en-GB" sz="4000" dirty="0">
                <a:cs typeface="Arial" pitchFamily="34" charset="0"/>
              </a:rPr>
              <a:t>Technology and the workplace of the future</a:t>
            </a:r>
            <a:br>
              <a:rPr lang="en-GB" sz="5300" dirty="0">
                <a:cs typeface="Arial" pitchFamily="34" charset="0"/>
              </a:rPr>
            </a:br>
            <a:r>
              <a:rPr lang="en-GB" sz="1600" dirty="0">
                <a:cs typeface="Arial" pitchFamily="34" charset="0"/>
              </a:rPr>
              <a:t>(Townsend et al, 1998)</a:t>
            </a:r>
            <a:endParaRPr lang="en-GB" sz="2000" dirty="0">
              <a:cs typeface="Arial" pitchFamily="34" charset="0"/>
            </a:endParaRPr>
          </a:p>
        </p:txBody>
      </p:sp>
      <p:sp>
        <p:nvSpPr>
          <p:cNvPr id="72707" name="Subtitle 2">
            <a:extLst>
              <a:ext uri="{FF2B5EF4-FFF2-40B4-BE49-F238E27FC236}">
                <a16:creationId xmlns:a16="http://schemas.microsoft.com/office/drawing/2014/main" id="{BD953BF7-ED98-4246-BE0D-33ED98BB8063}"/>
              </a:ext>
            </a:extLst>
          </p:cNvPr>
          <p:cNvSpPr>
            <a:spLocks noGrp="1"/>
          </p:cNvSpPr>
          <p:nvPr>
            <p:ph idx="14"/>
          </p:nvPr>
        </p:nvSpPr>
        <p:spPr>
          <a:xfrm>
            <a:off x="574240" y="2438400"/>
            <a:ext cx="10980451" cy="2765367"/>
          </a:xfrm>
        </p:spPr>
        <p:txBody>
          <a:bodyPr>
            <a:normAutofit/>
          </a:bodyPr>
          <a:lstStyle/>
          <a:p>
            <a:pPr eaLnBrk="1" hangingPunct="1">
              <a:lnSpc>
                <a:spcPct val="120000"/>
              </a:lnSpc>
            </a:pPr>
            <a:r>
              <a:rPr lang="en-GB" altLang="en-US" sz="2800" dirty="0">
                <a:latin typeface="Arial" panose="020B0604020202020204" pitchFamily="34" charset="0"/>
                <a:cs typeface="Arial" panose="020B0604020202020204" pitchFamily="34" charset="0"/>
              </a:rPr>
              <a:t>“This new workplace will be unrestrained by geography, time and organizational boundaries; it will be a virtual workplace, where productivity, flexibility and collaboration will reach unprecedented new levels.” </a:t>
            </a:r>
          </a:p>
        </p:txBody>
      </p:sp>
    </p:spTree>
    <p:extLst>
      <p:ext uri="{BB962C8B-B14F-4D97-AF65-F5344CB8AC3E}">
        <p14:creationId xmlns:p14="http://schemas.microsoft.com/office/powerpoint/2010/main" val="902353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DC64EDD2-3EF2-4E49-8BD4-400C6DA5A70E}"/>
              </a:ext>
            </a:extLst>
          </p:cNvPr>
          <p:cNvSpPr>
            <a:spLocks noGrp="1"/>
          </p:cNvSpPr>
          <p:nvPr>
            <p:ph type="title"/>
          </p:nvPr>
        </p:nvSpPr>
        <p:spPr/>
        <p:txBody>
          <a:bodyPr>
            <a:normAutofit fontScale="90000"/>
          </a:bodyPr>
          <a:lstStyle/>
          <a:p>
            <a:pPr eaLnBrk="1" hangingPunct="1"/>
            <a:r>
              <a:rPr lang="en-GB" altLang="en-US" dirty="0"/>
              <a:t>What are Virtual teams?</a:t>
            </a:r>
          </a:p>
        </p:txBody>
      </p:sp>
      <p:sp>
        <p:nvSpPr>
          <p:cNvPr id="74755" name="Content Placeholder 2">
            <a:extLst>
              <a:ext uri="{FF2B5EF4-FFF2-40B4-BE49-F238E27FC236}">
                <a16:creationId xmlns:a16="http://schemas.microsoft.com/office/drawing/2014/main" id="{70F56853-8A0F-4AB7-87CE-7991E2CB9AE6}"/>
              </a:ext>
            </a:extLst>
          </p:cNvPr>
          <p:cNvSpPr>
            <a:spLocks noGrp="1"/>
          </p:cNvSpPr>
          <p:nvPr>
            <p:ph idx="14"/>
          </p:nvPr>
        </p:nvSpPr>
        <p:spPr/>
        <p:txBody>
          <a:bodyPr/>
          <a:lstStyle/>
          <a:p>
            <a:pPr eaLnBrk="1" hangingPunct="1"/>
            <a:r>
              <a:rPr lang="en-GB" altLang="en-US" dirty="0"/>
              <a:t>Members geographically and functionally </a:t>
            </a:r>
            <a:r>
              <a:rPr lang="en-GB" altLang="en-US" dirty="0">
                <a:solidFill>
                  <a:srgbClr val="FF0000"/>
                </a:solidFill>
              </a:rPr>
              <a:t>dispersed.</a:t>
            </a:r>
            <a:endParaRPr lang="en-GB" altLang="en-US" dirty="0">
              <a:solidFill>
                <a:schemeClr val="accent6">
                  <a:lumMod val="50000"/>
                </a:schemeClr>
              </a:solidFill>
            </a:endParaRPr>
          </a:p>
          <a:p>
            <a:pPr eaLnBrk="1" hangingPunct="1"/>
            <a:endParaRPr lang="en-GB" altLang="en-US" dirty="0">
              <a:solidFill>
                <a:schemeClr val="accent6">
                  <a:lumMod val="50000"/>
                </a:schemeClr>
              </a:solidFill>
            </a:endParaRPr>
          </a:p>
          <a:p>
            <a:pPr eaLnBrk="1" hangingPunct="1"/>
            <a:r>
              <a:rPr lang="en-GB" altLang="en-US" dirty="0"/>
              <a:t>High</a:t>
            </a:r>
            <a:r>
              <a:rPr lang="en-GB" altLang="en-US" dirty="0">
                <a:solidFill>
                  <a:schemeClr val="accent6">
                    <a:lumMod val="50000"/>
                  </a:schemeClr>
                </a:solidFill>
              </a:rPr>
              <a:t> </a:t>
            </a:r>
            <a:r>
              <a:rPr lang="en-GB" altLang="en-US" dirty="0">
                <a:solidFill>
                  <a:srgbClr val="FF0000"/>
                </a:solidFill>
              </a:rPr>
              <a:t>technological</a:t>
            </a:r>
            <a:r>
              <a:rPr lang="en-GB" altLang="en-US" dirty="0">
                <a:solidFill>
                  <a:schemeClr val="accent6">
                    <a:lumMod val="50000"/>
                  </a:schemeClr>
                </a:solidFill>
              </a:rPr>
              <a:t> </a:t>
            </a:r>
            <a:r>
              <a:rPr lang="en-GB" altLang="en-US" dirty="0"/>
              <a:t>requirements.</a:t>
            </a:r>
          </a:p>
          <a:p>
            <a:pPr eaLnBrk="1" hangingPunct="1"/>
            <a:endParaRPr lang="en-GB" altLang="en-US" dirty="0">
              <a:solidFill>
                <a:schemeClr val="accent6">
                  <a:lumMod val="50000"/>
                </a:schemeClr>
              </a:solidFill>
            </a:endParaRPr>
          </a:p>
          <a:p>
            <a:pPr eaLnBrk="1" hangingPunct="1"/>
            <a:r>
              <a:rPr lang="en-GB" altLang="en-US" dirty="0"/>
              <a:t>Changing </a:t>
            </a:r>
            <a:r>
              <a:rPr lang="en-GB" altLang="en-US" dirty="0">
                <a:solidFill>
                  <a:srgbClr val="FF0000"/>
                </a:solidFill>
              </a:rPr>
              <a:t>nature</a:t>
            </a:r>
            <a:r>
              <a:rPr lang="en-GB" altLang="en-US" dirty="0">
                <a:solidFill>
                  <a:schemeClr val="accent6">
                    <a:lumMod val="50000"/>
                  </a:schemeClr>
                </a:solidFill>
              </a:rPr>
              <a:t> </a:t>
            </a:r>
            <a:r>
              <a:rPr lang="en-GB" altLang="en-US" dirty="0"/>
              <a:t>of assignments and team membership. </a:t>
            </a:r>
          </a:p>
        </p:txBody>
      </p:sp>
    </p:spTree>
    <p:extLst>
      <p:ext uri="{BB962C8B-B14F-4D97-AF65-F5344CB8AC3E}">
        <p14:creationId xmlns:p14="http://schemas.microsoft.com/office/powerpoint/2010/main" val="4150978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F190FF2A-A9A2-4FF9-9749-C2150DFAF3DD}"/>
              </a:ext>
            </a:extLst>
          </p:cNvPr>
          <p:cNvSpPr>
            <a:spLocks noGrp="1"/>
          </p:cNvSpPr>
          <p:nvPr>
            <p:ph type="title"/>
          </p:nvPr>
        </p:nvSpPr>
        <p:spPr/>
        <p:txBody>
          <a:bodyPr>
            <a:normAutofit fontScale="90000"/>
          </a:bodyPr>
          <a:lstStyle/>
          <a:p>
            <a:pPr eaLnBrk="1" hangingPunct="1"/>
            <a:r>
              <a:rPr lang="en-GB" altLang="en-US" dirty="0"/>
              <a:t>Why virtual teams?</a:t>
            </a:r>
          </a:p>
        </p:txBody>
      </p:sp>
      <p:sp>
        <p:nvSpPr>
          <p:cNvPr id="73731" name="Content Placeholder 2">
            <a:extLst>
              <a:ext uri="{FF2B5EF4-FFF2-40B4-BE49-F238E27FC236}">
                <a16:creationId xmlns:a16="http://schemas.microsoft.com/office/drawing/2014/main" id="{B5009DE1-05C0-4CCB-A809-5391609457F0}"/>
              </a:ext>
            </a:extLst>
          </p:cNvPr>
          <p:cNvSpPr>
            <a:spLocks noGrp="1"/>
          </p:cNvSpPr>
          <p:nvPr>
            <p:ph idx="14"/>
          </p:nvPr>
        </p:nvSpPr>
        <p:spPr/>
        <p:txBody>
          <a:bodyPr/>
          <a:lstStyle/>
          <a:p>
            <a:pPr eaLnBrk="1" hangingPunct="1"/>
            <a:r>
              <a:rPr lang="en-GB" altLang="en-US" dirty="0"/>
              <a:t>Flatter organisational structures.</a:t>
            </a:r>
          </a:p>
          <a:p>
            <a:pPr eaLnBrk="1" hangingPunct="1"/>
            <a:endParaRPr lang="en-GB" altLang="en-US" dirty="0"/>
          </a:p>
          <a:p>
            <a:pPr eaLnBrk="1" hangingPunct="1"/>
            <a:r>
              <a:rPr lang="en-GB" altLang="en-US" dirty="0"/>
              <a:t>A need for inter-organisational co-operation.</a:t>
            </a:r>
          </a:p>
          <a:p>
            <a:pPr eaLnBrk="1" hangingPunct="1"/>
            <a:endParaRPr lang="en-GB" altLang="en-US" dirty="0"/>
          </a:p>
          <a:p>
            <a:pPr eaLnBrk="1" hangingPunct="1"/>
            <a:r>
              <a:rPr lang="en-GB" altLang="en-US" dirty="0"/>
              <a:t>Changes in worker expectations.</a:t>
            </a:r>
          </a:p>
          <a:p>
            <a:pPr eaLnBrk="1" hangingPunct="1"/>
            <a:endParaRPr lang="en-GB" altLang="en-US" dirty="0"/>
          </a:p>
          <a:p>
            <a:pPr eaLnBrk="1" hangingPunct="1"/>
            <a:r>
              <a:rPr lang="en-GB" altLang="en-US" dirty="0"/>
              <a:t>Globalisation of corporate activity.</a:t>
            </a:r>
          </a:p>
        </p:txBody>
      </p:sp>
    </p:spTree>
    <p:extLst>
      <p:ext uri="{BB962C8B-B14F-4D97-AF65-F5344CB8AC3E}">
        <p14:creationId xmlns:p14="http://schemas.microsoft.com/office/powerpoint/2010/main" val="1382018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7A0E-38E1-4F02-91EA-C2E0209C0F49}"/>
              </a:ext>
            </a:extLst>
          </p:cNvPr>
          <p:cNvSpPr>
            <a:spLocks noGrp="1"/>
          </p:cNvSpPr>
          <p:nvPr>
            <p:ph type="title"/>
          </p:nvPr>
        </p:nvSpPr>
        <p:spPr/>
        <p:txBody>
          <a:bodyPr rtlCol="0">
            <a:noAutofit/>
          </a:bodyPr>
          <a:lstStyle/>
          <a:p>
            <a:pPr>
              <a:defRPr/>
            </a:pPr>
            <a:r>
              <a:rPr lang="en-GB" sz="3600" b="1" dirty="0"/>
              <a:t>Challenges in creating virtual teams</a:t>
            </a:r>
          </a:p>
        </p:txBody>
      </p:sp>
      <p:sp>
        <p:nvSpPr>
          <p:cNvPr id="75779" name="Content Placeholder 2">
            <a:extLst>
              <a:ext uri="{FF2B5EF4-FFF2-40B4-BE49-F238E27FC236}">
                <a16:creationId xmlns:a16="http://schemas.microsoft.com/office/drawing/2014/main" id="{9230DEF8-50AE-4E26-AE68-1282FB6405D6}"/>
              </a:ext>
            </a:extLst>
          </p:cNvPr>
          <p:cNvSpPr>
            <a:spLocks noGrp="1"/>
          </p:cNvSpPr>
          <p:nvPr>
            <p:ph idx="14"/>
          </p:nvPr>
        </p:nvSpPr>
        <p:spPr/>
        <p:txBody>
          <a:bodyPr>
            <a:normAutofit fontScale="77500" lnSpcReduction="20000"/>
          </a:bodyPr>
          <a:lstStyle/>
          <a:p>
            <a:pPr eaLnBrk="1" hangingPunct="1"/>
            <a:r>
              <a:rPr lang="en-GB" altLang="en-US" dirty="0"/>
              <a:t>Managerial control.</a:t>
            </a:r>
          </a:p>
          <a:p>
            <a:pPr eaLnBrk="1" hangingPunct="1"/>
            <a:endParaRPr lang="en-GB" altLang="en-US" dirty="0"/>
          </a:p>
          <a:p>
            <a:pPr eaLnBrk="1" hangingPunct="1"/>
            <a:r>
              <a:rPr lang="en-GB" altLang="en-US" dirty="0"/>
              <a:t>Definition of role and function;</a:t>
            </a:r>
          </a:p>
          <a:p>
            <a:pPr eaLnBrk="1" hangingPunct="1"/>
            <a:endParaRPr lang="en-GB" altLang="en-US" dirty="0"/>
          </a:p>
          <a:p>
            <a:pPr eaLnBrk="1" hangingPunct="1"/>
            <a:r>
              <a:rPr lang="en-GB" altLang="en-US" dirty="0"/>
              <a:t>Technical systems;</a:t>
            </a:r>
          </a:p>
          <a:p>
            <a:pPr eaLnBrk="1" hangingPunct="1"/>
            <a:endParaRPr lang="en-GB" altLang="en-US" dirty="0"/>
          </a:p>
          <a:p>
            <a:pPr eaLnBrk="1" hangingPunct="1"/>
            <a:r>
              <a:rPr lang="en-GB" altLang="en-US" dirty="0"/>
              <a:t>Staff development;</a:t>
            </a:r>
          </a:p>
          <a:p>
            <a:pPr eaLnBrk="1" hangingPunct="1"/>
            <a:endParaRPr lang="en-GB" altLang="en-US" dirty="0"/>
          </a:p>
          <a:p>
            <a:pPr eaLnBrk="1" hangingPunct="1"/>
            <a:r>
              <a:rPr lang="en-GB" altLang="en-US" dirty="0"/>
              <a:t>Technophobia and other forms of resistance;</a:t>
            </a:r>
          </a:p>
          <a:p>
            <a:pPr eaLnBrk="1" hangingPunct="1"/>
            <a:endParaRPr lang="en-GB" altLang="en-US" dirty="0"/>
          </a:p>
          <a:p>
            <a:pPr eaLnBrk="1" hangingPunct="1"/>
            <a:r>
              <a:rPr lang="en-GB" altLang="en-US" dirty="0"/>
              <a:t>Trust and Cohesion.</a:t>
            </a:r>
          </a:p>
        </p:txBody>
      </p:sp>
    </p:spTree>
    <p:extLst>
      <p:ext uri="{BB962C8B-B14F-4D97-AF65-F5344CB8AC3E}">
        <p14:creationId xmlns:p14="http://schemas.microsoft.com/office/powerpoint/2010/main" val="2560157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A9F5C-40F5-004B-0F35-34C363530BB9}"/>
              </a:ext>
            </a:extLst>
          </p:cNvPr>
          <p:cNvSpPr>
            <a:spLocks noGrp="1"/>
          </p:cNvSpPr>
          <p:nvPr>
            <p:ph type="title"/>
          </p:nvPr>
        </p:nvSpPr>
        <p:spPr/>
        <p:txBody>
          <a:bodyPr/>
          <a:lstStyle/>
          <a:p>
            <a:r>
              <a:rPr lang="en-GB" dirty="0"/>
              <a:t>Virtual teams</a:t>
            </a:r>
          </a:p>
        </p:txBody>
      </p:sp>
      <p:sp>
        <p:nvSpPr>
          <p:cNvPr id="3" name="Content Placeholder 2">
            <a:extLst>
              <a:ext uri="{FF2B5EF4-FFF2-40B4-BE49-F238E27FC236}">
                <a16:creationId xmlns:a16="http://schemas.microsoft.com/office/drawing/2014/main" id="{9F2364CE-D334-985D-66A0-DEED631FCE72}"/>
              </a:ext>
            </a:extLst>
          </p:cNvPr>
          <p:cNvSpPr>
            <a:spLocks noGrp="1"/>
          </p:cNvSpPr>
          <p:nvPr>
            <p:ph idx="13"/>
          </p:nvPr>
        </p:nvSpPr>
        <p:spPr/>
        <p:txBody>
          <a:bodyPr/>
          <a:lstStyle/>
          <a:p>
            <a:r>
              <a:rPr lang="en-US" dirty="0"/>
              <a:t>The virtual context has enabled teams to complete tasks more efficiently and quickly than ever </a:t>
            </a:r>
            <a:r>
              <a:rPr lang="en-US" dirty="0" err="1"/>
              <a:t>before,and</a:t>
            </a:r>
            <a:r>
              <a:rPr lang="en-US" dirty="0"/>
              <a:t> access the best resources and people in locations around the globe.(Zander et al. 2012)</a:t>
            </a:r>
            <a:endParaRPr lang="en-GB" dirty="0"/>
          </a:p>
          <a:p>
            <a:endParaRPr lang="en-GB" dirty="0"/>
          </a:p>
          <a:p>
            <a:r>
              <a:rPr lang="en-GB" dirty="0"/>
              <a:t>In GVTs (Global Virtual Teams)</a:t>
            </a:r>
          </a:p>
          <a:p>
            <a:r>
              <a:rPr lang="en-GB" dirty="0"/>
              <a:t> ‘‘distance amplifies dysfunction’’ (Davis &amp; Bryant, 2003, p. 310)</a:t>
            </a:r>
          </a:p>
        </p:txBody>
      </p:sp>
    </p:spTree>
    <p:extLst>
      <p:ext uri="{BB962C8B-B14F-4D97-AF65-F5344CB8AC3E}">
        <p14:creationId xmlns:p14="http://schemas.microsoft.com/office/powerpoint/2010/main" val="2670129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1A9C8-FF41-2989-B20F-9C8A6E4656F3}"/>
              </a:ext>
            </a:extLst>
          </p:cNvPr>
          <p:cNvSpPr>
            <a:spLocks noGrp="1"/>
          </p:cNvSpPr>
          <p:nvPr>
            <p:ph type="title"/>
          </p:nvPr>
        </p:nvSpPr>
        <p:spPr/>
        <p:txBody>
          <a:bodyPr/>
          <a:lstStyle/>
          <a:p>
            <a:r>
              <a:rPr lang="en-GB" sz="4800" dirty="0"/>
              <a:t>Important competencies for leaders in GVT’s</a:t>
            </a:r>
          </a:p>
        </p:txBody>
      </p:sp>
      <p:sp>
        <p:nvSpPr>
          <p:cNvPr id="3" name="Content Placeholder 2">
            <a:extLst>
              <a:ext uri="{FF2B5EF4-FFF2-40B4-BE49-F238E27FC236}">
                <a16:creationId xmlns:a16="http://schemas.microsoft.com/office/drawing/2014/main" id="{AB236C39-0EE0-0E49-F05A-51E9B6111324}"/>
              </a:ext>
            </a:extLst>
          </p:cNvPr>
          <p:cNvSpPr>
            <a:spLocks noGrp="1"/>
          </p:cNvSpPr>
          <p:nvPr>
            <p:ph idx="13"/>
          </p:nvPr>
        </p:nvSpPr>
        <p:spPr>
          <a:xfrm>
            <a:off x="574240" y="2057400"/>
            <a:ext cx="10980451" cy="3437888"/>
          </a:xfrm>
        </p:spPr>
        <p:txBody>
          <a:bodyPr/>
          <a:lstStyle/>
          <a:p>
            <a:pPr marL="457200" indent="-457200">
              <a:buFont typeface="Arial" panose="020B0604020202020204" pitchFamily="34" charset="0"/>
              <a:buChar char="•"/>
            </a:pPr>
            <a:r>
              <a:rPr lang="en-US" dirty="0"/>
              <a:t>direction and goal setting, </a:t>
            </a:r>
          </a:p>
          <a:p>
            <a:pPr marL="457200" indent="-457200">
              <a:buFont typeface="Arial" panose="020B0604020202020204" pitchFamily="34" charset="0"/>
              <a:buChar char="•"/>
            </a:pPr>
            <a:r>
              <a:rPr lang="en-US" dirty="0"/>
              <a:t>communication, </a:t>
            </a:r>
          </a:p>
          <a:p>
            <a:pPr marL="457200" indent="-457200">
              <a:buFont typeface="Arial" panose="020B0604020202020204" pitchFamily="34" charset="0"/>
              <a:buChar char="•"/>
            </a:pPr>
            <a:r>
              <a:rPr lang="en-US" dirty="0"/>
              <a:t>facilitating teamwork </a:t>
            </a:r>
          </a:p>
          <a:p>
            <a:pPr marL="457200" indent="-457200">
              <a:buFont typeface="Arial" panose="020B0604020202020204" pitchFamily="34" charset="0"/>
              <a:buChar char="•"/>
            </a:pPr>
            <a:r>
              <a:rPr lang="en-US" dirty="0"/>
              <a:t>motivating and inspiring</a:t>
            </a:r>
          </a:p>
          <a:p>
            <a:r>
              <a:rPr lang="en-US" sz="1800" dirty="0"/>
              <a:t>-Joshi and </a:t>
            </a:r>
            <a:r>
              <a:rPr lang="en-US" sz="1800" dirty="0" err="1"/>
              <a:t>Lazarova</a:t>
            </a:r>
            <a:r>
              <a:rPr lang="en-US" sz="1800" dirty="0"/>
              <a:t> (2005) </a:t>
            </a:r>
            <a:endParaRPr lang="en-GB" sz="1800" dirty="0"/>
          </a:p>
        </p:txBody>
      </p:sp>
    </p:spTree>
    <p:extLst>
      <p:ext uri="{BB962C8B-B14F-4D97-AF65-F5344CB8AC3E}">
        <p14:creationId xmlns:p14="http://schemas.microsoft.com/office/powerpoint/2010/main" val="413124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176E9-B098-F6F5-C83B-2A8F889BA0F8}"/>
              </a:ext>
            </a:extLst>
          </p:cNvPr>
          <p:cNvSpPr>
            <a:spLocks noGrp="1"/>
          </p:cNvSpPr>
          <p:nvPr>
            <p:ph type="title"/>
          </p:nvPr>
        </p:nvSpPr>
        <p:spPr>
          <a:xfrm>
            <a:off x="574240" y="357188"/>
            <a:ext cx="9716916" cy="1288732"/>
          </a:xfrm>
        </p:spPr>
        <p:txBody>
          <a:bodyPr/>
          <a:lstStyle/>
          <a:p>
            <a:r>
              <a:rPr lang="en-US" sz="3600" dirty="0"/>
              <a:t>The Effects of Cultural Diversity in Virtual Teams Versus Face-to-Face Teams</a:t>
            </a:r>
            <a:endParaRPr lang="en-GB" sz="3600" dirty="0"/>
          </a:p>
        </p:txBody>
      </p:sp>
      <p:sp>
        <p:nvSpPr>
          <p:cNvPr id="3" name="Content Placeholder 2">
            <a:extLst>
              <a:ext uri="{FF2B5EF4-FFF2-40B4-BE49-F238E27FC236}">
                <a16:creationId xmlns:a16="http://schemas.microsoft.com/office/drawing/2014/main" id="{8E4122FC-8BB0-D65E-3F7C-905BB2A2BA9D}"/>
              </a:ext>
            </a:extLst>
          </p:cNvPr>
          <p:cNvSpPr>
            <a:spLocks noGrp="1"/>
          </p:cNvSpPr>
          <p:nvPr>
            <p:ph idx="13"/>
          </p:nvPr>
        </p:nvSpPr>
        <p:spPr/>
        <p:txBody>
          <a:bodyPr/>
          <a:lstStyle/>
          <a:p>
            <a:pPr marL="285750" indent="-285750" algn="l">
              <a:lnSpc>
                <a:spcPct val="100000"/>
              </a:lnSpc>
              <a:buFont typeface="Arial" panose="020B0604020202020204" pitchFamily="34" charset="0"/>
              <a:buChar char="•"/>
            </a:pPr>
            <a:r>
              <a:rPr lang="en-GB" sz="2400" b="0" i="0" u="none" strike="noStrike" baseline="0" dirty="0">
                <a:latin typeface="+mn-lt"/>
              </a:rPr>
              <a:t>heterogeneous teams </a:t>
            </a:r>
            <a:r>
              <a:rPr lang="en-US" sz="2400" b="0" i="0" u="none" strike="noStrike" baseline="0" dirty="0">
                <a:latin typeface="+mn-lt"/>
              </a:rPr>
              <a:t>were less satisfied and cohesive and had more conflict than the homogeneous teams</a:t>
            </a:r>
          </a:p>
          <a:p>
            <a:pPr marL="285750" indent="-285750" algn="l">
              <a:lnSpc>
                <a:spcPct val="100000"/>
              </a:lnSpc>
              <a:buFont typeface="Arial" panose="020B0604020202020204" pitchFamily="34" charset="0"/>
              <a:buChar char="•"/>
            </a:pPr>
            <a:r>
              <a:rPr lang="en-US" sz="2400" dirty="0">
                <a:latin typeface="+mn-lt"/>
              </a:rPr>
              <a:t>the performance of the virtual heterogeneous teams was superior to that of the F2F heterogeneous teams.</a:t>
            </a:r>
          </a:p>
          <a:p>
            <a:pPr marL="285750" indent="-285750" algn="l">
              <a:lnSpc>
                <a:spcPct val="100000"/>
              </a:lnSpc>
              <a:buFont typeface="Arial" panose="020B0604020202020204" pitchFamily="34" charset="0"/>
              <a:buChar char="•"/>
            </a:pPr>
            <a:r>
              <a:rPr lang="en-US" sz="2400" dirty="0">
                <a:latin typeface="+mn-lt"/>
              </a:rPr>
              <a:t>The use of technology can reduce the negative impacts of culture in the early life of a team.</a:t>
            </a:r>
          </a:p>
          <a:p>
            <a:pPr marL="285750" indent="-285750" algn="l">
              <a:lnSpc>
                <a:spcPct val="100000"/>
              </a:lnSpc>
              <a:buFont typeface="Arial" panose="020B0604020202020204" pitchFamily="34" charset="0"/>
              <a:buChar char="•"/>
            </a:pPr>
            <a:r>
              <a:rPr lang="en-US" sz="1600" dirty="0">
                <a:latin typeface="+mn-lt"/>
              </a:rPr>
              <a:t>Staples, D. S., &amp; Zhao, L. (2006). The Effects of Cultural Diversity in Virtual Teams Versus Face-to-Face Teams. Group Decision and Negotiation, 15(4), 389–406. </a:t>
            </a:r>
            <a:r>
              <a:rPr lang="en-US" sz="1600" dirty="0">
                <a:latin typeface="+mn-lt"/>
                <a:hlinkClick r:id="rId2"/>
              </a:rPr>
              <a:t>https://doi.org/10.1007/s10726-006-9042-x</a:t>
            </a:r>
            <a:r>
              <a:rPr lang="en-US" sz="1600" dirty="0">
                <a:latin typeface="+mn-lt"/>
              </a:rPr>
              <a:t> </a:t>
            </a:r>
            <a:endParaRPr lang="en-GB" sz="1600" dirty="0">
              <a:latin typeface="+mn-lt"/>
            </a:endParaRPr>
          </a:p>
        </p:txBody>
      </p:sp>
    </p:spTree>
    <p:extLst>
      <p:ext uri="{BB962C8B-B14F-4D97-AF65-F5344CB8AC3E}">
        <p14:creationId xmlns:p14="http://schemas.microsoft.com/office/powerpoint/2010/main" val="556772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05D20E-67AB-6A7A-3FBE-4D0A293FB2D0}"/>
              </a:ext>
            </a:extLst>
          </p:cNvPr>
          <p:cNvSpPr>
            <a:spLocks noGrp="1"/>
          </p:cNvSpPr>
          <p:nvPr>
            <p:ph idx="13"/>
          </p:nvPr>
        </p:nvSpPr>
        <p:spPr/>
        <p:txBody>
          <a:bodyPr/>
          <a:lstStyle/>
          <a:p>
            <a:pPr marL="457200" indent="-457200">
              <a:lnSpc>
                <a:spcPct val="200000"/>
              </a:lnSpc>
              <a:buFont typeface="Wingdings" panose="05000000000000000000" pitchFamily="2" charset="2"/>
              <a:buChar char="Ø"/>
            </a:pPr>
            <a:r>
              <a:rPr lang="en-GB" dirty="0"/>
              <a:t>What are the positives of having a diverse team?</a:t>
            </a:r>
          </a:p>
          <a:p>
            <a:pPr marL="457200" indent="-457200">
              <a:lnSpc>
                <a:spcPct val="200000"/>
              </a:lnSpc>
              <a:buFont typeface="Wingdings" panose="05000000000000000000" pitchFamily="2" charset="2"/>
              <a:buChar char="Ø"/>
            </a:pPr>
            <a:r>
              <a:rPr lang="en-GB" dirty="0"/>
              <a:t>What are the negative aspects diverse teams?</a:t>
            </a:r>
          </a:p>
          <a:p>
            <a:pPr marL="1143000" lvl="1" indent="-457200">
              <a:lnSpc>
                <a:spcPct val="200000"/>
              </a:lnSpc>
              <a:buFont typeface="Wingdings" panose="05000000000000000000" pitchFamily="2" charset="2"/>
              <a:buChar char="Ø"/>
            </a:pPr>
            <a:r>
              <a:rPr lang="en-GB" dirty="0"/>
              <a:t>What do these problems lead to?</a:t>
            </a:r>
          </a:p>
        </p:txBody>
      </p:sp>
      <p:sp>
        <p:nvSpPr>
          <p:cNvPr id="2" name="Title 1">
            <a:extLst>
              <a:ext uri="{FF2B5EF4-FFF2-40B4-BE49-F238E27FC236}">
                <a16:creationId xmlns:a16="http://schemas.microsoft.com/office/drawing/2014/main" id="{621725D6-7BFF-21E0-FFFB-42BC2F892778}"/>
              </a:ext>
            </a:extLst>
          </p:cNvPr>
          <p:cNvSpPr>
            <a:spLocks noGrp="1"/>
          </p:cNvSpPr>
          <p:nvPr>
            <p:ph type="title"/>
          </p:nvPr>
        </p:nvSpPr>
        <p:spPr/>
        <p:txBody>
          <a:bodyPr/>
          <a:lstStyle/>
          <a:p>
            <a:r>
              <a:rPr lang="en-GB" dirty="0"/>
              <a:t>Questions…</a:t>
            </a:r>
          </a:p>
        </p:txBody>
      </p:sp>
    </p:spTree>
    <p:extLst>
      <p:ext uri="{BB962C8B-B14F-4D97-AF65-F5344CB8AC3E}">
        <p14:creationId xmlns:p14="http://schemas.microsoft.com/office/powerpoint/2010/main" val="2353170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34734-0F06-FEB8-62E9-333FC205FC4F}"/>
              </a:ext>
            </a:extLst>
          </p:cNvPr>
          <p:cNvSpPr>
            <a:spLocks noGrp="1"/>
          </p:cNvSpPr>
          <p:nvPr>
            <p:ph idx="13"/>
          </p:nvPr>
        </p:nvSpPr>
        <p:spPr>
          <a:xfrm>
            <a:off x="574240" y="2565400"/>
            <a:ext cx="11229015" cy="2988948"/>
          </a:xfrm>
        </p:spPr>
        <p:txBody>
          <a:bodyPr/>
          <a:lstStyle/>
          <a:p>
            <a:r>
              <a:rPr lang="en-GB" dirty="0"/>
              <a:t>High intellect teams are more likely to succeed than those with lower intellect.</a:t>
            </a:r>
          </a:p>
          <a:p>
            <a:endParaRPr lang="en-GB" dirty="0"/>
          </a:p>
          <a:p>
            <a:endParaRPr lang="en-GB" dirty="0"/>
          </a:p>
        </p:txBody>
      </p:sp>
      <p:sp>
        <p:nvSpPr>
          <p:cNvPr id="2" name="Title 1">
            <a:extLst>
              <a:ext uri="{FF2B5EF4-FFF2-40B4-BE49-F238E27FC236}">
                <a16:creationId xmlns:a16="http://schemas.microsoft.com/office/drawing/2014/main" id="{784517CE-5855-9438-21A5-E7B1F8A3E679}"/>
              </a:ext>
            </a:extLst>
          </p:cNvPr>
          <p:cNvSpPr>
            <a:spLocks noGrp="1"/>
          </p:cNvSpPr>
          <p:nvPr>
            <p:ph type="title"/>
          </p:nvPr>
        </p:nvSpPr>
        <p:spPr/>
        <p:txBody>
          <a:bodyPr/>
          <a:lstStyle/>
          <a:p>
            <a:r>
              <a:rPr lang="en-GB" dirty="0"/>
              <a:t>Do you agree…?</a:t>
            </a:r>
          </a:p>
        </p:txBody>
      </p:sp>
    </p:spTree>
    <p:extLst>
      <p:ext uri="{BB962C8B-B14F-4D97-AF65-F5344CB8AC3E}">
        <p14:creationId xmlns:p14="http://schemas.microsoft.com/office/powerpoint/2010/main" val="3630387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3" name="Content Placeholder 2">
            <a:extLst>
              <a:ext uri="{FF2B5EF4-FFF2-40B4-BE49-F238E27FC236}">
                <a16:creationId xmlns:a16="http://schemas.microsoft.com/office/drawing/2014/main" id="{CBF376E9-60DE-4B22-A920-494655668AE7}"/>
              </a:ext>
            </a:extLst>
          </p:cNvPr>
          <p:cNvSpPr>
            <a:spLocks noGrp="1"/>
          </p:cNvSpPr>
          <p:nvPr>
            <p:ph idx="14"/>
          </p:nvPr>
        </p:nvSpPr>
        <p:spPr>
          <a:xfrm>
            <a:off x="574240" y="1333500"/>
            <a:ext cx="10980451" cy="3870267"/>
          </a:xfrm>
        </p:spPr>
        <p:txBody>
          <a:bodyPr/>
          <a:lstStyle/>
          <a:p>
            <a:r>
              <a:rPr lang="en-GB" sz="2400" u="none" dirty="0">
                <a:solidFill>
                  <a:schemeClr val="tx1"/>
                </a:solidFill>
                <a:latin typeface="Calibri" panose="020F0502020204030204" pitchFamily="34" charset="0"/>
                <a:cs typeface="Calibri" panose="020F0502020204030204" pitchFamily="34" charset="0"/>
              </a:rPr>
              <a:t>In 1969, Dr Meredith Belbin conducted research into Team Dynamics at the Henley Business School.  Belbin postulated that high-intellect teams would succeed where lower intellect teams would not.</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However, the outcome of this research was that certain teams, predicted to be excellent based on intellect, failed to fulfil their potential.</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In fact, it became apparent by looking at the various combinations that it was not intellect, but</a:t>
            </a:r>
            <a:r>
              <a:rPr lang="en-GB" sz="2400" b="1" u="sng" dirty="0">
                <a:solidFill>
                  <a:schemeClr val="tx1"/>
                </a:solidFill>
                <a:latin typeface="Calibri" panose="020F0502020204030204" pitchFamily="34" charset="0"/>
                <a:cs typeface="Calibri" panose="020F0502020204030204" pitchFamily="34" charset="0"/>
              </a:rPr>
              <a:t> balance</a:t>
            </a:r>
            <a:r>
              <a:rPr lang="en-GB" sz="2400" u="none" dirty="0">
                <a:solidFill>
                  <a:schemeClr val="tx1"/>
                </a:solidFill>
                <a:latin typeface="Calibri" panose="020F0502020204030204" pitchFamily="34" charset="0"/>
                <a:cs typeface="Calibri" panose="020F0502020204030204" pitchFamily="34" charset="0"/>
              </a:rPr>
              <a:t>, which enabled a team to succeed. </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Successful teams were characterised by the </a:t>
            </a:r>
            <a:r>
              <a:rPr lang="en-GB" sz="2400" b="1" u="sng" dirty="0">
                <a:solidFill>
                  <a:schemeClr val="tx1"/>
                </a:solidFill>
                <a:latin typeface="Calibri" panose="020F0502020204030204" pitchFamily="34" charset="0"/>
                <a:cs typeface="Calibri" panose="020F0502020204030204" pitchFamily="34" charset="0"/>
              </a:rPr>
              <a:t>compatibility of the roles </a:t>
            </a:r>
            <a:r>
              <a:rPr lang="en-GB" sz="2400" u="none" dirty="0">
                <a:solidFill>
                  <a:schemeClr val="tx1"/>
                </a:solidFill>
                <a:latin typeface="Calibri" panose="020F0502020204030204" pitchFamily="34" charset="0"/>
                <a:cs typeface="Calibri" panose="020F0502020204030204" pitchFamily="34" charset="0"/>
              </a:rPr>
              <a:t>that their members played while unsuccessful teams were subject to role conflict. </a:t>
            </a:r>
          </a:p>
        </p:txBody>
      </p:sp>
    </p:spTree>
    <p:extLst>
      <p:ext uri="{BB962C8B-B14F-4D97-AF65-F5344CB8AC3E}">
        <p14:creationId xmlns:p14="http://schemas.microsoft.com/office/powerpoint/2010/main" val="1459926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3" name="Content Placeholder 2">
            <a:extLst>
              <a:ext uri="{FF2B5EF4-FFF2-40B4-BE49-F238E27FC236}">
                <a16:creationId xmlns:a16="http://schemas.microsoft.com/office/drawing/2014/main" id="{CBF376E9-60DE-4B22-A920-494655668AE7}"/>
              </a:ext>
            </a:extLst>
          </p:cNvPr>
          <p:cNvSpPr>
            <a:spLocks noGrp="1"/>
          </p:cNvSpPr>
          <p:nvPr>
            <p:ph idx="14"/>
          </p:nvPr>
        </p:nvSpPr>
        <p:spPr>
          <a:xfrm>
            <a:off x="605774" y="1597203"/>
            <a:ext cx="10980451" cy="3557847"/>
          </a:xfrm>
        </p:spPr>
        <p:txBody>
          <a:bodyPr/>
          <a:lstStyle/>
          <a:p>
            <a:r>
              <a:rPr lang="en-GB" sz="2400" u="none" dirty="0">
                <a:solidFill>
                  <a:schemeClr val="tx1"/>
                </a:solidFill>
                <a:latin typeface="Calibri" panose="020F0502020204030204" pitchFamily="34" charset="0"/>
                <a:cs typeface="Calibri" panose="020F0502020204030204" pitchFamily="34" charset="0"/>
              </a:rPr>
              <a:t>Belbin observed from the research that individuals reacted very differently within the same broad situation. </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Individual differences can cause a group to fall apart. People just don’t fit in. </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On the other hand, variation in personal characteristics can become a source of strength if they are recognised and taken account of. </a:t>
            </a:r>
          </a:p>
        </p:txBody>
      </p:sp>
    </p:spTree>
    <p:extLst>
      <p:ext uri="{BB962C8B-B14F-4D97-AF65-F5344CB8AC3E}">
        <p14:creationId xmlns:p14="http://schemas.microsoft.com/office/powerpoint/2010/main" val="120200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3" name="Content Placeholder 2">
            <a:extLst>
              <a:ext uri="{FF2B5EF4-FFF2-40B4-BE49-F238E27FC236}">
                <a16:creationId xmlns:a16="http://schemas.microsoft.com/office/drawing/2014/main" id="{CBF376E9-60DE-4B22-A920-494655668AE7}"/>
              </a:ext>
            </a:extLst>
          </p:cNvPr>
          <p:cNvSpPr>
            <a:spLocks noGrp="1"/>
          </p:cNvSpPr>
          <p:nvPr>
            <p:ph idx="14"/>
          </p:nvPr>
        </p:nvSpPr>
        <p:spPr/>
        <p:txBody>
          <a:bodyPr/>
          <a:lstStyle/>
          <a:p>
            <a:r>
              <a:rPr lang="en-GB" sz="2400" u="none" dirty="0">
                <a:solidFill>
                  <a:schemeClr val="tx1"/>
                </a:solidFill>
                <a:latin typeface="Calibri" panose="020F0502020204030204" pitchFamily="34" charset="0"/>
                <a:cs typeface="Calibri" panose="020F0502020204030204" pitchFamily="34" charset="0"/>
              </a:rPr>
              <a:t>Belbin discovered that in order for teams to become high performing they need a mix of behaviours.</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Belbin Identified nine behaviours that are required for high performing teams.</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Teams do not need all behaviours all of the time.</a:t>
            </a:r>
          </a:p>
          <a:p>
            <a:endParaRPr lang="en-GB" sz="2400" u="none" dirty="0">
              <a:solidFill>
                <a:schemeClr val="tx1"/>
              </a:solidFill>
              <a:latin typeface="Calibri" panose="020F0502020204030204" pitchFamily="34" charset="0"/>
              <a:cs typeface="Calibri" panose="020F0502020204030204" pitchFamily="34" charset="0"/>
            </a:endParaRPr>
          </a:p>
          <a:p>
            <a:r>
              <a:rPr lang="en-GB" sz="2400" u="none" dirty="0">
                <a:solidFill>
                  <a:schemeClr val="tx1"/>
                </a:solidFill>
                <a:latin typeface="Calibri" panose="020F0502020204030204" pitchFamily="34" charset="0"/>
                <a:cs typeface="Calibri" panose="020F0502020204030204" pitchFamily="34" charset="0"/>
              </a:rPr>
              <a:t>Team members often have 2 or more behaviours, therefore teams do not need nine members. </a:t>
            </a: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150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7889-DD30-59B2-9857-847E7EDBB627}"/>
              </a:ext>
            </a:extLst>
          </p:cNvPr>
          <p:cNvSpPr>
            <a:spLocks noGrp="1"/>
          </p:cNvSpPr>
          <p:nvPr>
            <p:ph type="title"/>
          </p:nvPr>
        </p:nvSpPr>
        <p:spPr>
          <a:xfrm>
            <a:off x="1245855" y="2535053"/>
            <a:ext cx="9700290" cy="893947"/>
          </a:xfrm>
        </p:spPr>
        <p:txBody>
          <a:bodyPr/>
          <a:lstStyle/>
          <a:p>
            <a:r>
              <a:rPr lang="en-GB" dirty="0"/>
              <a:t>Belbin Questionnaire- 30 mins</a:t>
            </a:r>
          </a:p>
        </p:txBody>
      </p:sp>
    </p:spTree>
    <p:extLst>
      <p:ext uri="{BB962C8B-B14F-4D97-AF65-F5344CB8AC3E}">
        <p14:creationId xmlns:p14="http://schemas.microsoft.com/office/powerpoint/2010/main" val="4119692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3" name="Content Placeholder 2">
            <a:extLst>
              <a:ext uri="{FF2B5EF4-FFF2-40B4-BE49-F238E27FC236}">
                <a16:creationId xmlns:a16="http://schemas.microsoft.com/office/drawing/2014/main" id="{CBF376E9-60DE-4B22-A920-494655668AE7}"/>
              </a:ext>
            </a:extLst>
          </p:cNvPr>
          <p:cNvSpPr>
            <a:spLocks noGrp="1"/>
          </p:cNvSpPr>
          <p:nvPr>
            <p:ph idx="14"/>
          </p:nvPr>
        </p:nvSpPr>
        <p:spPr>
          <a:xfrm>
            <a:off x="574240" y="1594884"/>
            <a:ext cx="10980451" cy="4019107"/>
          </a:xfrm>
        </p:spPr>
        <p:txBody>
          <a:bodyPr/>
          <a:lstStyle/>
          <a:p>
            <a:r>
              <a:rPr lang="en-GB" sz="2400" u="none" dirty="0">
                <a:solidFill>
                  <a:schemeClr val="tx1"/>
                </a:solidFill>
                <a:latin typeface="Calibri" panose="020F0502020204030204" pitchFamily="34" charset="0"/>
                <a:cs typeface="Calibri" panose="020F0502020204030204" pitchFamily="34" charset="0"/>
              </a:rPr>
              <a:t>Nine Team roles:</a:t>
            </a:r>
          </a:p>
          <a:p>
            <a:pPr marL="486900" lvl="5" indent="-342900"/>
            <a:r>
              <a:rPr lang="en-GB" sz="2400" u="none" dirty="0">
                <a:solidFill>
                  <a:schemeClr val="tx1"/>
                </a:solidFill>
                <a:latin typeface="Calibri" panose="020F0502020204030204" pitchFamily="34" charset="0"/>
                <a:cs typeface="Calibri" panose="020F0502020204030204" pitchFamily="34" charset="0"/>
              </a:rPr>
              <a:t>Resource Investigator (RI)</a:t>
            </a:r>
          </a:p>
          <a:p>
            <a:pPr marL="486900" lvl="5" indent="-342900"/>
            <a:r>
              <a:rPr lang="en-GB" sz="2400" u="none" dirty="0" err="1">
                <a:solidFill>
                  <a:schemeClr val="tx1"/>
                </a:solidFill>
                <a:latin typeface="Calibri" panose="020F0502020204030204" pitchFamily="34" charset="0"/>
                <a:cs typeface="Calibri" panose="020F0502020204030204" pitchFamily="34" charset="0"/>
              </a:rPr>
              <a:t>Teamworker</a:t>
            </a:r>
            <a:r>
              <a:rPr lang="en-GB" sz="2400" u="none" dirty="0">
                <a:solidFill>
                  <a:schemeClr val="tx1"/>
                </a:solidFill>
                <a:latin typeface="Calibri" panose="020F0502020204030204" pitchFamily="34" charset="0"/>
                <a:cs typeface="Calibri" panose="020F0502020204030204" pitchFamily="34" charset="0"/>
              </a:rPr>
              <a:t> (TW)</a:t>
            </a:r>
          </a:p>
          <a:p>
            <a:pPr marL="486900" lvl="5" indent="-342900"/>
            <a:r>
              <a:rPr lang="en-GB" sz="2400" u="none" dirty="0">
                <a:solidFill>
                  <a:schemeClr val="tx1"/>
                </a:solidFill>
                <a:latin typeface="Calibri" panose="020F0502020204030204" pitchFamily="34" charset="0"/>
                <a:cs typeface="Calibri" panose="020F0502020204030204" pitchFamily="34" charset="0"/>
              </a:rPr>
              <a:t>Coordinator (CO)</a:t>
            </a:r>
          </a:p>
          <a:p>
            <a:pPr marL="486900" lvl="5" indent="-342900"/>
            <a:r>
              <a:rPr lang="en-GB" sz="2400" u="none" dirty="0">
                <a:solidFill>
                  <a:schemeClr val="tx1"/>
                </a:solidFill>
                <a:latin typeface="Calibri" panose="020F0502020204030204" pitchFamily="34" charset="0"/>
                <a:cs typeface="Calibri" panose="020F0502020204030204" pitchFamily="34" charset="0"/>
              </a:rPr>
              <a:t>Plant (PL)</a:t>
            </a:r>
          </a:p>
          <a:p>
            <a:pPr marL="486900" lvl="5" indent="-342900"/>
            <a:r>
              <a:rPr lang="en-GB" sz="2400" u="none" dirty="0">
                <a:solidFill>
                  <a:schemeClr val="tx1"/>
                </a:solidFill>
                <a:latin typeface="Calibri" panose="020F0502020204030204" pitchFamily="34" charset="0"/>
                <a:cs typeface="Calibri" panose="020F0502020204030204" pitchFamily="34" charset="0"/>
              </a:rPr>
              <a:t>Monitor Evaluator (ME)</a:t>
            </a:r>
          </a:p>
          <a:p>
            <a:pPr marL="486900" lvl="5" indent="-342900"/>
            <a:r>
              <a:rPr lang="en-GB" sz="2400" u="none" dirty="0">
                <a:solidFill>
                  <a:schemeClr val="tx1"/>
                </a:solidFill>
                <a:latin typeface="Calibri" panose="020F0502020204030204" pitchFamily="34" charset="0"/>
                <a:cs typeface="Calibri" panose="020F0502020204030204" pitchFamily="34" charset="0"/>
              </a:rPr>
              <a:t>Specialist (SP) – Added after initial work.</a:t>
            </a:r>
          </a:p>
          <a:p>
            <a:pPr marL="486900" lvl="5" indent="-342900"/>
            <a:r>
              <a:rPr lang="en-GB" sz="2400" u="none" dirty="0">
                <a:solidFill>
                  <a:schemeClr val="tx1"/>
                </a:solidFill>
                <a:latin typeface="Calibri" panose="020F0502020204030204" pitchFamily="34" charset="0"/>
                <a:cs typeface="Calibri" panose="020F0502020204030204" pitchFamily="34" charset="0"/>
              </a:rPr>
              <a:t>Shaper (SH)</a:t>
            </a:r>
          </a:p>
          <a:p>
            <a:pPr marL="486900" lvl="5" indent="-342900"/>
            <a:r>
              <a:rPr lang="en-GB" sz="2400" u="none" dirty="0">
                <a:solidFill>
                  <a:schemeClr val="tx1"/>
                </a:solidFill>
                <a:latin typeface="Calibri" panose="020F0502020204030204" pitchFamily="34" charset="0"/>
                <a:cs typeface="Calibri" panose="020F0502020204030204" pitchFamily="34" charset="0"/>
              </a:rPr>
              <a:t>Implementor (IM)</a:t>
            </a:r>
          </a:p>
          <a:p>
            <a:pPr marL="486900" lvl="5" indent="-342900"/>
            <a:r>
              <a:rPr lang="en-GB" sz="2400" u="none" dirty="0">
                <a:solidFill>
                  <a:schemeClr val="tx1"/>
                </a:solidFill>
                <a:latin typeface="Calibri" panose="020F0502020204030204" pitchFamily="34" charset="0"/>
                <a:cs typeface="Calibri" panose="020F0502020204030204" pitchFamily="34" charset="0"/>
              </a:rPr>
              <a:t>Completer Finisher (CF)</a:t>
            </a: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a:p>
            <a:endParaRPr lang="en-GB" sz="2400" u="none"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0073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C4777AF7-A5DA-40C5-9A89-2A01982F7E00}"/>
              </a:ext>
            </a:extLst>
          </p:cNvPr>
          <p:cNvPicPr>
            <a:picLocks noGrp="1" noChangeAspect="1"/>
          </p:cNvPicPr>
          <p:nvPr>
            <p:ph idx="14"/>
          </p:nvPr>
        </p:nvPicPr>
        <p:blipFill>
          <a:blip r:embed="rId3"/>
          <a:stretch>
            <a:fillRect/>
          </a:stretch>
        </p:blipFill>
        <p:spPr>
          <a:xfrm>
            <a:off x="5192431" y="7834"/>
            <a:ext cx="5098725" cy="6842332"/>
          </a:xfrm>
          <a:prstGeom prst="rect">
            <a:avLst/>
          </a:prstGeom>
        </p:spPr>
      </p:pic>
    </p:spTree>
    <p:extLst>
      <p:ext uri="{BB962C8B-B14F-4D97-AF65-F5344CB8AC3E}">
        <p14:creationId xmlns:p14="http://schemas.microsoft.com/office/powerpoint/2010/main" val="3703214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5" name="Content Placeholder 4">
            <a:extLst>
              <a:ext uri="{FF2B5EF4-FFF2-40B4-BE49-F238E27FC236}">
                <a16:creationId xmlns:a16="http://schemas.microsoft.com/office/drawing/2014/main" id="{111ABA71-CFE2-D4F4-20E7-14FA2F4ECF49}"/>
              </a:ext>
            </a:extLst>
          </p:cNvPr>
          <p:cNvSpPr>
            <a:spLocks noGrp="1"/>
          </p:cNvSpPr>
          <p:nvPr>
            <p:ph idx="14"/>
          </p:nvPr>
        </p:nvSpPr>
        <p:spPr/>
        <p:txBody>
          <a:bodyPr/>
          <a:lstStyle/>
          <a:p>
            <a:endParaRPr lang="en-GB"/>
          </a:p>
        </p:txBody>
      </p:sp>
      <p:pic>
        <p:nvPicPr>
          <p:cNvPr id="4" name="Picture 3">
            <a:extLst>
              <a:ext uri="{FF2B5EF4-FFF2-40B4-BE49-F238E27FC236}">
                <a16:creationId xmlns:a16="http://schemas.microsoft.com/office/drawing/2014/main" id="{AFA641A3-C11B-49BD-9921-9AFE4037FC0D}"/>
              </a:ext>
            </a:extLst>
          </p:cNvPr>
          <p:cNvPicPr>
            <a:picLocks noChangeAspect="1"/>
          </p:cNvPicPr>
          <p:nvPr/>
        </p:nvPicPr>
        <p:blipFill>
          <a:blip r:embed="rId3"/>
          <a:stretch>
            <a:fillRect/>
          </a:stretch>
        </p:blipFill>
        <p:spPr>
          <a:xfrm>
            <a:off x="4991461" y="-166061"/>
            <a:ext cx="5299695" cy="7021423"/>
          </a:xfrm>
          <a:prstGeom prst="rect">
            <a:avLst/>
          </a:prstGeom>
        </p:spPr>
      </p:pic>
    </p:spTree>
    <p:extLst>
      <p:ext uri="{BB962C8B-B14F-4D97-AF65-F5344CB8AC3E}">
        <p14:creationId xmlns:p14="http://schemas.microsoft.com/office/powerpoint/2010/main" val="3341012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569ED2EA-2A68-4B24-852B-E7942592E643}"/>
              </a:ext>
            </a:extLst>
          </p:cNvPr>
          <p:cNvPicPr>
            <a:picLocks noGrp="1" noChangeAspect="1"/>
          </p:cNvPicPr>
          <p:nvPr>
            <p:ph idx="14"/>
          </p:nvPr>
        </p:nvPicPr>
        <p:blipFill>
          <a:blip r:embed="rId3"/>
          <a:stretch>
            <a:fillRect/>
          </a:stretch>
        </p:blipFill>
        <p:spPr>
          <a:xfrm>
            <a:off x="5608839" y="89525"/>
            <a:ext cx="4902615" cy="6566456"/>
          </a:xfrm>
          <a:prstGeom prst="rect">
            <a:avLst/>
          </a:prstGeom>
        </p:spPr>
      </p:pic>
    </p:spTree>
    <p:extLst>
      <p:ext uri="{BB962C8B-B14F-4D97-AF65-F5344CB8AC3E}">
        <p14:creationId xmlns:p14="http://schemas.microsoft.com/office/powerpoint/2010/main" val="4037960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E4E2E68B-A6B3-485E-A44B-97A0F1075A50}"/>
              </a:ext>
            </a:extLst>
          </p:cNvPr>
          <p:cNvPicPr>
            <a:picLocks noGrp="1" noChangeAspect="1"/>
          </p:cNvPicPr>
          <p:nvPr>
            <p:ph idx="14"/>
          </p:nvPr>
        </p:nvPicPr>
        <p:blipFill>
          <a:blip r:embed="rId3"/>
          <a:stretch>
            <a:fillRect/>
          </a:stretch>
        </p:blipFill>
        <p:spPr>
          <a:xfrm>
            <a:off x="5069826" y="0"/>
            <a:ext cx="5003577" cy="6500812"/>
          </a:xfrm>
          <a:prstGeom prst="rect">
            <a:avLst/>
          </a:prstGeom>
        </p:spPr>
      </p:pic>
    </p:spTree>
    <p:extLst>
      <p:ext uri="{BB962C8B-B14F-4D97-AF65-F5344CB8AC3E}">
        <p14:creationId xmlns:p14="http://schemas.microsoft.com/office/powerpoint/2010/main" val="651753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sp>
        <p:nvSpPr>
          <p:cNvPr id="5" name="Content Placeholder 4">
            <a:extLst>
              <a:ext uri="{FF2B5EF4-FFF2-40B4-BE49-F238E27FC236}">
                <a16:creationId xmlns:a16="http://schemas.microsoft.com/office/drawing/2014/main" id="{B6C5555C-646D-5EED-B6C0-8AD6749F82A5}"/>
              </a:ext>
            </a:extLst>
          </p:cNvPr>
          <p:cNvSpPr>
            <a:spLocks noGrp="1"/>
          </p:cNvSpPr>
          <p:nvPr>
            <p:ph idx="14"/>
          </p:nvPr>
        </p:nvSpPr>
        <p:spPr/>
        <p:txBody>
          <a:bodyPr/>
          <a:lstStyle/>
          <a:p>
            <a:endParaRPr lang="en-GB"/>
          </a:p>
        </p:txBody>
      </p:sp>
      <p:pic>
        <p:nvPicPr>
          <p:cNvPr id="4" name="Picture 3">
            <a:extLst>
              <a:ext uri="{FF2B5EF4-FFF2-40B4-BE49-F238E27FC236}">
                <a16:creationId xmlns:a16="http://schemas.microsoft.com/office/drawing/2014/main" id="{EBBB2350-EE30-446D-B3B8-6F2CAFE4CA8B}"/>
              </a:ext>
            </a:extLst>
          </p:cNvPr>
          <p:cNvPicPr>
            <a:picLocks noChangeAspect="1"/>
          </p:cNvPicPr>
          <p:nvPr/>
        </p:nvPicPr>
        <p:blipFill>
          <a:blip r:embed="rId3"/>
          <a:stretch>
            <a:fillRect/>
          </a:stretch>
        </p:blipFill>
        <p:spPr>
          <a:xfrm>
            <a:off x="5215752" y="0"/>
            <a:ext cx="4799142" cy="6329481"/>
          </a:xfrm>
          <a:prstGeom prst="rect">
            <a:avLst/>
          </a:prstGeom>
        </p:spPr>
      </p:pic>
    </p:spTree>
    <p:extLst>
      <p:ext uri="{BB962C8B-B14F-4D97-AF65-F5344CB8AC3E}">
        <p14:creationId xmlns:p14="http://schemas.microsoft.com/office/powerpoint/2010/main" val="4089496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8276E9E5-CC63-4F4D-9D3F-C113F5BEB59A}"/>
              </a:ext>
            </a:extLst>
          </p:cNvPr>
          <p:cNvPicPr>
            <a:picLocks noGrp="1" noChangeAspect="1"/>
          </p:cNvPicPr>
          <p:nvPr>
            <p:ph idx="14"/>
          </p:nvPr>
        </p:nvPicPr>
        <p:blipFill>
          <a:blip r:embed="rId3"/>
          <a:stretch>
            <a:fillRect/>
          </a:stretch>
        </p:blipFill>
        <p:spPr>
          <a:xfrm>
            <a:off x="5524275" y="357188"/>
            <a:ext cx="4766881" cy="6485470"/>
          </a:xfrm>
          <a:prstGeom prst="rect">
            <a:avLst/>
          </a:prstGeom>
        </p:spPr>
      </p:pic>
    </p:spTree>
    <p:extLst>
      <p:ext uri="{BB962C8B-B14F-4D97-AF65-F5344CB8AC3E}">
        <p14:creationId xmlns:p14="http://schemas.microsoft.com/office/powerpoint/2010/main" val="2638038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BB6C6345-0F18-4AF8-85B5-64255A1B7C89}"/>
              </a:ext>
            </a:extLst>
          </p:cNvPr>
          <p:cNvPicPr>
            <a:picLocks noGrp="1" noChangeAspect="1"/>
          </p:cNvPicPr>
          <p:nvPr>
            <p:ph idx="14"/>
          </p:nvPr>
        </p:nvPicPr>
        <p:blipFill>
          <a:blip r:embed="rId3"/>
          <a:stretch>
            <a:fillRect/>
          </a:stretch>
        </p:blipFill>
        <p:spPr>
          <a:xfrm>
            <a:off x="5782942" y="148857"/>
            <a:ext cx="4652311" cy="6351956"/>
          </a:xfrm>
          <a:prstGeom prst="rect">
            <a:avLst/>
          </a:prstGeom>
        </p:spPr>
      </p:pic>
    </p:spTree>
    <p:extLst>
      <p:ext uri="{BB962C8B-B14F-4D97-AF65-F5344CB8AC3E}">
        <p14:creationId xmlns:p14="http://schemas.microsoft.com/office/powerpoint/2010/main" val="883399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DD6BB840-E666-4207-99CA-BA8BCABEAEC2}"/>
              </a:ext>
            </a:extLst>
          </p:cNvPr>
          <p:cNvPicPr>
            <a:picLocks noGrp="1" noChangeAspect="1"/>
          </p:cNvPicPr>
          <p:nvPr>
            <p:ph idx="14"/>
          </p:nvPr>
        </p:nvPicPr>
        <p:blipFill>
          <a:blip r:embed="rId3"/>
          <a:stretch>
            <a:fillRect/>
          </a:stretch>
        </p:blipFill>
        <p:spPr>
          <a:xfrm>
            <a:off x="5752730" y="148857"/>
            <a:ext cx="4684260" cy="6351956"/>
          </a:xfrm>
          <a:prstGeom prst="rect">
            <a:avLst/>
          </a:prstGeom>
        </p:spPr>
      </p:pic>
    </p:spTree>
    <p:extLst>
      <p:ext uri="{BB962C8B-B14F-4D97-AF65-F5344CB8AC3E}">
        <p14:creationId xmlns:p14="http://schemas.microsoft.com/office/powerpoint/2010/main" val="4181922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Content Placeholder 3">
            <a:extLst>
              <a:ext uri="{FF2B5EF4-FFF2-40B4-BE49-F238E27FC236}">
                <a16:creationId xmlns:a16="http://schemas.microsoft.com/office/drawing/2014/main" id="{154133E3-D39A-47D0-A53A-3C2F89830B8E}"/>
              </a:ext>
            </a:extLst>
          </p:cNvPr>
          <p:cNvPicPr>
            <a:picLocks noGrp="1" noChangeAspect="1"/>
          </p:cNvPicPr>
          <p:nvPr>
            <p:ph idx="14"/>
          </p:nvPr>
        </p:nvPicPr>
        <p:blipFill>
          <a:blip r:embed="rId3"/>
          <a:stretch>
            <a:fillRect/>
          </a:stretch>
        </p:blipFill>
        <p:spPr>
          <a:xfrm>
            <a:off x="5229122" y="191387"/>
            <a:ext cx="4624452" cy="6309426"/>
          </a:xfrm>
          <a:prstGeom prst="rect">
            <a:avLst/>
          </a:prstGeom>
        </p:spPr>
      </p:pic>
    </p:spTree>
    <p:extLst>
      <p:ext uri="{BB962C8B-B14F-4D97-AF65-F5344CB8AC3E}">
        <p14:creationId xmlns:p14="http://schemas.microsoft.com/office/powerpoint/2010/main" val="2179242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E42F-66FD-44C2-9AEB-95D3751772F5}"/>
              </a:ext>
            </a:extLst>
          </p:cNvPr>
          <p:cNvSpPr>
            <a:spLocks noGrp="1"/>
          </p:cNvSpPr>
          <p:nvPr>
            <p:ph type="title"/>
          </p:nvPr>
        </p:nvSpPr>
        <p:spPr/>
        <p:txBody>
          <a:bodyPr/>
          <a:lstStyle/>
          <a:p>
            <a:r>
              <a:rPr lang="en-GB" dirty="0"/>
              <a:t>Team Dynamics </a:t>
            </a:r>
          </a:p>
        </p:txBody>
      </p:sp>
      <p:pic>
        <p:nvPicPr>
          <p:cNvPr id="4" name="Picture 1">
            <a:extLst>
              <a:ext uri="{FF2B5EF4-FFF2-40B4-BE49-F238E27FC236}">
                <a16:creationId xmlns:a16="http://schemas.microsoft.com/office/drawing/2014/main" id="{0AA45448-A2A5-4AED-8CE6-4B0DDCDB45B5}"/>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bwMode="auto">
          <a:xfrm>
            <a:off x="1935126" y="1012446"/>
            <a:ext cx="8144539" cy="5845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7645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elbin's team roles">
            <a:extLst>
              <a:ext uri="{FF2B5EF4-FFF2-40B4-BE49-F238E27FC236}">
                <a16:creationId xmlns:a16="http://schemas.microsoft.com/office/drawing/2014/main" id="{4C85208A-E00B-5075-7A49-069F64375942}"/>
              </a:ext>
            </a:extLst>
          </p:cNvPr>
          <p:cNvPicPr>
            <a:picLocks noGrp="1" noChangeAspect="1" noChangeArrowheads="1"/>
          </p:cNvPicPr>
          <p:nvPr>
            <p:ph idx="13"/>
          </p:nvPr>
        </p:nvPicPr>
        <p:blipFill>
          <a:blip r:embed="rId3">
            <a:extLst>
              <a:ext uri="{28A0092B-C50C-407E-A947-70E740481C1C}">
                <a14:useLocalDpi xmlns:a14="http://schemas.microsoft.com/office/drawing/2010/main" val="0"/>
              </a:ext>
            </a:extLst>
          </a:blip>
          <a:srcRect/>
          <a:stretch>
            <a:fillRect/>
          </a:stretch>
        </p:blipFill>
        <p:spPr bwMode="auto">
          <a:xfrm>
            <a:off x="1647132" y="-3401"/>
            <a:ext cx="8995467" cy="660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4576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90D62D-122C-DB7B-D2AC-1FB761343C18}"/>
              </a:ext>
            </a:extLst>
          </p:cNvPr>
          <p:cNvSpPr>
            <a:spLocks noGrp="1"/>
          </p:cNvSpPr>
          <p:nvPr>
            <p:ph idx="13"/>
          </p:nvPr>
        </p:nvSpPr>
        <p:spPr/>
        <p:txBody>
          <a:bodyPr/>
          <a:lstStyle/>
          <a:p>
            <a:r>
              <a:rPr lang="en-GB" dirty="0"/>
              <a:t>Who was surprised by their result?</a:t>
            </a:r>
          </a:p>
          <a:p>
            <a:endParaRPr lang="en-GB" dirty="0"/>
          </a:p>
          <a:p>
            <a:r>
              <a:rPr lang="en-GB" dirty="0"/>
              <a:t>Were all of your highest scoring roles in the same group of roles?</a:t>
            </a:r>
          </a:p>
        </p:txBody>
      </p:sp>
      <p:sp>
        <p:nvSpPr>
          <p:cNvPr id="3" name="Title 2">
            <a:extLst>
              <a:ext uri="{FF2B5EF4-FFF2-40B4-BE49-F238E27FC236}">
                <a16:creationId xmlns:a16="http://schemas.microsoft.com/office/drawing/2014/main" id="{E4581F3B-FD5E-C17C-71FF-1454F317F212}"/>
              </a:ext>
            </a:extLst>
          </p:cNvPr>
          <p:cNvSpPr>
            <a:spLocks noGrp="1"/>
          </p:cNvSpPr>
          <p:nvPr>
            <p:ph type="title"/>
          </p:nvPr>
        </p:nvSpPr>
        <p:spPr/>
        <p:txBody>
          <a:bodyPr/>
          <a:lstStyle/>
          <a:p>
            <a:r>
              <a:rPr lang="en-GB" dirty="0"/>
              <a:t>Belbin Questionnaire</a:t>
            </a:r>
          </a:p>
        </p:txBody>
      </p:sp>
    </p:spTree>
    <p:extLst>
      <p:ext uri="{BB962C8B-B14F-4D97-AF65-F5344CB8AC3E}">
        <p14:creationId xmlns:p14="http://schemas.microsoft.com/office/powerpoint/2010/main" val="1492654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7D9A-74C4-3F4E-5B3F-2992DCB07F6F}"/>
              </a:ext>
            </a:extLst>
          </p:cNvPr>
          <p:cNvSpPr>
            <a:spLocks noGrp="1"/>
          </p:cNvSpPr>
          <p:nvPr>
            <p:ph type="title"/>
          </p:nvPr>
        </p:nvSpPr>
        <p:spPr/>
        <p:txBody>
          <a:bodyPr/>
          <a:lstStyle/>
          <a:p>
            <a:r>
              <a:rPr lang="en-GB" dirty="0"/>
              <a:t>Belbin </a:t>
            </a:r>
          </a:p>
        </p:txBody>
      </p:sp>
      <p:sp>
        <p:nvSpPr>
          <p:cNvPr id="3" name="Content Placeholder 2">
            <a:extLst>
              <a:ext uri="{FF2B5EF4-FFF2-40B4-BE49-F238E27FC236}">
                <a16:creationId xmlns:a16="http://schemas.microsoft.com/office/drawing/2014/main" id="{04088C01-266C-3FA5-3E8B-63F1874268EB}"/>
              </a:ext>
            </a:extLst>
          </p:cNvPr>
          <p:cNvSpPr>
            <a:spLocks noGrp="1"/>
          </p:cNvSpPr>
          <p:nvPr>
            <p:ph idx="13"/>
          </p:nvPr>
        </p:nvSpPr>
        <p:spPr/>
        <p:txBody>
          <a:bodyPr/>
          <a:lstStyle/>
          <a:p>
            <a:r>
              <a:rPr lang="en-GB" dirty="0"/>
              <a:t>Belbin’s Team Roles Theory</a:t>
            </a:r>
          </a:p>
          <a:p>
            <a:r>
              <a:rPr lang="en-GB" dirty="0"/>
              <a:t>-focus on co-located teams</a:t>
            </a:r>
          </a:p>
          <a:p>
            <a:r>
              <a:rPr lang="en-GB" dirty="0"/>
              <a:t>-does not address Virtual Teams</a:t>
            </a:r>
          </a:p>
          <a:p>
            <a:r>
              <a:rPr lang="en-GB" dirty="0"/>
              <a:t>-does not address culture</a:t>
            </a:r>
          </a:p>
        </p:txBody>
      </p:sp>
    </p:spTree>
    <p:extLst>
      <p:ext uri="{BB962C8B-B14F-4D97-AF65-F5344CB8AC3E}">
        <p14:creationId xmlns:p14="http://schemas.microsoft.com/office/powerpoint/2010/main" val="2887777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3367-619B-E43C-7788-D085F26CD353}"/>
              </a:ext>
            </a:extLst>
          </p:cNvPr>
          <p:cNvSpPr>
            <a:spLocks noGrp="1"/>
          </p:cNvSpPr>
          <p:nvPr>
            <p:ph type="title"/>
          </p:nvPr>
        </p:nvSpPr>
        <p:spPr/>
        <p:txBody>
          <a:bodyPr/>
          <a:lstStyle/>
          <a:p>
            <a:r>
              <a:rPr lang="en-GB" dirty="0"/>
              <a:t>The Thinking roles</a:t>
            </a:r>
          </a:p>
        </p:txBody>
      </p:sp>
      <p:sp>
        <p:nvSpPr>
          <p:cNvPr id="3" name="Content Placeholder 2">
            <a:extLst>
              <a:ext uri="{FF2B5EF4-FFF2-40B4-BE49-F238E27FC236}">
                <a16:creationId xmlns:a16="http://schemas.microsoft.com/office/drawing/2014/main" id="{DB261700-990D-30EA-7CF4-D8E3FBDCA6A8}"/>
              </a:ext>
            </a:extLst>
          </p:cNvPr>
          <p:cNvSpPr>
            <a:spLocks noGrp="1"/>
          </p:cNvSpPr>
          <p:nvPr>
            <p:ph idx="13"/>
          </p:nvPr>
        </p:nvSpPr>
        <p:spPr/>
        <p:txBody>
          <a:bodyPr/>
          <a:lstStyle/>
          <a:p>
            <a:r>
              <a:rPr lang="en-US" b="0" i="0" dirty="0">
                <a:solidFill>
                  <a:srgbClr val="333333"/>
                </a:solidFill>
                <a:effectLst/>
                <a:latin typeface="+mn-lt"/>
              </a:rPr>
              <a:t>Plant, Monitor Evaluator, and the Specialist</a:t>
            </a:r>
          </a:p>
          <a:p>
            <a:endParaRPr lang="en-US" b="0" i="0" dirty="0">
              <a:solidFill>
                <a:srgbClr val="333333"/>
              </a:solidFill>
              <a:effectLst/>
              <a:latin typeface="+mn-lt"/>
            </a:endParaRPr>
          </a:p>
          <a:p>
            <a:r>
              <a:rPr lang="en-US" dirty="0">
                <a:solidFill>
                  <a:srgbClr val="333333"/>
                </a:solidFill>
                <a:latin typeface="+mn-lt"/>
              </a:rPr>
              <a:t>-least impacted by the shift to virtual team</a:t>
            </a:r>
          </a:p>
          <a:p>
            <a:r>
              <a:rPr lang="en-US" dirty="0">
                <a:solidFill>
                  <a:srgbClr val="333333"/>
                </a:solidFill>
                <a:latin typeface="+mn-lt"/>
              </a:rPr>
              <a:t>-different cultural perspectives can be an advantage </a:t>
            </a:r>
            <a:endParaRPr lang="en-GB" dirty="0">
              <a:latin typeface="+mn-lt"/>
            </a:endParaRPr>
          </a:p>
        </p:txBody>
      </p:sp>
    </p:spTree>
    <p:extLst>
      <p:ext uri="{BB962C8B-B14F-4D97-AF65-F5344CB8AC3E}">
        <p14:creationId xmlns:p14="http://schemas.microsoft.com/office/powerpoint/2010/main" val="38584286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0F01B-2250-A8B1-68EC-AB7D45D15F89}"/>
              </a:ext>
            </a:extLst>
          </p:cNvPr>
          <p:cNvSpPr>
            <a:spLocks noGrp="1"/>
          </p:cNvSpPr>
          <p:nvPr>
            <p:ph type="title"/>
          </p:nvPr>
        </p:nvSpPr>
        <p:spPr/>
        <p:txBody>
          <a:bodyPr/>
          <a:lstStyle/>
          <a:p>
            <a:r>
              <a:rPr lang="en-GB" dirty="0"/>
              <a:t>The Action Roles</a:t>
            </a:r>
          </a:p>
        </p:txBody>
      </p:sp>
      <p:sp>
        <p:nvSpPr>
          <p:cNvPr id="3" name="Content Placeholder 2">
            <a:extLst>
              <a:ext uri="{FF2B5EF4-FFF2-40B4-BE49-F238E27FC236}">
                <a16:creationId xmlns:a16="http://schemas.microsoft.com/office/drawing/2014/main" id="{44D88FBA-3033-1AB0-3C7D-7ACCEC0D8BDE}"/>
              </a:ext>
            </a:extLst>
          </p:cNvPr>
          <p:cNvSpPr>
            <a:spLocks noGrp="1"/>
          </p:cNvSpPr>
          <p:nvPr>
            <p:ph idx="13"/>
          </p:nvPr>
        </p:nvSpPr>
        <p:spPr/>
        <p:txBody>
          <a:bodyPr/>
          <a:lstStyle/>
          <a:p>
            <a:r>
              <a:rPr lang="en-GB" dirty="0"/>
              <a:t>Shaper, Implementer, Completer finisher</a:t>
            </a:r>
          </a:p>
          <a:p>
            <a:r>
              <a:rPr lang="en-GB" dirty="0"/>
              <a:t>- awareness of culture required</a:t>
            </a:r>
          </a:p>
          <a:p>
            <a:r>
              <a:rPr lang="en-GB" dirty="0"/>
              <a:t>- written communication across cultures can be misinterpreted</a:t>
            </a:r>
          </a:p>
        </p:txBody>
      </p:sp>
    </p:spTree>
    <p:extLst>
      <p:ext uri="{BB962C8B-B14F-4D97-AF65-F5344CB8AC3E}">
        <p14:creationId xmlns:p14="http://schemas.microsoft.com/office/powerpoint/2010/main" val="1783814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C383C-7AF8-B24B-FD89-B22F83181C3F}"/>
              </a:ext>
            </a:extLst>
          </p:cNvPr>
          <p:cNvSpPr>
            <a:spLocks noGrp="1"/>
          </p:cNvSpPr>
          <p:nvPr>
            <p:ph type="title"/>
          </p:nvPr>
        </p:nvSpPr>
        <p:spPr/>
        <p:txBody>
          <a:bodyPr/>
          <a:lstStyle/>
          <a:p>
            <a:r>
              <a:rPr lang="en-GB" dirty="0"/>
              <a:t>The Social Roles</a:t>
            </a:r>
          </a:p>
        </p:txBody>
      </p:sp>
      <p:sp>
        <p:nvSpPr>
          <p:cNvPr id="3" name="Content Placeholder 2">
            <a:extLst>
              <a:ext uri="{FF2B5EF4-FFF2-40B4-BE49-F238E27FC236}">
                <a16:creationId xmlns:a16="http://schemas.microsoft.com/office/drawing/2014/main" id="{8C9FD525-BC68-EC96-386A-E4FBCCCB24F9}"/>
              </a:ext>
            </a:extLst>
          </p:cNvPr>
          <p:cNvSpPr>
            <a:spLocks noGrp="1"/>
          </p:cNvSpPr>
          <p:nvPr>
            <p:ph idx="13"/>
          </p:nvPr>
        </p:nvSpPr>
        <p:spPr/>
        <p:txBody>
          <a:bodyPr/>
          <a:lstStyle/>
          <a:p>
            <a:r>
              <a:rPr lang="en-GB" dirty="0"/>
              <a:t>Co-ordinator, </a:t>
            </a:r>
            <a:r>
              <a:rPr lang="en-GB" dirty="0" err="1"/>
              <a:t>Teamworker</a:t>
            </a:r>
            <a:r>
              <a:rPr lang="en-GB" dirty="0"/>
              <a:t>, Resource Investigator</a:t>
            </a:r>
          </a:p>
          <a:p>
            <a:endParaRPr lang="en-GB" dirty="0"/>
          </a:p>
          <a:p>
            <a:r>
              <a:rPr lang="en-GB" dirty="0"/>
              <a:t>- need to make the most adjustment</a:t>
            </a:r>
          </a:p>
          <a:p>
            <a:r>
              <a:rPr lang="en-GB" dirty="0"/>
              <a:t>- cross-cultural skills essential</a:t>
            </a:r>
          </a:p>
        </p:txBody>
      </p:sp>
    </p:spTree>
    <p:extLst>
      <p:ext uri="{BB962C8B-B14F-4D97-AF65-F5344CB8AC3E}">
        <p14:creationId xmlns:p14="http://schemas.microsoft.com/office/powerpoint/2010/main" val="4175796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FD6F5-4D95-8E31-0C49-01F114ACABB2}"/>
              </a:ext>
            </a:extLst>
          </p:cNvPr>
          <p:cNvSpPr>
            <a:spLocks noGrp="1"/>
          </p:cNvSpPr>
          <p:nvPr>
            <p:ph type="title"/>
          </p:nvPr>
        </p:nvSpPr>
        <p:spPr/>
        <p:txBody>
          <a:bodyPr/>
          <a:lstStyle/>
          <a:p>
            <a:r>
              <a:rPr lang="en-GB" dirty="0"/>
              <a:t>Cultural background and team roles</a:t>
            </a:r>
          </a:p>
        </p:txBody>
      </p:sp>
      <p:sp>
        <p:nvSpPr>
          <p:cNvPr id="3" name="Content Placeholder 2">
            <a:extLst>
              <a:ext uri="{FF2B5EF4-FFF2-40B4-BE49-F238E27FC236}">
                <a16:creationId xmlns:a16="http://schemas.microsoft.com/office/drawing/2014/main" id="{5103DC8A-7D01-20EF-38C3-BA4D72FEE197}"/>
              </a:ext>
            </a:extLst>
          </p:cNvPr>
          <p:cNvSpPr>
            <a:spLocks noGrp="1"/>
          </p:cNvSpPr>
          <p:nvPr>
            <p:ph idx="13"/>
          </p:nvPr>
        </p:nvSpPr>
        <p:spPr>
          <a:xfrm>
            <a:off x="574240" y="2120900"/>
            <a:ext cx="10980451" cy="3063109"/>
          </a:xfrm>
        </p:spPr>
        <p:txBody>
          <a:bodyPr/>
          <a:lstStyle/>
          <a:p>
            <a:r>
              <a:rPr lang="en-GB" dirty="0"/>
              <a:t>Schneider and </a:t>
            </a:r>
            <a:r>
              <a:rPr lang="en-GB" dirty="0" err="1"/>
              <a:t>Barsoux</a:t>
            </a:r>
            <a:r>
              <a:rPr lang="en-GB" dirty="0"/>
              <a:t> (2003) – some cultures have a preference for certain roles. </a:t>
            </a:r>
          </a:p>
          <a:p>
            <a:r>
              <a:rPr lang="en-GB" dirty="0"/>
              <a:t>Inglehart (1997) – European study</a:t>
            </a:r>
          </a:p>
          <a:p>
            <a:r>
              <a:rPr lang="en-GB" dirty="0"/>
              <a:t>French- good at generating ideas</a:t>
            </a:r>
          </a:p>
          <a:p>
            <a:r>
              <a:rPr lang="en-GB" dirty="0"/>
              <a:t>Germans- good at structuring tasks</a:t>
            </a:r>
          </a:p>
          <a:p>
            <a:r>
              <a:rPr lang="en-GB" dirty="0"/>
              <a:t>Swedes- good at obtaining the needs to perform</a:t>
            </a:r>
          </a:p>
        </p:txBody>
      </p:sp>
    </p:spTree>
    <p:extLst>
      <p:ext uri="{BB962C8B-B14F-4D97-AF65-F5344CB8AC3E}">
        <p14:creationId xmlns:p14="http://schemas.microsoft.com/office/powerpoint/2010/main" val="3920718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2EEE-6DD6-2FFE-F514-6F7B1E32FABE}"/>
              </a:ext>
            </a:extLst>
          </p:cNvPr>
          <p:cNvSpPr>
            <a:spLocks noGrp="1"/>
          </p:cNvSpPr>
          <p:nvPr>
            <p:ph type="title"/>
          </p:nvPr>
        </p:nvSpPr>
        <p:spPr/>
        <p:txBody>
          <a:bodyPr/>
          <a:lstStyle/>
          <a:p>
            <a:r>
              <a:rPr lang="en-GB" dirty="0"/>
              <a:t>The effects of culture</a:t>
            </a:r>
          </a:p>
        </p:txBody>
      </p:sp>
      <p:sp>
        <p:nvSpPr>
          <p:cNvPr id="3" name="Content Placeholder 2">
            <a:extLst>
              <a:ext uri="{FF2B5EF4-FFF2-40B4-BE49-F238E27FC236}">
                <a16:creationId xmlns:a16="http://schemas.microsoft.com/office/drawing/2014/main" id="{4735B9F0-567C-7AAA-4E5C-5ECB876E9EA3}"/>
              </a:ext>
            </a:extLst>
          </p:cNvPr>
          <p:cNvSpPr>
            <a:spLocks noGrp="1"/>
          </p:cNvSpPr>
          <p:nvPr>
            <p:ph idx="13"/>
          </p:nvPr>
        </p:nvSpPr>
        <p:spPr/>
        <p:txBody>
          <a:bodyPr/>
          <a:lstStyle/>
          <a:p>
            <a:pPr marL="457200" indent="-457200">
              <a:buFont typeface="Arial" panose="020B0604020202020204" pitchFamily="34" charset="0"/>
              <a:buChar char="•"/>
            </a:pPr>
            <a:r>
              <a:rPr lang="en-GB" dirty="0"/>
              <a:t>Hofstede (1991)- “collective programming of the mind”</a:t>
            </a:r>
          </a:p>
          <a:p>
            <a:pPr marL="457200" indent="-457200">
              <a:buFont typeface="Arial" panose="020B0604020202020204" pitchFamily="34" charset="0"/>
              <a:buChar char="•"/>
            </a:pPr>
            <a:r>
              <a:rPr lang="en-GB" dirty="0"/>
              <a:t>Our culture affects our attitudes and behaviours</a:t>
            </a:r>
          </a:p>
          <a:p>
            <a:pPr marL="457200" indent="-457200">
              <a:buFont typeface="Arial" panose="020B0604020202020204" pitchFamily="34" charset="0"/>
              <a:buChar char="•"/>
            </a:pPr>
            <a:r>
              <a:rPr lang="en-GB" dirty="0"/>
              <a:t>Anything that undermines the communication of intended meaning is referred to as </a:t>
            </a:r>
            <a:r>
              <a:rPr lang="en-GB" b="1" dirty="0"/>
              <a:t>noise</a:t>
            </a:r>
            <a:r>
              <a:rPr lang="en-GB" dirty="0"/>
              <a:t>. The more dissimilar the culture, the bigger likelihood of noise. (</a:t>
            </a:r>
            <a:r>
              <a:rPr lang="en-GB" dirty="0" err="1"/>
              <a:t>Deresky</a:t>
            </a:r>
            <a:r>
              <a:rPr lang="en-GB" dirty="0"/>
              <a:t>, 2017)</a:t>
            </a:r>
          </a:p>
        </p:txBody>
      </p:sp>
    </p:spTree>
    <p:extLst>
      <p:ext uri="{BB962C8B-B14F-4D97-AF65-F5344CB8AC3E}">
        <p14:creationId xmlns:p14="http://schemas.microsoft.com/office/powerpoint/2010/main" val="120056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B142-090F-473C-35F8-5DF20ED87E82}"/>
              </a:ext>
            </a:extLst>
          </p:cNvPr>
          <p:cNvSpPr>
            <a:spLocks noGrp="1"/>
          </p:cNvSpPr>
          <p:nvPr>
            <p:ph type="title"/>
          </p:nvPr>
        </p:nvSpPr>
        <p:spPr/>
        <p:txBody>
          <a:bodyPr/>
          <a:lstStyle/>
          <a:p>
            <a:r>
              <a:rPr lang="en-GB" dirty="0"/>
              <a:t>The effects of culture</a:t>
            </a:r>
          </a:p>
        </p:txBody>
      </p:sp>
      <p:sp>
        <p:nvSpPr>
          <p:cNvPr id="3" name="Content Placeholder 2">
            <a:extLst>
              <a:ext uri="{FF2B5EF4-FFF2-40B4-BE49-F238E27FC236}">
                <a16:creationId xmlns:a16="http://schemas.microsoft.com/office/drawing/2014/main" id="{B8464684-EDB2-C0E8-7681-D5967A397B8D}"/>
              </a:ext>
            </a:extLst>
          </p:cNvPr>
          <p:cNvSpPr>
            <a:spLocks noGrp="1"/>
          </p:cNvSpPr>
          <p:nvPr>
            <p:ph idx="13"/>
          </p:nvPr>
        </p:nvSpPr>
        <p:spPr>
          <a:xfrm>
            <a:off x="574240" y="1275908"/>
            <a:ext cx="10980451" cy="4316818"/>
          </a:xfrm>
        </p:spPr>
        <p:txBody>
          <a:bodyPr/>
          <a:lstStyle/>
          <a:p>
            <a:r>
              <a:rPr lang="en-GB" dirty="0"/>
              <a:t>Meyer (2014) breaks this down into 8 key areas</a:t>
            </a:r>
          </a:p>
          <a:p>
            <a:pPr marL="514350" indent="-514350">
              <a:buFont typeface="+mj-lt"/>
              <a:buAutoNum type="arabicPeriod"/>
            </a:pPr>
            <a:r>
              <a:rPr lang="en-GB" dirty="0"/>
              <a:t>Communicating</a:t>
            </a:r>
          </a:p>
          <a:p>
            <a:pPr marL="514350" indent="-514350">
              <a:buFont typeface="+mj-lt"/>
              <a:buAutoNum type="arabicPeriod"/>
            </a:pPr>
            <a:r>
              <a:rPr lang="en-GB" dirty="0"/>
              <a:t>Evaluating</a:t>
            </a:r>
          </a:p>
          <a:p>
            <a:pPr marL="514350" indent="-514350">
              <a:buFont typeface="+mj-lt"/>
              <a:buAutoNum type="arabicPeriod"/>
            </a:pPr>
            <a:r>
              <a:rPr lang="en-GB" dirty="0"/>
              <a:t>Persuading</a:t>
            </a:r>
          </a:p>
          <a:p>
            <a:pPr marL="514350" indent="-514350">
              <a:buFont typeface="+mj-lt"/>
              <a:buAutoNum type="arabicPeriod"/>
            </a:pPr>
            <a:r>
              <a:rPr lang="en-GB" dirty="0"/>
              <a:t>Leading</a:t>
            </a:r>
          </a:p>
          <a:p>
            <a:pPr marL="514350" indent="-514350">
              <a:buFont typeface="+mj-lt"/>
              <a:buAutoNum type="arabicPeriod"/>
            </a:pPr>
            <a:r>
              <a:rPr lang="en-GB" dirty="0"/>
              <a:t>Deciding</a:t>
            </a:r>
          </a:p>
          <a:p>
            <a:pPr marL="514350" indent="-514350">
              <a:buFont typeface="+mj-lt"/>
              <a:buAutoNum type="arabicPeriod"/>
            </a:pPr>
            <a:r>
              <a:rPr lang="en-GB" dirty="0"/>
              <a:t>Trusting</a:t>
            </a:r>
          </a:p>
          <a:p>
            <a:pPr marL="514350" indent="-514350">
              <a:buFont typeface="+mj-lt"/>
              <a:buAutoNum type="arabicPeriod"/>
            </a:pPr>
            <a:r>
              <a:rPr lang="en-GB" dirty="0"/>
              <a:t>Disagreeing</a:t>
            </a:r>
          </a:p>
          <a:p>
            <a:pPr marL="514350" indent="-514350">
              <a:buFont typeface="+mj-lt"/>
              <a:buAutoNum type="arabicPeriod"/>
            </a:pPr>
            <a:r>
              <a:rPr lang="en-GB" dirty="0"/>
              <a:t>Scheduling</a:t>
            </a:r>
          </a:p>
          <a:p>
            <a:pPr algn="r"/>
            <a:r>
              <a:rPr lang="en-GB" dirty="0"/>
              <a:t>Meyer, E. (2014) </a:t>
            </a:r>
            <a:r>
              <a:rPr lang="en-GB" i="1" dirty="0"/>
              <a:t>The Culture Map</a:t>
            </a:r>
            <a:r>
              <a:rPr lang="en-GB" dirty="0"/>
              <a:t>. Public Affairs</a:t>
            </a:r>
          </a:p>
          <a:p>
            <a:endParaRPr lang="en-GB" dirty="0"/>
          </a:p>
        </p:txBody>
      </p:sp>
    </p:spTree>
    <p:extLst>
      <p:ext uri="{BB962C8B-B14F-4D97-AF65-F5344CB8AC3E}">
        <p14:creationId xmlns:p14="http://schemas.microsoft.com/office/powerpoint/2010/main" val="13165937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20D42-5372-4B2A-F1F0-58200FE31DDA}"/>
              </a:ext>
            </a:extLst>
          </p:cNvPr>
          <p:cNvSpPr>
            <a:spLocks noGrp="1"/>
          </p:cNvSpPr>
          <p:nvPr>
            <p:ph type="title"/>
          </p:nvPr>
        </p:nvSpPr>
        <p:spPr/>
        <p:txBody>
          <a:bodyPr/>
          <a:lstStyle/>
          <a:p>
            <a:r>
              <a:rPr lang="en-GB" dirty="0"/>
              <a:t>Communicating</a:t>
            </a:r>
          </a:p>
        </p:txBody>
      </p:sp>
      <p:sp>
        <p:nvSpPr>
          <p:cNvPr id="3" name="Content Placeholder 2">
            <a:extLst>
              <a:ext uri="{FF2B5EF4-FFF2-40B4-BE49-F238E27FC236}">
                <a16:creationId xmlns:a16="http://schemas.microsoft.com/office/drawing/2014/main" id="{2FCE81A5-F52D-CBB1-0FAD-5702CC5DB0E1}"/>
              </a:ext>
            </a:extLst>
          </p:cNvPr>
          <p:cNvSpPr>
            <a:spLocks noGrp="1"/>
          </p:cNvSpPr>
          <p:nvPr>
            <p:ph idx="13"/>
          </p:nvPr>
        </p:nvSpPr>
        <p:spPr/>
        <p:txBody>
          <a:bodyPr/>
          <a:lstStyle/>
          <a:p>
            <a:r>
              <a:rPr lang="en-GB" dirty="0"/>
              <a:t>Low context/high context cultures</a:t>
            </a:r>
          </a:p>
          <a:p>
            <a:r>
              <a:rPr lang="en-GB" dirty="0"/>
              <a:t>In a low context culture good communication is very explicit and direct and clear. </a:t>
            </a:r>
          </a:p>
          <a:p>
            <a:r>
              <a:rPr lang="en-GB" dirty="0"/>
              <a:t>In a high context culture there is a reliance on shared meaning and symbols to interpret hidden meaning</a:t>
            </a:r>
          </a:p>
          <a:p>
            <a:endParaRPr lang="en-GB" dirty="0"/>
          </a:p>
        </p:txBody>
      </p:sp>
    </p:spTree>
    <p:extLst>
      <p:ext uri="{BB962C8B-B14F-4D97-AF65-F5344CB8AC3E}">
        <p14:creationId xmlns:p14="http://schemas.microsoft.com/office/powerpoint/2010/main" val="1089752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ABCA-C8B1-7E23-7850-3B13D61F3FEC}"/>
              </a:ext>
            </a:extLst>
          </p:cNvPr>
          <p:cNvSpPr>
            <a:spLocks noGrp="1"/>
          </p:cNvSpPr>
          <p:nvPr>
            <p:ph type="title"/>
          </p:nvPr>
        </p:nvSpPr>
        <p:spPr/>
        <p:txBody>
          <a:bodyPr/>
          <a:lstStyle/>
          <a:p>
            <a:r>
              <a:rPr lang="en-GB" sz="4400" dirty="0"/>
              <a:t>Evaluating- direct negative feedback</a:t>
            </a:r>
          </a:p>
        </p:txBody>
      </p:sp>
      <p:sp>
        <p:nvSpPr>
          <p:cNvPr id="3" name="Content Placeholder 2">
            <a:extLst>
              <a:ext uri="{FF2B5EF4-FFF2-40B4-BE49-F238E27FC236}">
                <a16:creationId xmlns:a16="http://schemas.microsoft.com/office/drawing/2014/main" id="{4E2D6D1D-AF77-7E0A-7567-EFEB216A94DB}"/>
              </a:ext>
            </a:extLst>
          </p:cNvPr>
          <p:cNvSpPr>
            <a:spLocks noGrp="1"/>
          </p:cNvSpPr>
          <p:nvPr>
            <p:ph idx="13"/>
          </p:nvPr>
        </p:nvSpPr>
        <p:spPr/>
        <p:txBody>
          <a:bodyPr/>
          <a:lstStyle/>
          <a:p>
            <a:r>
              <a:rPr lang="en-GB" dirty="0"/>
              <a:t>The scale for evaluating runs from those cultures who prefer direct negative feedback to those who would rather negative feedback was delivered in a less direct (indirect) manner </a:t>
            </a:r>
          </a:p>
        </p:txBody>
      </p:sp>
    </p:spTree>
    <p:extLst>
      <p:ext uri="{BB962C8B-B14F-4D97-AF65-F5344CB8AC3E}">
        <p14:creationId xmlns:p14="http://schemas.microsoft.com/office/powerpoint/2010/main" val="2905560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0" name="Flowchart: Document 205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7C9A8B-8723-8EBA-EDC2-8DB004C9C757}"/>
              </a:ext>
            </a:extLst>
          </p:cNvPr>
          <p:cNvSpPr>
            <a:spLocks noGrp="1"/>
          </p:cNvSpPr>
          <p:nvPr>
            <p:ph type="title"/>
          </p:nvPr>
        </p:nvSpPr>
        <p:spPr>
          <a:xfrm>
            <a:off x="838199" y="171162"/>
            <a:ext cx="3248025" cy="2720894"/>
          </a:xfrm>
        </p:spPr>
        <p:txBody>
          <a:bodyPr vert="horz" lIns="91440" tIns="45720" rIns="91440" bIns="45720" rtlCol="0" anchor="ctr">
            <a:normAutofit/>
          </a:bodyPr>
          <a:lstStyle/>
          <a:p>
            <a:pPr>
              <a:lnSpc>
                <a:spcPct val="90000"/>
              </a:lnSpc>
            </a:pPr>
            <a:r>
              <a:rPr lang="en-US" sz="3200" kern="1200" dirty="0">
                <a:solidFill>
                  <a:srgbClr val="FFFFFF"/>
                </a:solidFill>
              </a:rPr>
              <a:t>Delivering negative feedback</a:t>
            </a:r>
          </a:p>
        </p:txBody>
      </p:sp>
      <p:pic>
        <p:nvPicPr>
          <p:cNvPr id="2050" name="Picture 2" descr="Image">
            <a:extLst>
              <a:ext uri="{FF2B5EF4-FFF2-40B4-BE49-F238E27FC236}">
                <a16:creationId xmlns:a16="http://schemas.microsoft.com/office/drawing/2014/main" id="{5B6422EF-56AA-3579-9F60-826A0689B5E6}"/>
              </a:ext>
            </a:extLst>
          </p:cNvPr>
          <p:cNvPicPr>
            <a:picLocks noGrp="1" noChangeAspect="1" noChangeArrowheads="1"/>
          </p:cNvPicPr>
          <p:nvPr>
            <p:ph idx="13"/>
          </p:nvPr>
        </p:nvPicPr>
        <p:blipFill>
          <a:blip r:embed="rId3">
            <a:extLst>
              <a:ext uri="{28A0092B-C50C-407E-A947-70E740481C1C}">
                <a14:useLocalDpi xmlns:a14="http://schemas.microsoft.com/office/drawing/2010/main" val="0"/>
              </a:ext>
            </a:extLst>
          </a:blip>
          <a:stretch>
            <a:fillRect/>
          </a:stretch>
        </p:blipFill>
        <p:spPr bwMode="auto">
          <a:xfrm>
            <a:off x="4882337" y="46576"/>
            <a:ext cx="7309663" cy="679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8209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2E65-A8C5-BEF5-5983-C43BC8216CEC}"/>
              </a:ext>
            </a:extLst>
          </p:cNvPr>
          <p:cNvSpPr>
            <a:spLocks noGrp="1"/>
          </p:cNvSpPr>
          <p:nvPr>
            <p:ph type="title"/>
          </p:nvPr>
        </p:nvSpPr>
        <p:spPr/>
        <p:txBody>
          <a:bodyPr/>
          <a:lstStyle/>
          <a:p>
            <a:r>
              <a:rPr lang="en-GB" dirty="0"/>
              <a:t>Persuading</a:t>
            </a:r>
          </a:p>
        </p:txBody>
      </p:sp>
      <p:sp>
        <p:nvSpPr>
          <p:cNvPr id="3" name="Content Placeholder 2">
            <a:extLst>
              <a:ext uri="{FF2B5EF4-FFF2-40B4-BE49-F238E27FC236}">
                <a16:creationId xmlns:a16="http://schemas.microsoft.com/office/drawing/2014/main" id="{99AD8030-7AB3-C949-4313-8B80631921D6}"/>
              </a:ext>
            </a:extLst>
          </p:cNvPr>
          <p:cNvSpPr>
            <a:spLocks noGrp="1"/>
          </p:cNvSpPr>
          <p:nvPr>
            <p:ph idx="13"/>
          </p:nvPr>
        </p:nvSpPr>
        <p:spPr/>
        <p:txBody>
          <a:bodyPr/>
          <a:lstStyle/>
          <a:p>
            <a:r>
              <a:rPr lang="en-GB" dirty="0"/>
              <a:t>The persuading scale runs from specific to holistic</a:t>
            </a:r>
          </a:p>
          <a:p>
            <a:endParaRPr lang="en-GB" dirty="0"/>
          </a:p>
          <a:p>
            <a:r>
              <a:rPr lang="en-US" b="1" i="0" dirty="0">
                <a:solidFill>
                  <a:srgbClr val="242424"/>
                </a:solidFill>
                <a:effectLst/>
                <a:latin typeface="source-serif-pro"/>
              </a:rPr>
              <a:t>Principles First </a:t>
            </a:r>
            <a:r>
              <a:rPr lang="en-US" b="1" i="0" dirty="0" err="1">
                <a:solidFill>
                  <a:srgbClr val="242424"/>
                </a:solidFill>
                <a:effectLst/>
                <a:latin typeface="source-serif-pro"/>
              </a:rPr>
              <a:t>v.s</a:t>
            </a:r>
            <a:r>
              <a:rPr lang="en-US" b="1" i="0" dirty="0">
                <a:solidFill>
                  <a:srgbClr val="242424"/>
                </a:solidFill>
                <a:effectLst/>
                <a:latin typeface="source-serif-pro"/>
              </a:rPr>
              <a:t>. Applications First</a:t>
            </a:r>
            <a:endParaRPr lang="en-GB" b="1" i="0" dirty="0">
              <a:solidFill>
                <a:srgbClr val="242424"/>
              </a:solidFill>
              <a:effectLst/>
              <a:latin typeface="source-serif-pro"/>
            </a:endParaRPr>
          </a:p>
          <a:p>
            <a:pPr algn="l">
              <a:buFont typeface="Arial" panose="020B0604020202020204" pitchFamily="34" charset="0"/>
              <a:buChar char="•"/>
            </a:pPr>
            <a:r>
              <a:rPr lang="en-US" b="0" i="0" dirty="0">
                <a:solidFill>
                  <a:srgbClr val="242424"/>
                </a:solidFill>
                <a:effectLst/>
                <a:latin typeface="source-serif-pro"/>
              </a:rPr>
              <a:t>Principles first logic: deductive reasoning using theory/ concepts; the </a:t>
            </a:r>
            <a:r>
              <a:rPr lang="en-US" b="0" i="1" dirty="0">
                <a:solidFill>
                  <a:srgbClr val="242424"/>
                </a:solidFill>
                <a:effectLst/>
                <a:latin typeface="source-serif-pro"/>
              </a:rPr>
              <a:t>why</a:t>
            </a:r>
            <a:r>
              <a:rPr lang="en-US" b="0" i="0" dirty="0">
                <a:solidFill>
                  <a:srgbClr val="242424"/>
                </a:solidFill>
                <a:effectLst/>
                <a:latin typeface="source-serif-pro"/>
              </a:rPr>
              <a:t> before the</a:t>
            </a:r>
            <a:r>
              <a:rPr lang="en-US" b="0" i="1" dirty="0">
                <a:solidFill>
                  <a:srgbClr val="242424"/>
                </a:solidFill>
                <a:effectLst/>
                <a:latin typeface="source-serif-pro"/>
              </a:rPr>
              <a:t> how</a:t>
            </a:r>
            <a:endParaRPr lang="en-US" b="0" i="0" dirty="0">
              <a:solidFill>
                <a:srgbClr val="242424"/>
              </a:solidFill>
              <a:effectLst/>
              <a:latin typeface="source-serif-pro"/>
            </a:endParaRPr>
          </a:p>
          <a:p>
            <a:pPr algn="l">
              <a:buFont typeface="Arial" panose="020B0604020202020204" pitchFamily="34" charset="0"/>
              <a:buChar char="•"/>
            </a:pPr>
            <a:r>
              <a:rPr lang="en-US" b="0" i="0" dirty="0">
                <a:solidFill>
                  <a:srgbClr val="242424"/>
                </a:solidFill>
                <a:effectLst/>
                <a:latin typeface="source-serif-pro"/>
              </a:rPr>
              <a:t>Applications first logic: inductive reasoning using empirical data; problem solving by extrapolation; the </a:t>
            </a:r>
            <a:r>
              <a:rPr lang="en-US" b="0" i="1" dirty="0">
                <a:solidFill>
                  <a:srgbClr val="242424"/>
                </a:solidFill>
                <a:effectLst/>
                <a:latin typeface="source-serif-pro"/>
              </a:rPr>
              <a:t>how</a:t>
            </a:r>
            <a:r>
              <a:rPr lang="en-US" b="0" i="0" dirty="0">
                <a:solidFill>
                  <a:srgbClr val="242424"/>
                </a:solidFill>
                <a:effectLst/>
                <a:latin typeface="source-serif-pro"/>
              </a:rPr>
              <a:t> rather than the </a:t>
            </a:r>
            <a:r>
              <a:rPr lang="en-US" b="0" i="1" dirty="0">
                <a:solidFill>
                  <a:srgbClr val="242424"/>
                </a:solidFill>
                <a:effectLst/>
                <a:latin typeface="source-serif-pro"/>
              </a:rPr>
              <a:t>why</a:t>
            </a:r>
            <a:endParaRPr lang="en-US" b="0" i="0" dirty="0">
              <a:solidFill>
                <a:srgbClr val="242424"/>
              </a:solidFill>
              <a:effectLst/>
              <a:latin typeface="source-serif-pro"/>
            </a:endParaRPr>
          </a:p>
          <a:p>
            <a:endParaRPr lang="en-GB" dirty="0"/>
          </a:p>
        </p:txBody>
      </p:sp>
    </p:spTree>
    <p:extLst>
      <p:ext uri="{BB962C8B-B14F-4D97-AF65-F5344CB8AC3E}">
        <p14:creationId xmlns:p14="http://schemas.microsoft.com/office/powerpoint/2010/main" val="10155444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22E1-080F-2221-D26E-49A364DB4BD1}"/>
              </a:ext>
            </a:extLst>
          </p:cNvPr>
          <p:cNvSpPr>
            <a:spLocks noGrp="1"/>
          </p:cNvSpPr>
          <p:nvPr>
            <p:ph type="title"/>
          </p:nvPr>
        </p:nvSpPr>
        <p:spPr/>
        <p:txBody>
          <a:bodyPr/>
          <a:lstStyle/>
          <a:p>
            <a:r>
              <a:rPr lang="en-GB" dirty="0"/>
              <a:t>Leading</a:t>
            </a:r>
          </a:p>
        </p:txBody>
      </p:sp>
      <p:sp>
        <p:nvSpPr>
          <p:cNvPr id="3" name="Content Placeholder 2">
            <a:extLst>
              <a:ext uri="{FF2B5EF4-FFF2-40B4-BE49-F238E27FC236}">
                <a16:creationId xmlns:a16="http://schemas.microsoft.com/office/drawing/2014/main" id="{6AD8C9E6-DAAF-96D8-D534-07C6CAB9D71E}"/>
              </a:ext>
            </a:extLst>
          </p:cNvPr>
          <p:cNvSpPr>
            <a:spLocks noGrp="1"/>
          </p:cNvSpPr>
          <p:nvPr>
            <p:ph idx="13"/>
          </p:nvPr>
        </p:nvSpPr>
        <p:spPr/>
        <p:txBody>
          <a:bodyPr/>
          <a:lstStyle/>
          <a:p>
            <a:r>
              <a:rPr lang="en-GB" dirty="0"/>
              <a:t>The Leading scale runs from egalitarian to hierarchical</a:t>
            </a:r>
          </a:p>
          <a:p>
            <a:endParaRPr lang="en-GB" dirty="0"/>
          </a:p>
          <a:p>
            <a:r>
              <a:rPr lang="en-GB" dirty="0"/>
              <a:t>Are there many layers in the organisation?</a:t>
            </a:r>
          </a:p>
          <a:p>
            <a:r>
              <a:rPr lang="en-GB" dirty="0"/>
              <a:t>Is it a flat organisations?</a:t>
            </a:r>
          </a:p>
          <a:p>
            <a:r>
              <a:rPr lang="en-GB" dirty="0"/>
              <a:t>How easy is it to talk to your manager/next manager up?</a:t>
            </a:r>
          </a:p>
          <a:p>
            <a:r>
              <a:rPr lang="en-GB" dirty="0"/>
              <a:t>Hofstede- Power/Distance</a:t>
            </a:r>
          </a:p>
        </p:txBody>
      </p:sp>
    </p:spTree>
    <p:extLst>
      <p:ext uri="{BB962C8B-B14F-4D97-AF65-F5344CB8AC3E}">
        <p14:creationId xmlns:p14="http://schemas.microsoft.com/office/powerpoint/2010/main" val="2744857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08A6B-F7DE-EFD7-CB9C-CF4B4307D531}"/>
              </a:ext>
            </a:extLst>
          </p:cNvPr>
          <p:cNvSpPr>
            <a:spLocks noGrp="1"/>
          </p:cNvSpPr>
          <p:nvPr>
            <p:ph type="title"/>
          </p:nvPr>
        </p:nvSpPr>
        <p:spPr/>
        <p:txBody>
          <a:bodyPr/>
          <a:lstStyle/>
          <a:p>
            <a:r>
              <a:rPr lang="en-GB" dirty="0"/>
              <a:t>Deciding</a:t>
            </a:r>
          </a:p>
        </p:txBody>
      </p:sp>
      <p:sp>
        <p:nvSpPr>
          <p:cNvPr id="3" name="Content Placeholder 2">
            <a:extLst>
              <a:ext uri="{FF2B5EF4-FFF2-40B4-BE49-F238E27FC236}">
                <a16:creationId xmlns:a16="http://schemas.microsoft.com/office/drawing/2014/main" id="{50A05E11-5A55-4432-EA6A-D4D7910B987B}"/>
              </a:ext>
            </a:extLst>
          </p:cNvPr>
          <p:cNvSpPr>
            <a:spLocks noGrp="1"/>
          </p:cNvSpPr>
          <p:nvPr>
            <p:ph idx="13"/>
          </p:nvPr>
        </p:nvSpPr>
        <p:spPr/>
        <p:txBody>
          <a:bodyPr/>
          <a:lstStyle/>
          <a:p>
            <a:r>
              <a:rPr lang="en-GB" dirty="0">
                <a:latin typeface="+mn-lt"/>
              </a:rPr>
              <a:t>The deciding scale runs from consensual to top down.</a:t>
            </a:r>
          </a:p>
          <a:p>
            <a:endParaRPr lang="en-GB" dirty="0">
              <a:latin typeface="+mn-lt"/>
            </a:endParaRPr>
          </a:p>
          <a:p>
            <a:r>
              <a:rPr lang="en-GB" dirty="0">
                <a:latin typeface="+mn-lt"/>
              </a:rPr>
              <a:t>Is everyone involved in making decisions or does the boss make the decision and everyone accepts it.</a:t>
            </a:r>
          </a:p>
          <a:p>
            <a:pPr algn="l"/>
            <a:r>
              <a:rPr lang="en-US" b="0" i="0" dirty="0">
                <a:solidFill>
                  <a:srgbClr val="242424"/>
                </a:solidFill>
                <a:effectLst/>
                <a:latin typeface="+mn-lt"/>
              </a:rPr>
              <a:t>Most cultures have a similar position on the Leading and Deciding scales.</a:t>
            </a:r>
            <a:br>
              <a:rPr lang="en-US" b="0" i="0" dirty="0">
                <a:solidFill>
                  <a:srgbClr val="242424"/>
                </a:solidFill>
                <a:effectLst/>
                <a:latin typeface="source-serif-pro"/>
              </a:rPr>
            </a:br>
            <a:endParaRPr lang="en-GB" dirty="0"/>
          </a:p>
        </p:txBody>
      </p:sp>
    </p:spTree>
    <p:extLst>
      <p:ext uri="{BB962C8B-B14F-4D97-AF65-F5344CB8AC3E}">
        <p14:creationId xmlns:p14="http://schemas.microsoft.com/office/powerpoint/2010/main" val="2888957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2BAB5-CA4F-553B-0899-BB0F267ED8AA}"/>
              </a:ext>
            </a:extLst>
          </p:cNvPr>
          <p:cNvSpPr>
            <a:spLocks noGrp="1"/>
          </p:cNvSpPr>
          <p:nvPr>
            <p:ph type="title"/>
          </p:nvPr>
        </p:nvSpPr>
        <p:spPr/>
        <p:txBody>
          <a:bodyPr/>
          <a:lstStyle/>
          <a:p>
            <a:r>
              <a:rPr lang="en-GB" dirty="0"/>
              <a:t>Trusting</a:t>
            </a:r>
          </a:p>
        </p:txBody>
      </p:sp>
      <p:sp>
        <p:nvSpPr>
          <p:cNvPr id="3" name="Content Placeholder 2">
            <a:extLst>
              <a:ext uri="{FF2B5EF4-FFF2-40B4-BE49-F238E27FC236}">
                <a16:creationId xmlns:a16="http://schemas.microsoft.com/office/drawing/2014/main" id="{06C5C215-E126-D7C0-1392-466750799608}"/>
              </a:ext>
            </a:extLst>
          </p:cNvPr>
          <p:cNvSpPr>
            <a:spLocks noGrp="1"/>
          </p:cNvSpPr>
          <p:nvPr>
            <p:ph idx="13"/>
          </p:nvPr>
        </p:nvSpPr>
        <p:spPr/>
        <p:txBody>
          <a:bodyPr/>
          <a:lstStyle/>
          <a:p>
            <a:r>
              <a:rPr lang="en-GB" dirty="0"/>
              <a:t>The trusting scale runs from task based to relationship based.</a:t>
            </a:r>
          </a:p>
          <a:p>
            <a:r>
              <a:rPr lang="en-US" b="0" i="0" dirty="0">
                <a:solidFill>
                  <a:srgbClr val="242424"/>
                </a:solidFill>
                <a:effectLst/>
                <a:latin typeface="+mn-lt"/>
              </a:rPr>
              <a:t>Head </a:t>
            </a:r>
            <a:r>
              <a:rPr lang="en-US" b="0" i="0" dirty="0" err="1">
                <a:solidFill>
                  <a:srgbClr val="242424"/>
                </a:solidFill>
                <a:effectLst/>
                <a:latin typeface="+mn-lt"/>
              </a:rPr>
              <a:t>v.s</a:t>
            </a:r>
            <a:r>
              <a:rPr lang="en-US" b="0" i="0" dirty="0">
                <a:solidFill>
                  <a:srgbClr val="242424"/>
                </a:solidFill>
                <a:effectLst/>
                <a:latin typeface="+mn-lt"/>
              </a:rPr>
              <a:t>. the Heart; </a:t>
            </a:r>
          </a:p>
          <a:p>
            <a:r>
              <a:rPr lang="en-US" b="0" i="0" dirty="0">
                <a:solidFill>
                  <a:srgbClr val="242424"/>
                </a:solidFill>
                <a:effectLst/>
                <a:latin typeface="+mn-lt"/>
              </a:rPr>
              <a:t>Trust in ability </a:t>
            </a:r>
            <a:r>
              <a:rPr lang="en-US" b="0" i="0" dirty="0" err="1">
                <a:solidFill>
                  <a:srgbClr val="242424"/>
                </a:solidFill>
                <a:effectLst/>
                <a:latin typeface="+mn-lt"/>
              </a:rPr>
              <a:t>v.s</a:t>
            </a:r>
            <a:r>
              <a:rPr lang="en-US" b="0" i="0" dirty="0">
                <a:solidFill>
                  <a:srgbClr val="242424"/>
                </a:solidFill>
                <a:effectLst/>
                <a:latin typeface="+mn-lt"/>
              </a:rPr>
              <a:t>. Trust in emotional closeness</a:t>
            </a:r>
          </a:p>
          <a:p>
            <a:endParaRPr lang="en-GB" dirty="0"/>
          </a:p>
          <a:p>
            <a:endParaRPr lang="en-GB" dirty="0"/>
          </a:p>
        </p:txBody>
      </p:sp>
    </p:spTree>
    <p:extLst>
      <p:ext uri="{BB962C8B-B14F-4D97-AF65-F5344CB8AC3E}">
        <p14:creationId xmlns:p14="http://schemas.microsoft.com/office/powerpoint/2010/main" val="23102331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D0670-5F93-F270-268E-BAE2A09BADD4}"/>
              </a:ext>
            </a:extLst>
          </p:cNvPr>
          <p:cNvSpPr>
            <a:spLocks noGrp="1"/>
          </p:cNvSpPr>
          <p:nvPr>
            <p:ph type="title"/>
          </p:nvPr>
        </p:nvSpPr>
        <p:spPr/>
        <p:txBody>
          <a:bodyPr/>
          <a:lstStyle/>
          <a:p>
            <a:r>
              <a:rPr lang="en-GB" dirty="0"/>
              <a:t>Disagreeing</a:t>
            </a:r>
          </a:p>
        </p:txBody>
      </p:sp>
      <p:sp>
        <p:nvSpPr>
          <p:cNvPr id="3" name="Content Placeholder 2">
            <a:extLst>
              <a:ext uri="{FF2B5EF4-FFF2-40B4-BE49-F238E27FC236}">
                <a16:creationId xmlns:a16="http://schemas.microsoft.com/office/drawing/2014/main" id="{CDBAA7E3-5C2E-C81B-8280-113369B8C069}"/>
              </a:ext>
            </a:extLst>
          </p:cNvPr>
          <p:cNvSpPr>
            <a:spLocks noGrp="1"/>
          </p:cNvSpPr>
          <p:nvPr>
            <p:ph idx="13"/>
          </p:nvPr>
        </p:nvSpPr>
        <p:spPr/>
        <p:txBody>
          <a:bodyPr/>
          <a:lstStyle/>
          <a:p>
            <a:r>
              <a:rPr lang="en-GB" dirty="0"/>
              <a:t>The disagreeing scale runs from confrontational to avoids confrontation</a:t>
            </a:r>
          </a:p>
          <a:p>
            <a:r>
              <a:rPr lang="en-GB" dirty="0"/>
              <a:t>Is a disagreement seen as a spirited debate or personal attack?</a:t>
            </a:r>
          </a:p>
        </p:txBody>
      </p:sp>
    </p:spTree>
    <p:extLst>
      <p:ext uri="{BB962C8B-B14F-4D97-AF65-F5344CB8AC3E}">
        <p14:creationId xmlns:p14="http://schemas.microsoft.com/office/powerpoint/2010/main" val="2120469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2AE7-DF7D-EF97-344D-5CC19716F7D3}"/>
              </a:ext>
            </a:extLst>
          </p:cNvPr>
          <p:cNvSpPr>
            <a:spLocks noGrp="1"/>
          </p:cNvSpPr>
          <p:nvPr>
            <p:ph type="title"/>
          </p:nvPr>
        </p:nvSpPr>
        <p:spPr/>
        <p:txBody>
          <a:bodyPr/>
          <a:lstStyle/>
          <a:p>
            <a:r>
              <a:rPr lang="en-GB" dirty="0"/>
              <a:t>Scheduling</a:t>
            </a:r>
          </a:p>
        </p:txBody>
      </p:sp>
      <p:sp>
        <p:nvSpPr>
          <p:cNvPr id="3" name="Content Placeholder 2">
            <a:extLst>
              <a:ext uri="{FF2B5EF4-FFF2-40B4-BE49-F238E27FC236}">
                <a16:creationId xmlns:a16="http://schemas.microsoft.com/office/drawing/2014/main" id="{E8541663-E310-2DD8-6F35-89321BD8CAE0}"/>
              </a:ext>
            </a:extLst>
          </p:cNvPr>
          <p:cNvSpPr>
            <a:spLocks noGrp="1"/>
          </p:cNvSpPr>
          <p:nvPr>
            <p:ph idx="13"/>
          </p:nvPr>
        </p:nvSpPr>
        <p:spPr/>
        <p:txBody>
          <a:bodyPr/>
          <a:lstStyle/>
          <a:p>
            <a:r>
              <a:rPr lang="en-GB" dirty="0"/>
              <a:t>The scheduling scale runs from linear time to flexible time</a:t>
            </a:r>
          </a:p>
          <a:p>
            <a:endParaRPr lang="en-GB" dirty="0"/>
          </a:p>
          <a:p>
            <a:r>
              <a:rPr lang="en-GB" dirty="0"/>
              <a:t>Germany very linear </a:t>
            </a:r>
          </a:p>
          <a:p>
            <a:endParaRPr lang="en-GB" dirty="0"/>
          </a:p>
          <a:p>
            <a:r>
              <a:rPr lang="en-GB" dirty="0"/>
              <a:t>Builds on the work of Edward T. Hall</a:t>
            </a:r>
          </a:p>
          <a:p>
            <a:r>
              <a:rPr lang="en-US" dirty="0">
                <a:solidFill>
                  <a:srgbClr val="040C28"/>
                </a:solidFill>
                <a:latin typeface="+mj-lt"/>
              </a:rPr>
              <a:t>In </a:t>
            </a:r>
            <a:r>
              <a:rPr lang="en-US" b="0" i="0" dirty="0">
                <a:solidFill>
                  <a:srgbClr val="040C28"/>
                </a:solidFill>
                <a:effectLst/>
                <a:latin typeface="+mj-lt"/>
              </a:rPr>
              <a:t>The Silent Language (1959)</a:t>
            </a:r>
            <a:r>
              <a:rPr lang="en-US" b="0" i="0" dirty="0">
                <a:solidFill>
                  <a:srgbClr val="202124"/>
                </a:solidFill>
                <a:effectLst/>
                <a:latin typeface="+mj-lt"/>
              </a:rPr>
              <a:t>, Hall coined the term "polychronic" to describe the ability to attend to multiple events simultaneously, as opposed to "monochronic" individuals and cultures who tend to handle events sequentially.</a:t>
            </a:r>
            <a:endParaRPr lang="en-GB" dirty="0">
              <a:latin typeface="+mj-lt"/>
            </a:endParaRPr>
          </a:p>
        </p:txBody>
      </p:sp>
    </p:spTree>
    <p:extLst>
      <p:ext uri="{BB962C8B-B14F-4D97-AF65-F5344CB8AC3E}">
        <p14:creationId xmlns:p14="http://schemas.microsoft.com/office/powerpoint/2010/main" val="11010019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latin typeface="Impact" panose="020B0806030902050204" pitchFamily="34" charset="0"/>
              </a:rPr>
              <a:t>Guidelines for culturally diverse teams</a:t>
            </a:r>
            <a:endParaRPr lang="en-US" dirty="0">
              <a:latin typeface="Impact" panose="020B0806030902050204" pitchFamily="34" charset="0"/>
            </a:endParaRPr>
          </a:p>
        </p:txBody>
      </p:sp>
      <p:sp>
        <p:nvSpPr>
          <p:cNvPr id="3" name="Content Placeholder 2"/>
          <p:cNvSpPr>
            <a:spLocks noGrp="1"/>
          </p:cNvSpPr>
          <p:nvPr>
            <p:ph idx="13"/>
          </p:nvPr>
        </p:nvSpPr>
        <p:spPr/>
        <p:txBody>
          <a:bodyPr>
            <a:normAutofit lnSpcReduction="10000"/>
          </a:bodyPr>
          <a:lstStyle/>
          <a:p>
            <a:r>
              <a:rPr lang="en-GB" dirty="0"/>
              <a:t>Team members must recognize and be prepared to deal with their differences</a:t>
            </a:r>
          </a:p>
          <a:p>
            <a:pPr lvl="1"/>
            <a:r>
              <a:rPr lang="en-GB" dirty="0"/>
              <a:t>Become aware of own and others stereotypes</a:t>
            </a:r>
          </a:p>
          <a:p>
            <a:r>
              <a:rPr lang="en-GB" dirty="0"/>
              <a:t>Team leader must help team to identify and define overall goal</a:t>
            </a:r>
          </a:p>
          <a:p>
            <a:r>
              <a:rPr lang="en-GB" dirty="0"/>
              <a:t>Members must have equal power</a:t>
            </a:r>
          </a:p>
          <a:p>
            <a:r>
              <a:rPr lang="en-GB" dirty="0"/>
              <a:t>Mutual respect among team members</a:t>
            </a:r>
          </a:p>
          <a:p>
            <a:pPr lvl="1"/>
            <a:r>
              <a:rPr lang="en-GB" dirty="0"/>
              <a:t>Manager to chose members of equal ability and makes prior accomplishments and skills known to the team</a:t>
            </a:r>
          </a:p>
          <a:p>
            <a:r>
              <a:rPr lang="en-GB" dirty="0"/>
              <a:t>Manager must give feedback to help team establish idea of what is good or bad</a:t>
            </a:r>
          </a:p>
        </p:txBody>
      </p:sp>
      <p:sp>
        <p:nvSpPr>
          <p:cNvPr id="4" name="Title 1">
            <a:extLst>
              <a:ext uri="{FF2B5EF4-FFF2-40B4-BE49-F238E27FC236}">
                <a16:creationId xmlns:a16="http://schemas.microsoft.com/office/drawing/2014/main" id="{F8BA00F2-859C-4D01-B24D-729480EA87CA}"/>
              </a:ext>
            </a:extLst>
          </p:cNvPr>
          <p:cNvSpPr txBox="1">
            <a:spLocks/>
          </p:cNvSpPr>
          <p:nvPr/>
        </p:nvSpPr>
        <p:spPr>
          <a:xfrm>
            <a:off x="2251674" y="6336320"/>
            <a:ext cx="8229600" cy="3420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en-US" sz="1400" dirty="0"/>
              <a:t>McFarlin, D. and Sweeney, P. (2013) International Organizational </a:t>
            </a:r>
            <a:r>
              <a:rPr lang="en-US" sz="1400" dirty="0" err="1"/>
              <a:t>Behaviour</a:t>
            </a:r>
            <a:endParaRPr lang="en-US" sz="1400" dirty="0"/>
          </a:p>
        </p:txBody>
      </p:sp>
    </p:spTree>
    <p:extLst>
      <p:ext uri="{BB962C8B-B14F-4D97-AF65-F5344CB8AC3E}">
        <p14:creationId xmlns:p14="http://schemas.microsoft.com/office/powerpoint/2010/main" val="6908376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McFarlin, D. and Sweeney, P. (2013) International Organizational Behaviour</a:t>
            </a:r>
          </a:p>
        </p:txBody>
      </p:sp>
      <p:pic>
        <p:nvPicPr>
          <p:cNvPr id="3" name="Content Placeholder 6">
            <a:extLst>
              <a:ext uri="{FF2B5EF4-FFF2-40B4-BE49-F238E27FC236}">
                <a16:creationId xmlns:a16="http://schemas.microsoft.com/office/drawing/2014/main" id="{38752F41-D039-DA26-6044-361873A419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029587" y="17722"/>
            <a:ext cx="6155864" cy="6839850"/>
          </a:xfrm>
          <a:prstGeom prst="rect">
            <a:avLst/>
          </a:prstGeom>
        </p:spPr>
      </p:pic>
    </p:spTree>
    <p:extLst>
      <p:ext uri="{BB962C8B-B14F-4D97-AF65-F5344CB8AC3E}">
        <p14:creationId xmlns:p14="http://schemas.microsoft.com/office/powerpoint/2010/main" val="2198736560"/>
      </p:ext>
    </p:extLst>
  </p:cSld>
  <p:clrMapOvr>
    <a:masterClrMapping/>
  </p:clrMapOvr>
  <p:transition spd="med">
    <p:cut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Impact" panose="020B0806030902050204" pitchFamily="34" charset="0"/>
              </a:rPr>
              <a:t>Practical implications</a:t>
            </a:r>
          </a:p>
        </p:txBody>
      </p:sp>
      <p:sp>
        <p:nvSpPr>
          <p:cNvPr id="3" name="Content Placeholder 2"/>
          <p:cNvSpPr>
            <a:spLocks noGrp="1"/>
          </p:cNvSpPr>
          <p:nvPr>
            <p:ph idx="14"/>
          </p:nvPr>
        </p:nvSpPr>
        <p:spPr/>
        <p:txBody>
          <a:bodyPr>
            <a:noAutofit/>
          </a:bodyPr>
          <a:lstStyle/>
          <a:p>
            <a:pPr marL="0" indent="0" algn="just">
              <a:buNone/>
            </a:pPr>
            <a:r>
              <a:rPr lang="en-GB" sz="2000" dirty="0"/>
              <a:t>Limiting diversity can lead to missing out on valuable employees, may also cause organizations to pass up on the competitive advantage cultural diversity they may hold, etc.</a:t>
            </a:r>
          </a:p>
          <a:p>
            <a:pPr marL="0" indent="0" algn="just">
              <a:buNone/>
            </a:pPr>
            <a:endParaRPr lang="en-GB" sz="2000" dirty="0"/>
          </a:p>
          <a:p>
            <a:pPr marL="0" indent="0" algn="just">
              <a:buNone/>
            </a:pPr>
            <a:r>
              <a:rPr lang="en-GB" sz="2000" dirty="0"/>
              <a:t>Cultural diversity  is argued to be more positively related to performance when a team has a shared superordinate identity or sees itself as separate individuals.</a:t>
            </a:r>
          </a:p>
          <a:p>
            <a:pPr marL="0" indent="0" algn="just">
              <a:buNone/>
            </a:pPr>
            <a:endParaRPr lang="en-GB" sz="2000" dirty="0"/>
          </a:p>
          <a:p>
            <a:pPr marL="0" indent="0">
              <a:buNone/>
            </a:pPr>
            <a:r>
              <a:rPr lang="en-GB" sz="2000" dirty="0"/>
              <a:t>However, these may be difficult to apply, induce identity threat, negate the positive effects of cultural diversity, etc.</a:t>
            </a:r>
          </a:p>
          <a:p>
            <a:pPr marL="0" indent="0">
              <a:buNone/>
            </a:pPr>
            <a:endParaRPr lang="en-GB" sz="2000" dirty="0"/>
          </a:p>
          <a:p>
            <a:pPr marL="0" indent="0">
              <a:buNone/>
            </a:pPr>
            <a:r>
              <a:rPr lang="en-GB" sz="2000" dirty="0"/>
              <a:t>To address the problems create an environment where employees feel secure and mistakes are seen as learning opportunities and reason for punishment.</a:t>
            </a:r>
          </a:p>
          <a:p>
            <a:pPr marL="0" indent="0">
              <a:buNone/>
            </a:pPr>
            <a:endParaRPr lang="en-GB" sz="2000" dirty="0"/>
          </a:p>
          <a:p>
            <a:pPr marL="0" indent="0">
              <a:buNone/>
            </a:pPr>
            <a:r>
              <a:rPr lang="en-GB" sz="2000" dirty="0"/>
              <a:t>Could be achieved by appropriate training and compensation and feedback system. </a:t>
            </a:r>
          </a:p>
        </p:txBody>
      </p:sp>
      <p:sp>
        <p:nvSpPr>
          <p:cNvPr id="4" name="Title 1">
            <a:extLst>
              <a:ext uri="{FF2B5EF4-FFF2-40B4-BE49-F238E27FC236}">
                <a16:creationId xmlns:a16="http://schemas.microsoft.com/office/drawing/2014/main" id="{F8BA00F2-859C-4D01-B24D-729480EA87CA}"/>
              </a:ext>
            </a:extLst>
          </p:cNvPr>
          <p:cNvSpPr txBox="1">
            <a:spLocks/>
          </p:cNvSpPr>
          <p:nvPr/>
        </p:nvSpPr>
        <p:spPr>
          <a:xfrm>
            <a:off x="2251674" y="6336320"/>
            <a:ext cx="8229600" cy="34203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en-US" sz="1400" dirty="0"/>
              <a:t>Erin Meyer Harvard Business Review May 2014</a:t>
            </a:r>
          </a:p>
        </p:txBody>
      </p:sp>
    </p:spTree>
    <p:extLst>
      <p:ext uri="{BB962C8B-B14F-4D97-AF65-F5344CB8AC3E}">
        <p14:creationId xmlns:p14="http://schemas.microsoft.com/office/powerpoint/2010/main" val="22610859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5088-3436-4D6A-A9E9-116D22D2ACB6}"/>
              </a:ext>
            </a:extLst>
          </p:cNvPr>
          <p:cNvSpPr>
            <a:spLocks noGrp="1"/>
          </p:cNvSpPr>
          <p:nvPr>
            <p:ph type="title"/>
          </p:nvPr>
        </p:nvSpPr>
        <p:spPr/>
        <p:txBody>
          <a:bodyPr>
            <a:normAutofit fontScale="90000"/>
          </a:bodyPr>
          <a:lstStyle/>
          <a:p>
            <a:pPr algn="ctr"/>
            <a:r>
              <a:rPr lang="en-GB" dirty="0"/>
              <a:t>LEADERSHIP IN MULTICULTURAL TEAMS</a:t>
            </a:r>
          </a:p>
        </p:txBody>
      </p:sp>
      <p:sp>
        <p:nvSpPr>
          <p:cNvPr id="3" name="Text Placeholder 2">
            <a:extLst>
              <a:ext uri="{FF2B5EF4-FFF2-40B4-BE49-F238E27FC236}">
                <a16:creationId xmlns:a16="http://schemas.microsoft.com/office/drawing/2014/main" id="{194C464C-2589-4304-A8F5-CE969E584F56}"/>
              </a:ext>
            </a:extLst>
          </p:cNvPr>
          <p:cNvSpPr>
            <a:spLocks noGrp="1"/>
          </p:cNvSpPr>
          <p:nvPr>
            <p:ph idx="13"/>
          </p:nvPr>
        </p:nvSpPr>
        <p:spPr/>
        <p:txBody>
          <a:bodyPr>
            <a:normAutofit/>
          </a:bodyPr>
          <a:lstStyle/>
          <a:p>
            <a:r>
              <a:rPr lang="en-GB" dirty="0"/>
              <a:t>Multicultural – Team that has individuals from 3 or more ethnic backgrounds</a:t>
            </a:r>
          </a:p>
          <a:p>
            <a:endParaRPr lang="en-GB" dirty="0"/>
          </a:p>
          <a:p>
            <a:r>
              <a:rPr lang="en-GB" dirty="0"/>
              <a:t>Data collected from expatriate senior managers working in Thailand. The results show that the majority of expatriate executives make adjustments to their leadership approach (Tsai et al., 2019).</a:t>
            </a:r>
          </a:p>
          <a:p>
            <a:endParaRPr lang="en-GB" dirty="0"/>
          </a:p>
          <a:p>
            <a:r>
              <a:rPr lang="en-GB" dirty="0"/>
              <a:t>Most expatriate leaders used the exploration mode of adjustment, under which both they and subordinates made substantial behavioural adaptations (Rao‐Nicholson et al., 2020)</a:t>
            </a:r>
          </a:p>
          <a:p>
            <a:endParaRPr lang="en-GB" dirty="0"/>
          </a:p>
          <a:p>
            <a:endParaRPr lang="en-GB" dirty="0"/>
          </a:p>
        </p:txBody>
      </p:sp>
    </p:spTree>
    <p:extLst>
      <p:ext uri="{BB962C8B-B14F-4D97-AF65-F5344CB8AC3E}">
        <p14:creationId xmlns:p14="http://schemas.microsoft.com/office/powerpoint/2010/main" val="3758926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3879-58AD-81CE-AFA6-73A692A6E944}"/>
              </a:ext>
            </a:extLst>
          </p:cNvPr>
          <p:cNvSpPr>
            <a:spLocks noGrp="1"/>
          </p:cNvSpPr>
          <p:nvPr>
            <p:ph type="title"/>
          </p:nvPr>
        </p:nvSpPr>
        <p:spPr/>
        <p:txBody>
          <a:bodyPr/>
          <a:lstStyle/>
          <a:p>
            <a:r>
              <a:rPr lang="en-GB" dirty="0"/>
              <a:t>Tips for effective teamwork</a:t>
            </a:r>
          </a:p>
        </p:txBody>
      </p:sp>
      <p:sp>
        <p:nvSpPr>
          <p:cNvPr id="3" name="Content Placeholder 2">
            <a:extLst>
              <a:ext uri="{FF2B5EF4-FFF2-40B4-BE49-F238E27FC236}">
                <a16:creationId xmlns:a16="http://schemas.microsoft.com/office/drawing/2014/main" id="{71D77745-6BF9-8B57-2FDA-34ACE16D4819}"/>
              </a:ext>
            </a:extLst>
          </p:cNvPr>
          <p:cNvSpPr>
            <a:spLocks noGrp="1"/>
          </p:cNvSpPr>
          <p:nvPr>
            <p:ph idx="14"/>
          </p:nvPr>
        </p:nvSpPr>
        <p:spPr/>
        <p:txBody>
          <a:bodyPr/>
          <a:lstStyle/>
          <a:p>
            <a:pPr marL="457200" indent="-457200">
              <a:buFont typeface="Arial" panose="020B0604020202020204" pitchFamily="34" charset="0"/>
              <a:buChar char="•"/>
            </a:pPr>
            <a:r>
              <a:rPr lang="en-GB" dirty="0"/>
              <a:t>Support</a:t>
            </a:r>
          </a:p>
          <a:p>
            <a:pPr marL="457200" indent="-457200">
              <a:buFont typeface="Arial" panose="020B0604020202020204" pitchFamily="34" charset="0"/>
              <a:buChar char="•"/>
            </a:pPr>
            <a:r>
              <a:rPr lang="en-GB" dirty="0"/>
              <a:t>Encourage</a:t>
            </a:r>
          </a:p>
          <a:p>
            <a:pPr marL="457200" indent="-457200">
              <a:buFont typeface="Arial" panose="020B0604020202020204" pitchFamily="34" charset="0"/>
              <a:buChar char="•"/>
            </a:pPr>
            <a:r>
              <a:rPr lang="en-GB" dirty="0"/>
              <a:t>Collaborate</a:t>
            </a:r>
          </a:p>
          <a:p>
            <a:pPr marL="457200" indent="-457200">
              <a:buFont typeface="Arial" panose="020B0604020202020204" pitchFamily="34" charset="0"/>
              <a:buChar char="•"/>
            </a:pPr>
            <a:r>
              <a:rPr lang="en-GB" dirty="0"/>
              <a:t>Co-operate</a:t>
            </a:r>
          </a:p>
          <a:p>
            <a:pPr marL="457200" indent="-457200">
              <a:buFont typeface="Arial" panose="020B0604020202020204" pitchFamily="34" charset="0"/>
              <a:buChar char="•"/>
            </a:pPr>
            <a:r>
              <a:rPr lang="en-GB" dirty="0"/>
              <a:t>Be positive</a:t>
            </a:r>
          </a:p>
          <a:p>
            <a:pPr marL="457200" indent="-457200">
              <a:buFont typeface="Arial" panose="020B0604020202020204" pitchFamily="34" charset="0"/>
              <a:buChar char="•"/>
            </a:pPr>
            <a:r>
              <a:rPr lang="en-GB" dirty="0"/>
              <a:t>Offer constructive criticism</a:t>
            </a:r>
          </a:p>
          <a:p>
            <a:pPr marL="457200" indent="-457200">
              <a:buFont typeface="Arial" panose="020B0604020202020204" pitchFamily="34" charset="0"/>
              <a:buChar char="•"/>
            </a:pPr>
            <a:r>
              <a:rPr lang="en-GB" dirty="0"/>
              <a:t>Receive criticism</a:t>
            </a:r>
          </a:p>
          <a:p>
            <a:endParaRPr lang="en-GB" dirty="0"/>
          </a:p>
        </p:txBody>
      </p:sp>
    </p:spTree>
    <p:extLst>
      <p:ext uri="{BB962C8B-B14F-4D97-AF65-F5344CB8AC3E}">
        <p14:creationId xmlns:p14="http://schemas.microsoft.com/office/powerpoint/2010/main" val="14508441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 name="Freeform: Shape 103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1" name="Isosceles Triangle 104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eamwork">
            <a:extLst>
              <a:ext uri="{FF2B5EF4-FFF2-40B4-BE49-F238E27FC236}">
                <a16:creationId xmlns:a16="http://schemas.microsoft.com/office/drawing/2014/main" id="{13303EEE-CA68-E071-9191-9054F68FB11B}"/>
              </a:ext>
            </a:extLst>
          </p:cNvPr>
          <p:cNvPicPr>
            <a:picLocks noGrp="1" noChangeAspect="1" noChangeArrowheads="1"/>
          </p:cNvPicPr>
          <p:nvPr>
            <p:ph idx="13"/>
          </p:nvPr>
        </p:nvPicPr>
        <p:blipFill>
          <a:blip r:embed="rId3">
            <a:extLst>
              <a:ext uri="{28A0092B-C50C-407E-A947-70E740481C1C}">
                <a14:useLocalDpi xmlns:a14="http://schemas.microsoft.com/office/drawing/2010/main" val="0"/>
              </a:ext>
            </a:extLst>
          </a:blip>
          <a:stretch>
            <a:fillRect/>
          </a:stretch>
        </p:blipFill>
        <p:spPr bwMode="auto">
          <a:xfrm>
            <a:off x="-1" y="-1"/>
            <a:ext cx="12192001" cy="68580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43" name="Isosceles Triangle 104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4626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A609-9A9E-7464-765E-2CC667E8DA35}"/>
              </a:ext>
            </a:extLst>
          </p:cNvPr>
          <p:cNvSpPr>
            <a:spLocks noGrp="1"/>
          </p:cNvSpPr>
          <p:nvPr>
            <p:ph type="title"/>
          </p:nvPr>
        </p:nvSpPr>
        <p:spPr/>
        <p:txBody>
          <a:bodyPr/>
          <a:lstStyle/>
          <a:p>
            <a:r>
              <a:rPr lang="en-GB" sz="3600" dirty="0"/>
              <a:t>What theories can we use to organise our discussion on teamwork?</a:t>
            </a:r>
          </a:p>
        </p:txBody>
      </p:sp>
      <p:sp>
        <p:nvSpPr>
          <p:cNvPr id="6" name="Picture Placeholder 5">
            <a:extLst>
              <a:ext uri="{FF2B5EF4-FFF2-40B4-BE49-F238E27FC236}">
                <a16:creationId xmlns:a16="http://schemas.microsoft.com/office/drawing/2014/main" id="{2B281353-D448-7A24-8D50-3EB7B435E002}"/>
              </a:ext>
            </a:extLst>
          </p:cNvPr>
          <p:cNvSpPr>
            <a:spLocks noGrp="1"/>
          </p:cNvSpPr>
          <p:nvPr>
            <p:ph type="pic" sz="quarter" idx="24"/>
          </p:nvPr>
        </p:nvSpPr>
        <p:spPr/>
        <p:txBody>
          <a:bodyPr/>
          <a:lstStyle/>
          <a:p>
            <a:endParaRPr lang="en-GB"/>
          </a:p>
        </p:txBody>
      </p:sp>
      <p:pic>
        <p:nvPicPr>
          <p:cNvPr id="4098" name="Picture 2" descr="How to Organize Your Closet in 25 Easy Ways">
            <a:extLst>
              <a:ext uri="{FF2B5EF4-FFF2-40B4-BE49-F238E27FC236}">
                <a16:creationId xmlns:a16="http://schemas.microsoft.com/office/drawing/2014/main" id="{EFD9C45E-32D1-A6B7-60B0-7EFC5D55A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0530" y="958361"/>
            <a:ext cx="7963095" cy="4941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217146-FB26-BD42-E9BA-D5145A61D09E}"/>
              </a:ext>
            </a:extLst>
          </p:cNvPr>
          <p:cNvSpPr txBox="1"/>
          <p:nvPr/>
        </p:nvSpPr>
        <p:spPr>
          <a:xfrm>
            <a:off x="222187" y="312028"/>
            <a:ext cx="7816913" cy="1200329"/>
          </a:xfrm>
          <a:prstGeom prst="rect">
            <a:avLst/>
          </a:prstGeom>
          <a:noFill/>
        </p:spPr>
        <p:txBody>
          <a:bodyPr wrap="square">
            <a:spAutoFit/>
          </a:bodyPr>
          <a:lstStyle/>
          <a:p>
            <a:r>
              <a:rPr lang="en-GB" sz="3600" dirty="0">
                <a:latin typeface="Impact" panose="020B0806030902050204" pitchFamily="34" charset="0"/>
              </a:rPr>
              <a:t>Thinking about your assignment…</a:t>
            </a:r>
            <a:br>
              <a:rPr lang="en-GB" sz="3600" dirty="0">
                <a:latin typeface="Impact" panose="020B0806030902050204" pitchFamily="34" charset="0"/>
              </a:rPr>
            </a:br>
            <a:endParaRPr lang="en-GB" sz="3600" dirty="0">
              <a:latin typeface="Impact" panose="020B0806030902050204" pitchFamily="34" charset="0"/>
            </a:endParaRPr>
          </a:p>
        </p:txBody>
      </p:sp>
    </p:spTree>
    <p:extLst>
      <p:ext uri="{BB962C8B-B14F-4D97-AF65-F5344CB8AC3E}">
        <p14:creationId xmlns:p14="http://schemas.microsoft.com/office/powerpoint/2010/main" val="263115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7" name="Rectangle 7176">
            <a:extLst>
              <a:ext uri="{FF2B5EF4-FFF2-40B4-BE49-F238E27FC236}">
                <a16:creationId xmlns:a16="http://schemas.microsoft.com/office/drawing/2014/main" id="{4845A0EE-C4C8-4AE1-B3C6-1261368A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631935-2E18-110F-9EA0-8C52785BD1DB}"/>
              </a:ext>
            </a:extLst>
          </p:cNvPr>
          <p:cNvSpPr>
            <a:spLocks noGrp="1"/>
          </p:cNvSpPr>
          <p:nvPr>
            <p:ph type="title"/>
          </p:nvPr>
        </p:nvSpPr>
        <p:spPr>
          <a:xfrm>
            <a:off x="621629" y="640080"/>
            <a:ext cx="4225290" cy="5578816"/>
          </a:xfrm>
        </p:spPr>
        <p:txBody>
          <a:bodyPr vert="horz" lIns="91440" tIns="45720" rIns="91440" bIns="45720" rtlCol="0" anchor="ctr">
            <a:normAutofit/>
          </a:bodyPr>
          <a:lstStyle/>
          <a:p>
            <a:pPr algn="ctr">
              <a:lnSpc>
                <a:spcPct val="90000"/>
              </a:lnSpc>
            </a:pPr>
            <a:r>
              <a:rPr lang="en-US" kern="1200" dirty="0">
                <a:solidFill>
                  <a:srgbClr val="FFFFFF"/>
                </a:solidFill>
                <a:ea typeface="+mj-ea"/>
              </a:rPr>
              <a:t>Hofstede’s cultural dimensions</a:t>
            </a:r>
          </a:p>
        </p:txBody>
      </p:sp>
      <p:pic>
        <p:nvPicPr>
          <p:cNvPr id="7172" name="Picture 4" descr="Harnessing Hofstede's Cultural Dimensions Model for Organizational Success">
            <a:extLst>
              <a:ext uri="{FF2B5EF4-FFF2-40B4-BE49-F238E27FC236}">
                <a16:creationId xmlns:a16="http://schemas.microsoft.com/office/drawing/2014/main" id="{03DC98A4-52A5-CECC-764B-A1D6E4E80A0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1967" y="640080"/>
            <a:ext cx="5407536" cy="557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77991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B572-B494-6CA8-87F6-9350363E410F}"/>
              </a:ext>
            </a:extLst>
          </p:cNvPr>
          <p:cNvSpPr>
            <a:spLocks noGrp="1"/>
          </p:cNvSpPr>
          <p:nvPr>
            <p:ph type="title"/>
          </p:nvPr>
        </p:nvSpPr>
        <p:spPr/>
        <p:txBody>
          <a:bodyPr/>
          <a:lstStyle/>
          <a:p>
            <a:r>
              <a:rPr lang="en-GB" sz="4400" b="0" i="0" cap="all" dirty="0">
                <a:solidFill>
                  <a:srgbClr val="121212"/>
                </a:solidFill>
                <a:effectLst/>
              </a:rPr>
              <a:t>INDIVIDUALISM (IDV) vs collectivism</a:t>
            </a:r>
            <a:br>
              <a:rPr lang="en-GB" b="0" i="0" cap="all" dirty="0">
                <a:solidFill>
                  <a:srgbClr val="121212"/>
                </a:solidFill>
                <a:effectLst/>
                <a:latin typeface="Quicksand"/>
              </a:rPr>
            </a:br>
            <a:endParaRPr lang="en-GB" dirty="0"/>
          </a:p>
        </p:txBody>
      </p:sp>
      <p:sp>
        <p:nvSpPr>
          <p:cNvPr id="3" name="Content Placeholder 2">
            <a:extLst>
              <a:ext uri="{FF2B5EF4-FFF2-40B4-BE49-F238E27FC236}">
                <a16:creationId xmlns:a16="http://schemas.microsoft.com/office/drawing/2014/main" id="{005CEFEA-206D-6DEB-54E0-1F16F0BC65A1}"/>
              </a:ext>
            </a:extLst>
          </p:cNvPr>
          <p:cNvSpPr>
            <a:spLocks noGrp="1"/>
          </p:cNvSpPr>
          <p:nvPr>
            <p:ph idx="13"/>
          </p:nvPr>
        </p:nvSpPr>
        <p:spPr/>
        <p:txBody>
          <a:bodyPr/>
          <a:lstStyle/>
          <a:p>
            <a:r>
              <a:rPr lang="en-US" b="0" i="0" dirty="0">
                <a:effectLst/>
              </a:rPr>
              <a:t>The high side of this dimension, called Individualism, can be defined as a preference for a loosely-knit social framework in which individuals are expected to take care of only themselves and their immediate families</a:t>
            </a:r>
            <a:r>
              <a:rPr lang="en-US" b="0" i="0" dirty="0">
                <a:effectLst/>
                <a:latin typeface="Barlow" panose="00000500000000000000" pitchFamily="2" charset="0"/>
              </a:rPr>
              <a:t>.</a:t>
            </a:r>
          </a:p>
          <a:p>
            <a:r>
              <a:rPr lang="en-US" dirty="0"/>
              <a:t>Individualist: US, Canada, UK</a:t>
            </a:r>
          </a:p>
          <a:p>
            <a:r>
              <a:rPr lang="en-GB" dirty="0"/>
              <a:t>Collectivist: Hong Kong, Singapore and Mexico </a:t>
            </a:r>
          </a:p>
          <a:p>
            <a:r>
              <a:rPr lang="en-GB" dirty="0"/>
              <a:t>Nigeria highly collectivist.</a:t>
            </a:r>
          </a:p>
        </p:txBody>
      </p:sp>
    </p:spTree>
    <p:extLst>
      <p:ext uri="{BB962C8B-B14F-4D97-AF65-F5344CB8AC3E}">
        <p14:creationId xmlns:p14="http://schemas.microsoft.com/office/powerpoint/2010/main" val="42006465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graph&#10;&#10;Description automatically generated">
            <a:extLst>
              <a:ext uri="{FF2B5EF4-FFF2-40B4-BE49-F238E27FC236}">
                <a16:creationId xmlns:a16="http://schemas.microsoft.com/office/drawing/2014/main" id="{F4BFC8F4-979A-4D1D-9224-74DC5DD5395D}"/>
              </a:ext>
            </a:extLst>
          </p:cNvPr>
          <p:cNvPicPr>
            <a:picLocks noGrp="1" noChangeAspect="1"/>
          </p:cNvPicPr>
          <p:nvPr>
            <p:ph idx="13"/>
          </p:nvPr>
        </p:nvPicPr>
        <p:blipFill>
          <a:blip r:embed="rId3"/>
          <a:stretch>
            <a:fillRect/>
          </a:stretch>
        </p:blipFill>
        <p:spPr>
          <a:xfrm>
            <a:off x="815367" y="643466"/>
            <a:ext cx="10561265" cy="5571067"/>
          </a:xfrm>
          <a:prstGeom prst="rect">
            <a:avLst/>
          </a:prstGeom>
        </p:spPr>
      </p:pic>
    </p:spTree>
    <p:extLst>
      <p:ext uri="{BB962C8B-B14F-4D97-AF65-F5344CB8AC3E}">
        <p14:creationId xmlns:p14="http://schemas.microsoft.com/office/powerpoint/2010/main" val="6526514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chwartz's Culture Model | US DK Expats">
            <a:extLst>
              <a:ext uri="{FF2B5EF4-FFF2-40B4-BE49-F238E27FC236}">
                <a16:creationId xmlns:a16="http://schemas.microsoft.com/office/drawing/2014/main" id="{51BBB9B4-0FAB-1E3F-2424-F4B7C150FB50}"/>
              </a:ext>
            </a:extLst>
          </p:cNvPr>
          <p:cNvPicPr>
            <a:picLocks noGrp="1" noChangeAspect="1" noChangeArrowheads="1"/>
          </p:cNvPicPr>
          <p:nvPr>
            <p:ph idx="14"/>
          </p:nvPr>
        </p:nvPicPr>
        <p:blipFill>
          <a:blip r:embed="rId3">
            <a:extLst>
              <a:ext uri="{28A0092B-C50C-407E-A947-70E740481C1C}">
                <a14:useLocalDpi xmlns:a14="http://schemas.microsoft.com/office/drawing/2010/main" val="0"/>
              </a:ext>
            </a:extLst>
          </a:blip>
          <a:stretch>
            <a:fillRect/>
          </a:stretch>
        </p:blipFill>
        <p:spPr bwMode="auto">
          <a:xfrm>
            <a:off x="1623062" y="0"/>
            <a:ext cx="8778238" cy="658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134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F90D18E-B43B-D3A5-BB3B-60F4A8B89012}"/>
              </a:ext>
            </a:extLst>
          </p:cNvPr>
          <p:cNvPicPr>
            <a:picLocks noGrp="1" noChangeAspect="1"/>
          </p:cNvPicPr>
          <p:nvPr>
            <p:ph idx="13"/>
          </p:nvPr>
        </p:nvPicPr>
        <p:blipFill>
          <a:blip r:embed="rId3"/>
          <a:stretch>
            <a:fillRect/>
          </a:stretch>
        </p:blipFill>
        <p:spPr>
          <a:xfrm>
            <a:off x="1379645" y="643466"/>
            <a:ext cx="9432710" cy="5571067"/>
          </a:xfrm>
          <a:prstGeom prst="rect">
            <a:avLst/>
          </a:prstGeom>
        </p:spPr>
      </p:pic>
    </p:spTree>
    <p:extLst>
      <p:ext uri="{BB962C8B-B14F-4D97-AF65-F5344CB8AC3E}">
        <p14:creationId xmlns:p14="http://schemas.microsoft.com/office/powerpoint/2010/main" val="1744366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FE1CF-15F6-C419-452F-FA5857622E7C}"/>
              </a:ext>
            </a:extLst>
          </p:cNvPr>
          <p:cNvSpPr>
            <a:spLocks noGrp="1"/>
          </p:cNvSpPr>
          <p:nvPr>
            <p:ph type="title"/>
          </p:nvPr>
        </p:nvSpPr>
        <p:spPr/>
        <p:txBody>
          <a:bodyPr/>
          <a:lstStyle/>
          <a:p>
            <a:r>
              <a:rPr lang="en-GB" sz="4800" dirty="0"/>
              <a:t>Interactions- people and the group</a:t>
            </a:r>
          </a:p>
        </p:txBody>
      </p:sp>
      <p:sp>
        <p:nvSpPr>
          <p:cNvPr id="3" name="Content Placeholder 2">
            <a:extLst>
              <a:ext uri="{FF2B5EF4-FFF2-40B4-BE49-F238E27FC236}">
                <a16:creationId xmlns:a16="http://schemas.microsoft.com/office/drawing/2014/main" id="{0FA3E64F-251C-DA41-61B9-7A84A6CDE2BC}"/>
              </a:ext>
            </a:extLst>
          </p:cNvPr>
          <p:cNvSpPr>
            <a:spLocks noGrp="1"/>
          </p:cNvSpPr>
          <p:nvPr>
            <p:ph idx="14"/>
          </p:nvPr>
        </p:nvSpPr>
        <p:spPr>
          <a:xfrm>
            <a:off x="574241" y="1645920"/>
            <a:ext cx="4275346" cy="3557847"/>
          </a:xfrm>
        </p:spPr>
        <p:txBody>
          <a:bodyPr/>
          <a:lstStyle/>
          <a:p>
            <a:r>
              <a:rPr lang="en-GB" b="1" dirty="0">
                <a:latin typeface="+mn-lt"/>
              </a:rPr>
              <a:t>Individual is central</a:t>
            </a:r>
          </a:p>
          <a:p>
            <a:r>
              <a:rPr lang="en-GB" dirty="0"/>
              <a:t>Hofstede- Individualism</a:t>
            </a:r>
          </a:p>
          <a:p>
            <a:r>
              <a:rPr lang="en-GB" dirty="0"/>
              <a:t>Autonomous, independent, motivated by own needs and goals, rational relationships</a:t>
            </a:r>
          </a:p>
          <a:p>
            <a:r>
              <a:rPr lang="en-GB" dirty="0"/>
              <a:t>Schwartz- Autonomy</a:t>
            </a:r>
          </a:p>
          <a:p>
            <a:r>
              <a:rPr lang="en-GB" dirty="0"/>
              <a:t>Express own preferences, feelings, ideas and abilities</a:t>
            </a:r>
          </a:p>
          <a:p>
            <a:endParaRPr lang="en-GB" dirty="0"/>
          </a:p>
        </p:txBody>
      </p:sp>
      <p:sp>
        <p:nvSpPr>
          <p:cNvPr id="4" name="TextBox 3">
            <a:extLst>
              <a:ext uri="{FF2B5EF4-FFF2-40B4-BE49-F238E27FC236}">
                <a16:creationId xmlns:a16="http://schemas.microsoft.com/office/drawing/2014/main" id="{EF72B265-7F73-0119-9E97-73D4BD32900E}"/>
              </a:ext>
            </a:extLst>
          </p:cNvPr>
          <p:cNvSpPr txBox="1"/>
          <p:nvPr/>
        </p:nvSpPr>
        <p:spPr>
          <a:xfrm>
            <a:off x="6713518" y="1493519"/>
            <a:ext cx="4620985" cy="4893647"/>
          </a:xfrm>
          <a:prstGeom prst="rect">
            <a:avLst/>
          </a:prstGeom>
          <a:noFill/>
        </p:spPr>
        <p:txBody>
          <a:bodyPr wrap="square" rtlCol="0">
            <a:spAutoFit/>
          </a:bodyPr>
          <a:lstStyle/>
          <a:p>
            <a:r>
              <a:rPr lang="en-GB" sz="2600" b="1" dirty="0"/>
              <a:t>Group is central</a:t>
            </a:r>
          </a:p>
          <a:p>
            <a:r>
              <a:rPr lang="en-GB" sz="2600" dirty="0"/>
              <a:t>Hofstede- Collectivism</a:t>
            </a:r>
          </a:p>
          <a:p>
            <a:r>
              <a:rPr lang="en-GB" sz="2600" dirty="0"/>
              <a:t>Interdependent, motivated by norms and duty, prioritise in group goals, connected relationships</a:t>
            </a:r>
          </a:p>
          <a:p>
            <a:endParaRPr lang="en-GB" sz="2600" dirty="0"/>
          </a:p>
          <a:p>
            <a:r>
              <a:rPr lang="en-GB" sz="2600"/>
              <a:t>Schwartz- </a:t>
            </a:r>
            <a:r>
              <a:rPr lang="en-GB" sz="2600" dirty="0"/>
              <a:t>Embeddedness</a:t>
            </a:r>
          </a:p>
          <a:p>
            <a:r>
              <a:rPr lang="en-GB" sz="2600" dirty="0"/>
              <a:t>Search for meaning in social relationships, identification, shared way of life and shared goals</a:t>
            </a:r>
          </a:p>
        </p:txBody>
      </p:sp>
    </p:spTree>
    <p:extLst>
      <p:ext uri="{BB962C8B-B14F-4D97-AF65-F5344CB8AC3E}">
        <p14:creationId xmlns:p14="http://schemas.microsoft.com/office/powerpoint/2010/main" val="16308195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C5CA370-D2FC-C87A-4C79-D046E660976D}"/>
              </a:ext>
            </a:extLst>
          </p:cNvPr>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2240589" y="643466"/>
            <a:ext cx="7710822" cy="5571067"/>
          </a:xfrm>
          <a:prstGeom prst="rect">
            <a:avLst/>
          </a:prstGeom>
        </p:spPr>
      </p:pic>
    </p:spTree>
    <p:extLst>
      <p:ext uri="{BB962C8B-B14F-4D97-AF65-F5344CB8AC3E}">
        <p14:creationId xmlns:p14="http://schemas.microsoft.com/office/powerpoint/2010/main" val="3879856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AEAE-6E00-519B-83BA-A9FE213570A4}"/>
              </a:ext>
            </a:extLst>
          </p:cNvPr>
          <p:cNvSpPr>
            <a:spLocks noGrp="1"/>
          </p:cNvSpPr>
          <p:nvPr>
            <p:ph type="title"/>
          </p:nvPr>
        </p:nvSpPr>
        <p:spPr/>
        <p:txBody>
          <a:bodyPr/>
          <a:lstStyle/>
          <a:p>
            <a:r>
              <a:rPr lang="en-GB" sz="4800" dirty="0"/>
              <a:t>Individualism vs Communitarianism</a:t>
            </a:r>
          </a:p>
        </p:txBody>
      </p:sp>
      <p:sp>
        <p:nvSpPr>
          <p:cNvPr id="3" name="Content Placeholder 2">
            <a:extLst>
              <a:ext uri="{FF2B5EF4-FFF2-40B4-BE49-F238E27FC236}">
                <a16:creationId xmlns:a16="http://schemas.microsoft.com/office/drawing/2014/main" id="{55F2061C-3B3C-A82F-9064-DCAF47AF8106}"/>
              </a:ext>
            </a:extLst>
          </p:cNvPr>
          <p:cNvSpPr>
            <a:spLocks noGrp="1"/>
          </p:cNvSpPr>
          <p:nvPr>
            <p:ph idx="13"/>
          </p:nvPr>
        </p:nvSpPr>
        <p:spPr/>
        <p:txBody>
          <a:bodyPr/>
          <a:lstStyle/>
          <a:p>
            <a:r>
              <a:rPr lang="en-GB" dirty="0"/>
              <a:t>Working as a team or an individual?</a:t>
            </a:r>
          </a:p>
          <a:p>
            <a:r>
              <a:rPr lang="en-GB" dirty="0"/>
              <a:t>Individualistic cultures- outcomes are the result of your choices</a:t>
            </a:r>
          </a:p>
          <a:p>
            <a:r>
              <a:rPr lang="en-GB" dirty="0" err="1"/>
              <a:t>Eg</a:t>
            </a:r>
            <a:r>
              <a:rPr lang="en-GB" dirty="0"/>
              <a:t> Canada, US, UK, </a:t>
            </a:r>
            <a:r>
              <a:rPr lang="en-GB" dirty="0" err="1"/>
              <a:t>Switerland</a:t>
            </a:r>
            <a:endParaRPr lang="en-GB" dirty="0"/>
          </a:p>
          <a:p>
            <a:r>
              <a:rPr lang="en-GB" dirty="0"/>
              <a:t>Communitarianism- quality of life is better if we help each other</a:t>
            </a:r>
          </a:p>
          <a:p>
            <a:r>
              <a:rPr lang="en-GB" dirty="0" err="1"/>
              <a:t>Eg</a:t>
            </a:r>
            <a:r>
              <a:rPr lang="en-GB" dirty="0"/>
              <a:t> Japan, China, </a:t>
            </a:r>
            <a:r>
              <a:rPr lang="en-GB" dirty="0" err="1"/>
              <a:t>latin</a:t>
            </a:r>
            <a:r>
              <a:rPr lang="en-GB" dirty="0"/>
              <a:t> America, much of Africa</a:t>
            </a:r>
          </a:p>
        </p:txBody>
      </p:sp>
    </p:spTree>
    <p:extLst>
      <p:ext uri="{BB962C8B-B14F-4D97-AF65-F5344CB8AC3E}">
        <p14:creationId xmlns:p14="http://schemas.microsoft.com/office/powerpoint/2010/main" val="14152667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chart with text and images&#10;&#10;Description automatically generated with medium confidence">
            <a:extLst>
              <a:ext uri="{FF2B5EF4-FFF2-40B4-BE49-F238E27FC236}">
                <a16:creationId xmlns:a16="http://schemas.microsoft.com/office/drawing/2014/main" id="{21EB44F3-DFE6-1B65-944C-CE1E41F8EB6A}"/>
              </a:ext>
            </a:extLst>
          </p:cNvPr>
          <p:cNvPicPr>
            <a:picLocks noGrp="1" noChangeAspect="1" noChangeArrowheads="1"/>
          </p:cNvPicPr>
          <p:nvPr>
            <p:ph idx="13"/>
          </p:nvPr>
        </p:nvPicPr>
        <p:blipFill rotWithShape="1">
          <a:blip r:embed="rId3">
            <a:extLst>
              <a:ext uri="{28A0092B-C50C-407E-A947-70E740481C1C}">
                <a14:useLocalDpi xmlns:a14="http://schemas.microsoft.com/office/drawing/2010/main" val="0"/>
              </a:ext>
            </a:extLst>
          </a:blip>
          <a:srcRect t="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2188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CDEB91EB-B139-311E-FB83-0D9BB99CE9EE}"/>
              </a:ext>
            </a:extLst>
          </p:cNvPr>
          <p:cNvPicPr>
            <a:picLocks noGrp="1" noChangeAspect="1" noChangeArrowheads="1"/>
          </p:cNvPicPr>
          <p:nvPr>
            <p:ph idx="13"/>
          </p:nvPr>
        </p:nvPicPr>
        <p:blipFill rotWithShape="1">
          <a:blip r:embed="rId3">
            <a:extLst>
              <a:ext uri="{28A0092B-C50C-407E-A947-70E740481C1C}">
                <a14:useLocalDpi xmlns:a14="http://schemas.microsoft.com/office/drawing/2010/main" val="0"/>
              </a:ext>
            </a:extLst>
          </a:blip>
          <a:srcRect b="1765"/>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6989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31F8-0C21-4D9E-FFEF-65F2ED3DFC9E}"/>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9279FBB7-E679-55B8-4A87-D96F59F997B5}"/>
              </a:ext>
            </a:extLst>
          </p:cNvPr>
          <p:cNvSpPr>
            <a:spLocks noGrp="1"/>
          </p:cNvSpPr>
          <p:nvPr>
            <p:ph idx="13"/>
          </p:nvPr>
        </p:nvSpPr>
        <p:spPr/>
        <p:txBody>
          <a:bodyPr/>
          <a:lstStyle/>
          <a:p>
            <a:r>
              <a:rPr lang="en-GB" dirty="0"/>
              <a:t>In today’s session we have looked at what a team is and the different stages it will go through whilst on its journey towards successful outcomes.</a:t>
            </a:r>
          </a:p>
          <a:p>
            <a:r>
              <a:rPr lang="en-GB" dirty="0"/>
              <a:t>The effectiveness of a team is influenced not by intellect but by the team dynamics- the balance of the 9 Belbin roles.</a:t>
            </a:r>
          </a:p>
          <a:p>
            <a:r>
              <a:rPr lang="en-GB" dirty="0"/>
              <a:t>The culture of each individual involved not only influences their role but the dynamic process within the team.</a:t>
            </a:r>
          </a:p>
          <a:p>
            <a:r>
              <a:rPr lang="en-GB" dirty="0"/>
              <a:t>Culture will play a part in the effectiveness of a team as culture affects an individual’s behaviour and their understanding of shared social norms, values, and attitudes.</a:t>
            </a:r>
          </a:p>
        </p:txBody>
      </p:sp>
    </p:spTree>
    <p:extLst>
      <p:ext uri="{BB962C8B-B14F-4D97-AF65-F5344CB8AC3E}">
        <p14:creationId xmlns:p14="http://schemas.microsoft.com/office/powerpoint/2010/main" val="23672386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D9D206-C0D4-B31B-E619-3BD02D34E98A}"/>
              </a:ext>
            </a:extLst>
          </p:cNvPr>
          <p:cNvSpPr>
            <a:spLocks noGrp="1"/>
          </p:cNvSpPr>
          <p:nvPr>
            <p:ph type="title"/>
          </p:nvPr>
        </p:nvSpPr>
        <p:spPr>
          <a:xfrm>
            <a:off x="222187" y="958362"/>
            <a:ext cx="5188013" cy="4941275"/>
          </a:xfrm>
        </p:spPr>
        <p:txBody>
          <a:bodyPr/>
          <a:lstStyle/>
          <a:p>
            <a:r>
              <a:rPr lang="en-GB" dirty="0"/>
              <a:t>Assessment </a:t>
            </a:r>
            <a:r>
              <a:rPr lang="en-GB"/>
              <a:t>Queries Padlet</a:t>
            </a:r>
            <a:br>
              <a:rPr lang="en-GB"/>
            </a:br>
            <a:br>
              <a:rPr lang="en-GB" dirty="0"/>
            </a:br>
            <a:r>
              <a:rPr lang="en-GB" sz="1600" dirty="0">
                <a:latin typeface="+mn-lt"/>
                <a:hlinkClick r:id="rId2"/>
              </a:rPr>
              <a:t>https://uniofglos.padlet.org/shooke</a:t>
            </a:r>
            <a:r>
              <a:rPr lang="en-GB" sz="1600">
                <a:latin typeface="+mn-lt"/>
                <a:hlinkClick r:id="rId2"/>
              </a:rPr>
              <a:t>/bm7703-assessment-questions-u9xnmg0iqcmmqrh5</a:t>
            </a:r>
            <a:r>
              <a:rPr lang="en-GB" sz="1600">
                <a:latin typeface="+mn-lt"/>
              </a:rPr>
              <a:t> </a:t>
            </a:r>
            <a:endParaRPr lang="en-GB" sz="1600" dirty="0">
              <a:latin typeface="+mn-lt"/>
            </a:endParaRPr>
          </a:p>
        </p:txBody>
      </p:sp>
      <p:pic>
        <p:nvPicPr>
          <p:cNvPr id="1025" name="Picture 1" descr="Padlet QR code">
            <a:extLst>
              <a:ext uri="{FF2B5EF4-FFF2-40B4-BE49-F238E27FC236}">
                <a16:creationId xmlns:a16="http://schemas.microsoft.com/office/drawing/2014/main" id="{CD93FE1C-9970-273C-6D0B-D70E141D2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1430" y="932667"/>
            <a:ext cx="4966970" cy="496697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AF2A6D13-BB6D-0F1A-9846-971EF8CC8EDE}"/>
              </a:ext>
            </a:extLst>
          </p:cNvPr>
          <p:cNvSpPr>
            <a:spLocks noChangeArrowheads="1"/>
          </p:cNvSpPr>
          <p:nvPr/>
        </p:nvSpPr>
        <p:spPr bwMode="auto">
          <a:xfrm>
            <a:off x="4483100" y="0"/>
            <a:ext cx="32258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Inter var"/>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6862568"/>
      </p:ext>
    </p:extLst>
  </p:cSld>
  <p:clrMapOvr>
    <a:masterClrMapping/>
  </p:clrMapOvr>
</p:sld>
</file>

<file path=ppt/theme/theme1.xml><?xml version="1.0" encoding="utf-8"?>
<a:theme xmlns:a="http://schemas.openxmlformats.org/drawingml/2006/main" name="Logo 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le + Text /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 Text + Im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84380d3-b1f4-4bf6-bdd3-5e699005c33b">
      <Terms xmlns="http://schemas.microsoft.com/office/infopath/2007/PartnerControls"/>
    </lcf76f155ced4ddcb4097134ff3c332f>
    <TaxCatchAll xmlns="9296bcf7-f7b2-4004-b6a3-d27e747f2bab" xsi:nil="true"/>
    <ImageCreateDate xmlns="184380D3-B1F4-4BF6-BDD3-5E699005C33B" xsi:nil="true"/>
    <PublishingExpirationDate xmlns="http://schemas.microsoft.com/sharepoint/v3" xsi:nil="true"/>
    <PublishingStartDate xmlns="http://schemas.microsoft.com/sharepoint/v3" xsi:nil="true"/>
    <wic_System_Copyright xmlns="http://schemas.microsoft.com/sharepoint/v3/fields" xsi:nil="true"/>
    <_dlc_DocId xmlns="9296bcf7-f7b2-4004-b6a3-d27e747f2bab">TAFXHH6S76DC-1259033518-99</_dlc_DocId>
    <_dlc_DocIdUrl xmlns="9296bcf7-f7b2-4004-b6a3-d27e747f2bab">
      <Url>https://connectglosac.sharepoint.com/sites/staffnet/cmsr/_layouts/15/DocIdRedir.aspx?ID=TAFXHH6S76DC-1259033518-99</Url>
      <Description>TAFXHH6S76DC-1259033518-99</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122952C63813C74B823E456627F557FD" ma:contentTypeVersion="11" ma:contentTypeDescription="Upload an image." ma:contentTypeScope="" ma:versionID="15aaeb137f7df85f828f790d62f34bbf">
  <xsd:schema xmlns:xsd="http://www.w3.org/2001/XMLSchema" xmlns:xs="http://www.w3.org/2001/XMLSchema" xmlns:p="http://schemas.microsoft.com/office/2006/metadata/properties" xmlns:ns1="http://schemas.microsoft.com/sharepoint/v3" xmlns:ns2="184380D3-B1F4-4BF6-BDD3-5E699005C33B" xmlns:ns3="http://schemas.microsoft.com/sharepoint/v3/fields" xmlns:ns4="9296bcf7-f7b2-4004-b6a3-d27e747f2bab" xmlns:ns5="184380d3-b1f4-4bf6-bdd3-5e699005c33b" targetNamespace="http://schemas.microsoft.com/office/2006/metadata/properties" ma:root="true" ma:fieldsID="e29b7e4e23d7aa2f905ae6417251a131" ns1:_="" ns2:_="" ns3:_="" ns4:_="" ns5:_="">
    <xsd:import namespace="http://schemas.microsoft.com/sharepoint/v3"/>
    <xsd:import namespace="184380D3-B1F4-4BF6-BDD3-5E699005C33B"/>
    <xsd:import namespace="http://schemas.microsoft.com/sharepoint/v3/fields"/>
    <xsd:import namespace="9296bcf7-f7b2-4004-b6a3-d27e747f2bab"/>
    <xsd:import namespace="184380d3-b1f4-4bf6-bdd3-5e699005c33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4:_dlc_DocId" minOccurs="0"/>
                <xsd:element ref="ns4:_dlc_DocIdUrl" minOccurs="0"/>
                <xsd:element ref="ns4:_dlc_DocIdPersistId" minOccurs="0"/>
                <xsd:element ref="ns1:PublishingStartDate" minOccurs="0"/>
                <xsd:element ref="ns1:PublishingExpirationDate" minOccurs="0"/>
                <xsd:element ref="ns5:MediaServiceMetadata" minOccurs="0"/>
                <xsd:element ref="ns5:MediaServiceFastMetadata" minOccurs="0"/>
                <xsd:element ref="ns5:MediaServiceDateTaken" minOccurs="0"/>
                <xsd:element ref="ns5:MediaServiceAutoTags" minOccurs="0"/>
                <xsd:element ref="ns5:MediaServiceOCR" minOccurs="0"/>
                <xsd:element ref="ns5:MediaServiceGenerationTime" minOccurs="0"/>
                <xsd:element ref="ns5:MediaServiceEventHashCode" minOccurs="0"/>
                <xsd:element ref="ns5:lcf76f155ced4ddcb4097134ff3c332f" minOccurs="0"/>
                <xsd:element ref="ns4:TaxCatchAll" minOccurs="0"/>
                <xsd:element ref="ns5: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30" nillable="true" ma:displayName="Scheduling Start Date" ma:description="" ma:hidden="true" ma:internalName="PublishingStartDate">
      <xsd:simpleType>
        <xsd:restriction base="dms:Unknown"/>
      </xsd:simpleType>
    </xsd:element>
    <xsd:element name="PublishingExpirationDate" ma:index="31"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6bcf7-f7b2-4004-b6a3-d27e747f2bab" elementFormDefault="qualified">
    <xsd:import namespace="http://schemas.microsoft.com/office/2006/documentManagement/types"/>
    <xsd:import namespace="http://schemas.microsoft.com/office/infopath/2007/PartnerControls"/>
    <xsd:element name="_dlc_DocId" ma:index="27" nillable="true" ma:displayName="Document ID Value" ma:description="The value of the document ID assigned to this item." ma:internalName="_dlc_DocId" ma:readOnly="true">
      <xsd:simpleType>
        <xsd:restriction base="dms:Text"/>
      </xsd:simpleType>
    </xsd:element>
    <xsd:element name="_dlc_DocIdUrl" ma:index="2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element name="TaxCatchAll" ma:index="41" nillable="true" ma:displayName="Taxonomy Catch All Column" ma:hidden="true" ma:list="{ac9252a4-f71c-4d26-b614-14265013b1b1}" ma:internalName="TaxCatchAll" ma:showField="CatchAllData" ma:web="9296bcf7-f7b2-4004-b6a3-d27e747f2ba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84380d3-b1f4-4bf6-bdd3-5e699005c33b" elementFormDefault="qualified">
    <xsd:import namespace="http://schemas.microsoft.com/office/2006/documentManagement/types"/>
    <xsd:import namespace="http://schemas.microsoft.com/office/infopath/2007/PartnerControls"/>
    <xsd:element name="MediaServiceMetadata" ma:index="32" nillable="true" ma:displayName="MediaServiceMetadata" ma:hidden="true" ma:internalName="MediaServiceMetadata" ma:readOnly="true">
      <xsd:simpleType>
        <xsd:restriction base="dms:Note"/>
      </xsd:simpleType>
    </xsd:element>
    <xsd:element name="MediaServiceFastMetadata" ma:index="33" nillable="true" ma:displayName="MediaServiceFastMetadata" ma:hidden="true" ma:internalName="MediaServiceFastMetadata" ma:readOnly="true">
      <xsd:simpleType>
        <xsd:restriction base="dms:Note"/>
      </xsd:simpleType>
    </xsd:element>
    <xsd:element name="MediaServiceDateTaken" ma:index="34" nillable="true" ma:displayName="MediaServiceDateTaken" ma:hidden="true" ma:internalName="MediaServiceDateTaken" ma:readOnly="true">
      <xsd:simpleType>
        <xsd:restriction base="dms:Text"/>
      </xsd:simpleType>
    </xsd:element>
    <xsd:element name="MediaServiceAutoTags" ma:index="35" nillable="true" ma:displayName="Tags" ma:internalName="MediaServiceAutoTags"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MediaServiceGenerationTime" ma:index="37" nillable="true" ma:displayName="MediaServiceGenerationTime" ma:hidden="true" ma:internalName="MediaServiceGenerationTime" ma:readOnly="true">
      <xsd:simpleType>
        <xsd:restriction base="dms:Text"/>
      </xsd:simpleType>
    </xsd:element>
    <xsd:element name="MediaServiceEventHashCode" ma:index="38" nillable="true" ma:displayName="MediaServiceEventHashCode" ma:hidden="true" ma:internalName="MediaServiceEventHashCode" ma:readOnly="true">
      <xsd:simpleType>
        <xsd:restriction base="dms:Text"/>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d6c6c170-7366-48ed-88e6-2840e021297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BBC34D-5163-4DE0-B1B4-340B6D9145D3}">
  <ds:schemaRefs>
    <ds:schemaRef ds:uri="http://schemas.microsoft.com/sharepoint/events"/>
  </ds:schemaRefs>
</ds:datastoreItem>
</file>

<file path=customXml/itemProps2.xml><?xml version="1.0" encoding="utf-8"?>
<ds:datastoreItem xmlns:ds="http://schemas.openxmlformats.org/officeDocument/2006/customXml" ds:itemID="{DD3E0513-1EB6-44C4-AED3-E329FEC1642A}">
  <ds:schemaRefs>
    <ds:schemaRef ds:uri="http://schemas.microsoft.com/office/infopath/2007/PartnerControls"/>
    <ds:schemaRef ds:uri="http://www.w3.org/XML/1998/namespace"/>
    <ds:schemaRef ds:uri="http://schemas.microsoft.com/sharepoint/v3/fields"/>
    <ds:schemaRef ds:uri="http://schemas.microsoft.com/office/2006/documentManagement/types"/>
    <ds:schemaRef ds:uri="http://purl.org/dc/dcmitype/"/>
    <ds:schemaRef ds:uri="http://schemas.openxmlformats.org/package/2006/metadata/core-properties"/>
    <ds:schemaRef ds:uri="184380d3-b1f4-4bf6-bdd3-5e699005c33b"/>
    <ds:schemaRef ds:uri="http://purl.org/dc/terms/"/>
    <ds:schemaRef ds:uri="http://schemas.microsoft.com/office/2006/metadata/properties"/>
    <ds:schemaRef ds:uri="http://purl.org/dc/elements/1.1/"/>
    <ds:schemaRef ds:uri="9296bcf7-f7b2-4004-b6a3-d27e747f2bab"/>
    <ds:schemaRef ds:uri="184380D3-B1F4-4BF6-BDD3-5E699005C33B"/>
    <ds:schemaRef ds:uri="http://schemas.microsoft.com/sharepoint/v3"/>
  </ds:schemaRefs>
</ds:datastoreItem>
</file>

<file path=customXml/itemProps3.xml><?xml version="1.0" encoding="utf-8"?>
<ds:datastoreItem xmlns:ds="http://schemas.openxmlformats.org/officeDocument/2006/customXml" ds:itemID="{63CBCD9E-ACAC-4D3F-8BAD-35A915F76B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84380D3-B1F4-4BF6-BDD3-5E699005C33B"/>
    <ds:schemaRef ds:uri="http://schemas.microsoft.com/sharepoint/v3/fields"/>
    <ds:schemaRef ds:uri="9296bcf7-f7b2-4004-b6a3-d27e747f2bab"/>
    <ds:schemaRef ds:uri="184380d3-b1f4-4bf6-bdd3-5e699005c3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D0A6366-8B3A-427D-8B2B-B54AD2C58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9914</TotalTime>
  <Words>8892</Words>
  <Application>Microsoft Office PowerPoint</Application>
  <PresentationFormat>Widescreen</PresentationFormat>
  <Paragraphs>736</Paragraphs>
  <Slides>78</Slides>
  <Notes>72</Notes>
  <HiddenSlides>0</HiddenSlides>
  <MMClips>0</MMClips>
  <ScaleCrop>false</ScaleCrop>
  <HeadingPairs>
    <vt:vector size="6" baseType="variant">
      <vt:variant>
        <vt:lpstr>Fonts Used</vt:lpstr>
      </vt:variant>
      <vt:variant>
        <vt:i4>19</vt:i4>
      </vt:variant>
      <vt:variant>
        <vt:lpstr>Theme</vt:lpstr>
      </vt:variant>
      <vt:variant>
        <vt:i4>4</vt:i4>
      </vt:variant>
      <vt:variant>
        <vt:lpstr>Slide Titles</vt:lpstr>
      </vt:variant>
      <vt:variant>
        <vt:i4>78</vt:i4>
      </vt:variant>
    </vt:vector>
  </HeadingPairs>
  <TitlesOfParts>
    <vt:vector size="101" baseType="lpstr">
      <vt:lpstr>Arial</vt:lpstr>
      <vt:lpstr>Arial</vt:lpstr>
      <vt:lpstr>Barlow</vt:lpstr>
      <vt:lpstr>Calibri</vt:lpstr>
      <vt:lpstr>Georgia</vt:lpstr>
      <vt:lpstr>Google Sans</vt:lpstr>
      <vt:lpstr>Helvetica</vt:lpstr>
      <vt:lpstr>Impact</vt:lpstr>
      <vt:lpstr>inherit</vt:lpstr>
      <vt:lpstr>Inter var</vt:lpstr>
      <vt:lpstr>Neue Helvetica eText W01</vt:lpstr>
      <vt:lpstr>Neue Helvetica W01</vt:lpstr>
      <vt:lpstr>Quicksand</vt:lpstr>
      <vt:lpstr>ralewayregular</vt:lpstr>
      <vt:lpstr>source-serif-pro</vt:lpstr>
      <vt:lpstr>System Font Regular</vt:lpstr>
      <vt:lpstr>Times-Roman</vt:lpstr>
      <vt:lpstr>Verdana</vt:lpstr>
      <vt:lpstr>Wingdings</vt:lpstr>
      <vt:lpstr>Logo Intro</vt:lpstr>
      <vt:lpstr>Title</vt:lpstr>
      <vt:lpstr>Title + Text / Image</vt:lpstr>
      <vt:lpstr>Title, Text + Image</vt:lpstr>
      <vt:lpstr>BM7703  Cross-cultural issues in international business  Week 6 -teams Sara hooke</vt:lpstr>
      <vt:lpstr>Working and leading in multicultural teams</vt:lpstr>
      <vt:lpstr>Why are we looking at this?</vt:lpstr>
      <vt:lpstr>Why are we looking at this?</vt:lpstr>
      <vt:lpstr>Learning objectives for this session </vt:lpstr>
      <vt:lpstr>Recap from last week</vt:lpstr>
      <vt:lpstr>Agenda for today’s session</vt:lpstr>
      <vt:lpstr>What is a Team? </vt:lpstr>
      <vt:lpstr>Why is being able to work as part of a team important?</vt:lpstr>
      <vt:lpstr>Stages of Teamwork</vt:lpstr>
      <vt:lpstr>PowerPoint Presentation</vt:lpstr>
      <vt:lpstr>Forming</vt:lpstr>
      <vt:lpstr>Storming</vt:lpstr>
      <vt:lpstr>Norming</vt:lpstr>
      <vt:lpstr>Performing</vt:lpstr>
      <vt:lpstr>Adjourning (Mourning)</vt:lpstr>
      <vt:lpstr>How does culture affect the different stages of teamwork (Tuckman’s model)?</vt:lpstr>
      <vt:lpstr>Virtual Teams:  Technology and the workplace of the future (Townsend et al, 1998)</vt:lpstr>
      <vt:lpstr>What are Virtual teams?</vt:lpstr>
      <vt:lpstr>Why virtual teams?</vt:lpstr>
      <vt:lpstr>Challenges in creating virtual teams</vt:lpstr>
      <vt:lpstr>Virtual teams</vt:lpstr>
      <vt:lpstr>Important competencies for leaders in GVT’s</vt:lpstr>
      <vt:lpstr>The Effects of Cultural Diversity in Virtual Teams Versus Face-to-Face Teams</vt:lpstr>
      <vt:lpstr>Questions…</vt:lpstr>
      <vt:lpstr>Do you agree…?</vt:lpstr>
      <vt:lpstr>Team Dynamics </vt:lpstr>
      <vt:lpstr>Team Dynamics </vt:lpstr>
      <vt:lpstr>Team Dynamics </vt:lpstr>
      <vt:lpstr>Belbin Questionnaire- 30 mins</vt:lpstr>
      <vt:lpstr>Team Dynamics </vt:lpstr>
      <vt:lpstr>Team Dynamics </vt:lpstr>
      <vt:lpstr>Team Dynamics </vt:lpstr>
      <vt:lpstr>Team Dynamics </vt:lpstr>
      <vt:lpstr>Team Dynamics </vt:lpstr>
      <vt:lpstr>Team Dynamics </vt:lpstr>
      <vt:lpstr>Team Dynamics </vt:lpstr>
      <vt:lpstr>Team Dynamics </vt:lpstr>
      <vt:lpstr>Team Dynamics </vt:lpstr>
      <vt:lpstr>Team Dynamics </vt:lpstr>
      <vt:lpstr>Team Dynamics </vt:lpstr>
      <vt:lpstr>PowerPoint Presentation</vt:lpstr>
      <vt:lpstr>Belbin Questionnaire</vt:lpstr>
      <vt:lpstr>Belbin </vt:lpstr>
      <vt:lpstr>The Thinking roles</vt:lpstr>
      <vt:lpstr>The Action Roles</vt:lpstr>
      <vt:lpstr>The Social Roles</vt:lpstr>
      <vt:lpstr>Cultural background and team roles</vt:lpstr>
      <vt:lpstr>The effects of culture</vt:lpstr>
      <vt:lpstr>The effects of culture</vt:lpstr>
      <vt:lpstr>Communicating</vt:lpstr>
      <vt:lpstr>Evaluating- direct negative feedback</vt:lpstr>
      <vt:lpstr>Delivering negative feedback</vt:lpstr>
      <vt:lpstr>Persuading</vt:lpstr>
      <vt:lpstr>Leading</vt:lpstr>
      <vt:lpstr>Deciding</vt:lpstr>
      <vt:lpstr>Trusting</vt:lpstr>
      <vt:lpstr>Disagreeing</vt:lpstr>
      <vt:lpstr>Scheduling</vt:lpstr>
      <vt:lpstr>Guidelines for culturally diverse teams</vt:lpstr>
      <vt:lpstr>McFarlin, D. and Sweeney, P. (2013) International Organizational Behaviour</vt:lpstr>
      <vt:lpstr>Practical implications</vt:lpstr>
      <vt:lpstr>LEADERSHIP IN MULTICULTURAL TEAMS</vt:lpstr>
      <vt:lpstr>Tips for effective teamwork</vt:lpstr>
      <vt:lpstr>PowerPoint Presentation</vt:lpstr>
      <vt:lpstr>What theories can we use to organise our discussion on teamwork?</vt:lpstr>
      <vt:lpstr>Hofstede’s cultural dimensions</vt:lpstr>
      <vt:lpstr>INDIVIDUALISM (IDV) vs collectivism </vt:lpstr>
      <vt:lpstr>PowerPoint Presentation</vt:lpstr>
      <vt:lpstr>PowerPoint Presentation</vt:lpstr>
      <vt:lpstr>PowerPoint Presentation</vt:lpstr>
      <vt:lpstr>Interactions- people and the group</vt:lpstr>
      <vt:lpstr>PowerPoint Presentation</vt:lpstr>
      <vt:lpstr>Individualism vs Communitarianism</vt:lpstr>
      <vt:lpstr>PowerPoint Presentation</vt:lpstr>
      <vt:lpstr>PowerPoint Presentation</vt:lpstr>
      <vt:lpstr>Summary</vt:lpstr>
      <vt:lpstr>Assessment Queries Padlet  https://uniofglos.padlet.org/shooke/bm7703-assessment-questions-u9xnmg0iqcmmqrh5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RCA_PowerPoint_Template</dc:title>
  <dc:subject/>
  <dc:creator>Bond&amp;Coyne</dc:creator>
  <cp:keywords/>
  <dc:description/>
  <cp:lastModifiedBy>HOOKE, Sara</cp:lastModifiedBy>
  <cp:revision>407</cp:revision>
  <cp:lastPrinted>2023-11-29T08:36:41Z</cp:lastPrinted>
  <dcterms:created xsi:type="dcterms:W3CDTF">2020-09-16T11:14:25Z</dcterms:created>
  <dcterms:modified xsi:type="dcterms:W3CDTF">2024-11-13T09:25:23Z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0x0101009148F5A04DDD49CBA7127AADA5FB792B00AADE34325A8B49CDA8BB4DB53328F21400122952C63813C74B823E456627F557FD</vt:lpwstr>
  </property>
  <property fmtid="{D5CDD505-2E9C-101B-9397-08002B2CF9AE}" pid="3" name="_dlc_DocIdItemGuid">
    <vt:lpwstr>96d1798d-d796-4f1d-8532-6a33cd226651</vt:lpwstr>
  </property>
  <property fmtid="{D5CDD505-2E9C-101B-9397-08002B2CF9AE}" pid="4" name="MediaServiceImageTags">
    <vt:lpwstr/>
  </property>
</Properties>
</file>
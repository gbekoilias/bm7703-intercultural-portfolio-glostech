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5"/>
    <p:sldMasterId id="2147483770" r:id="rId6"/>
    <p:sldMasterId id="2147483747" r:id="rId7"/>
    <p:sldMasterId id="2147483980" r:id="rId8"/>
  </p:sldMasterIdLst>
  <p:notesMasterIdLst>
    <p:notesMasterId r:id="rId50"/>
  </p:notesMasterIdLst>
  <p:handoutMasterIdLst>
    <p:handoutMasterId r:id="rId51"/>
  </p:handoutMasterIdLst>
  <p:sldIdLst>
    <p:sldId id="420" r:id="rId9"/>
    <p:sldId id="421" r:id="rId10"/>
    <p:sldId id="422" r:id="rId11"/>
    <p:sldId id="424" r:id="rId12"/>
    <p:sldId id="340" r:id="rId13"/>
    <p:sldId id="312" r:id="rId14"/>
    <p:sldId id="334" r:id="rId15"/>
    <p:sldId id="429" r:id="rId16"/>
    <p:sldId id="426" r:id="rId17"/>
    <p:sldId id="344" r:id="rId18"/>
    <p:sldId id="431" r:id="rId19"/>
    <p:sldId id="433" r:id="rId20"/>
    <p:sldId id="337" r:id="rId21"/>
    <p:sldId id="432" r:id="rId22"/>
    <p:sldId id="333" r:id="rId23"/>
    <p:sldId id="335" r:id="rId24"/>
    <p:sldId id="324" r:id="rId25"/>
    <p:sldId id="325" r:id="rId26"/>
    <p:sldId id="326" r:id="rId27"/>
    <p:sldId id="342" r:id="rId28"/>
    <p:sldId id="327" r:id="rId29"/>
    <p:sldId id="328" r:id="rId30"/>
    <p:sldId id="455" r:id="rId31"/>
    <p:sldId id="338" r:id="rId32"/>
    <p:sldId id="341" r:id="rId33"/>
    <p:sldId id="330" r:id="rId34"/>
    <p:sldId id="331" r:id="rId35"/>
    <p:sldId id="270" r:id="rId36"/>
    <p:sldId id="339" r:id="rId37"/>
    <p:sldId id="320" r:id="rId38"/>
    <p:sldId id="329" r:id="rId39"/>
    <p:sldId id="314" r:id="rId40"/>
    <p:sldId id="264" r:id="rId41"/>
    <p:sldId id="266" r:id="rId42"/>
    <p:sldId id="265" r:id="rId43"/>
    <p:sldId id="267" r:id="rId44"/>
    <p:sldId id="332" r:id="rId45"/>
    <p:sldId id="454" r:id="rId46"/>
    <p:sldId id="456" r:id="rId47"/>
    <p:sldId id="457" r:id="rId48"/>
    <p:sldId id="458" r:id="rId49"/>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691"/>
    <a:srgbClr val="FF3B58"/>
    <a:srgbClr val="F088B6"/>
    <a:srgbClr val="FAA719"/>
    <a:srgbClr val="3E77C0"/>
    <a:srgbClr val="353637"/>
    <a:srgbClr val="F5F5F5"/>
    <a:srgbClr val="EC5A29"/>
    <a:srgbClr val="FDC627"/>
    <a:srgbClr val="E67A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87" autoAdjust="0"/>
    <p:restoredTop sz="94293" autoAdjust="0"/>
  </p:normalViewPr>
  <p:slideViewPr>
    <p:cSldViewPr snapToGrid="0" snapToObjects="1" showGuides="1">
      <p:cViewPr varScale="1">
        <p:scale>
          <a:sx n="73" d="100"/>
          <a:sy n="73" d="100"/>
        </p:scale>
        <p:origin x="92" y="3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BC71A-9C5D-9A2C-A15F-A5400CDA4E18}"/>
              </a:ext>
            </a:extLst>
          </p:cNvPr>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46AFF51-F9E0-DB97-945D-6FE4E10A80CA}"/>
              </a:ext>
            </a:extLst>
          </p:cNvPr>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E3A45EEF-DD1A-8742-8830-9AF8C51014E5}" type="datetimeFigureOut">
              <a:rPr lang="en-US" smtClean="0"/>
              <a:t>10/13/2025</a:t>
            </a:fld>
            <a:endParaRPr lang="en-US"/>
          </a:p>
        </p:txBody>
      </p:sp>
      <p:sp>
        <p:nvSpPr>
          <p:cNvPr id="4" name="Footer Placeholder 3">
            <a:extLst>
              <a:ext uri="{FF2B5EF4-FFF2-40B4-BE49-F238E27FC236}">
                <a16:creationId xmlns:a16="http://schemas.microsoft.com/office/drawing/2014/main" id="{37F16389-CE81-4455-5554-98F2CEFAB4A8}"/>
              </a:ext>
            </a:extLst>
          </p:cNvPr>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74086A6-B781-4E85-4B21-CCF7D1EE9467}"/>
              </a:ext>
            </a:extLst>
          </p:cNvPr>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96219E5A-4CF6-0C47-9D09-B43E5FC27C68}" type="slidenum">
              <a:rPr lang="en-US" smtClean="0"/>
              <a:t>‹#›</a:t>
            </a:fld>
            <a:endParaRPr lang="en-US"/>
          </a:p>
        </p:txBody>
      </p:sp>
    </p:spTree>
    <p:extLst>
      <p:ext uri="{BB962C8B-B14F-4D97-AF65-F5344CB8AC3E}">
        <p14:creationId xmlns:p14="http://schemas.microsoft.com/office/powerpoint/2010/main" val="3210273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DDE7B709-C50D-054B-BDEF-61F28AB73951}" type="datetimeFigureOut">
              <a:rPr lang="en-US" smtClean="0"/>
              <a:t>10/13/2025</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51D890D9-946C-F447-A007-CD62FC879AC5}" type="slidenum">
              <a:rPr lang="en-US" smtClean="0"/>
              <a:t>‹#›</a:t>
            </a:fld>
            <a:endParaRPr lang="en-US"/>
          </a:p>
        </p:txBody>
      </p:sp>
    </p:spTree>
    <p:extLst>
      <p:ext uri="{BB962C8B-B14F-4D97-AF65-F5344CB8AC3E}">
        <p14:creationId xmlns:p14="http://schemas.microsoft.com/office/powerpoint/2010/main" val="3030476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a:t>
            </a:fld>
            <a:endParaRPr lang="en-US"/>
          </a:p>
        </p:txBody>
      </p:sp>
    </p:spTree>
    <p:extLst>
      <p:ext uri="{BB962C8B-B14F-4D97-AF65-F5344CB8AC3E}">
        <p14:creationId xmlns:p14="http://schemas.microsoft.com/office/powerpoint/2010/main" val="1185729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a:t>
            </a:fld>
            <a:endParaRPr lang="en-US"/>
          </a:p>
        </p:txBody>
      </p:sp>
    </p:spTree>
    <p:extLst>
      <p:ext uri="{BB962C8B-B14F-4D97-AF65-F5344CB8AC3E}">
        <p14:creationId xmlns:p14="http://schemas.microsoft.com/office/powerpoint/2010/main" val="3148627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a:t>
            </a:fld>
            <a:endParaRPr lang="en-US"/>
          </a:p>
        </p:txBody>
      </p:sp>
    </p:spTree>
    <p:extLst>
      <p:ext uri="{BB962C8B-B14F-4D97-AF65-F5344CB8AC3E}">
        <p14:creationId xmlns:p14="http://schemas.microsoft.com/office/powerpoint/2010/main" val="3731273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a:t>
            </a:fld>
            <a:endParaRPr lang="en-US"/>
          </a:p>
        </p:txBody>
      </p:sp>
    </p:spTree>
    <p:extLst>
      <p:ext uri="{BB962C8B-B14F-4D97-AF65-F5344CB8AC3E}">
        <p14:creationId xmlns:p14="http://schemas.microsoft.com/office/powerpoint/2010/main" val="331426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a:t>
            </a:fld>
            <a:endParaRPr lang="en-US"/>
          </a:p>
        </p:txBody>
      </p:sp>
    </p:spTree>
    <p:extLst>
      <p:ext uri="{BB962C8B-B14F-4D97-AF65-F5344CB8AC3E}">
        <p14:creationId xmlns:p14="http://schemas.microsoft.com/office/powerpoint/2010/main" val="3787418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Communication starts in this definition in a very simple format</a:t>
            </a:r>
          </a:p>
          <a:p>
            <a:r>
              <a:rPr lang="en-GB" dirty="0"/>
              <a:t>BUT we then move on to understand that it is a process, a COMPLEX process involving specific cues and an understanding- a mutual understanding of those specific cues. And importantly this definition notes that there are contextual factors involved- factors that are specific to the context of the communication- </a:t>
            </a:r>
          </a:p>
          <a:p>
            <a:r>
              <a:rPr lang="en-GB" b="1" dirty="0"/>
              <a:t>Does this remind you of anything from previous weeks?</a:t>
            </a:r>
            <a:r>
              <a:rPr lang="en-GB" dirty="0"/>
              <a:t> Erin Meyer- Communicating Scale High/low context societies</a:t>
            </a:r>
          </a:p>
        </p:txBody>
      </p:sp>
      <p:sp>
        <p:nvSpPr>
          <p:cNvPr id="4" name="Slide Number Placeholder 3"/>
          <p:cNvSpPr>
            <a:spLocks noGrp="1"/>
          </p:cNvSpPr>
          <p:nvPr>
            <p:ph type="sldNum" sz="quarter" idx="5"/>
          </p:nvPr>
        </p:nvSpPr>
        <p:spPr/>
        <p:txBody>
          <a:bodyPr/>
          <a:lstStyle/>
          <a:p>
            <a:fld id="{51D890D9-946C-F447-A007-CD62FC879AC5}" type="slidenum">
              <a:rPr lang="en-US" smtClean="0"/>
              <a:t>6</a:t>
            </a:fld>
            <a:endParaRPr lang="en-US"/>
          </a:p>
        </p:txBody>
      </p:sp>
    </p:spTree>
    <p:extLst>
      <p:ext uri="{BB962C8B-B14F-4D97-AF65-F5344CB8AC3E}">
        <p14:creationId xmlns:p14="http://schemas.microsoft.com/office/powerpoint/2010/main" val="3047016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51D890D9-946C-F447-A007-CD62FC879AC5}" type="slidenum">
              <a:rPr lang="en-US" smtClean="0"/>
              <a:t>7</a:t>
            </a:fld>
            <a:endParaRPr lang="en-US"/>
          </a:p>
        </p:txBody>
      </p:sp>
    </p:spTree>
    <p:extLst>
      <p:ext uri="{BB962C8B-B14F-4D97-AF65-F5344CB8AC3E}">
        <p14:creationId xmlns:p14="http://schemas.microsoft.com/office/powerpoint/2010/main" val="2377948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https://www.natcom.org/about-nca/what-communication</a:t>
            </a:r>
          </a:p>
          <a:p>
            <a:r>
              <a:rPr lang="en-US" b="0" i="0" dirty="0">
                <a:solidFill>
                  <a:srgbClr val="333333"/>
                </a:solidFill>
                <a:effectLst/>
                <a:latin typeface="Open Sans" panose="020B0606030504020204" pitchFamily="34" charset="0"/>
              </a:rPr>
              <a:t>Communication focuses on how people use messages to generate meanings within and across various contexts</a:t>
            </a:r>
          </a:p>
          <a:p>
            <a:r>
              <a:rPr lang="en-US" b="0" i="0" dirty="0">
                <a:solidFill>
                  <a:srgbClr val="333333"/>
                </a:solidFill>
                <a:effectLst/>
                <a:latin typeface="Open Sans" panose="020B0606030504020204" pitchFamily="34" charset="0"/>
              </a:rPr>
              <a:t>This illustration shows the transactional model of communication</a:t>
            </a:r>
          </a:p>
          <a:p>
            <a:r>
              <a:rPr lang="en-US" b="0" i="0" dirty="0">
                <a:solidFill>
                  <a:srgbClr val="333333"/>
                </a:solidFill>
                <a:effectLst/>
                <a:latin typeface="Open Sans" panose="020B0606030504020204" pitchFamily="34" charset="0"/>
              </a:rPr>
              <a:t>Communication cuts across contexts and situations; it is the relational and collaborative force that strategically constructs the social world. Knowledge and understanding of communication and strong communication skills allow people to create and maintain interpersonal relationships; employers in all sectors seek employees with strong communication skills; and society needs effective communicators to support productive civic activity in communities.</a:t>
            </a:r>
          </a:p>
          <a:p>
            <a:endParaRPr lang="en-US" b="0" i="0" dirty="0">
              <a:solidFill>
                <a:srgbClr val="333333"/>
              </a:solidFill>
              <a:effectLst/>
              <a:latin typeface="Open Sans" panose="020B0606030504020204" pitchFamily="34" charset="0"/>
            </a:endParaRPr>
          </a:p>
          <a:p>
            <a:r>
              <a:rPr lang="en-US" sz="1600" b="1" i="0" dirty="0">
                <a:solidFill>
                  <a:srgbClr val="333333"/>
                </a:solidFill>
                <a:effectLst/>
                <a:latin typeface="Open Sans" panose="020B0606030504020204" pitchFamily="34" charset="0"/>
              </a:rPr>
              <a:t>What could the noise be in a global business environment?</a:t>
            </a:r>
          </a:p>
          <a:p>
            <a:r>
              <a:rPr lang="en-US" sz="1600" b="0" i="0" dirty="0">
                <a:solidFill>
                  <a:srgbClr val="333333"/>
                </a:solidFill>
                <a:effectLst/>
                <a:latin typeface="Open Sans" panose="020B0606030504020204" pitchFamily="34" charset="0"/>
              </a:rPr>
              <a:t>Culture!</a:t>
            </a:r>
            <a:endParaRPr lang="en-US" sz="1600" b="1" i="0" dirty="0">
              <a:solidFill>
                <a:srgbClr val="333333"/>
              </a:solidFill>
              <a:effectLst/>
              <a:latin typeface="Open Sans" panose="020B0606030504020204" pitchFamily="34" charset="0"/>
            </a:endParaRPr>
          </a:p>
          <a:p>
            <a:r>
              <a:rPr lang="en-GB" sz="1600" b="0" i="0" dirty="0" err="1">
                <a:solidFill>
                  <a:srgbClr val="282828"/>
                </a:solidFill>
                <a:effectLst/>
                <a:latin typeface="Georgia" panose="02040502050405020303" pitchFamily="18" charset="0"/>
              </a:rPr>
              <a:t>Deresky</a:t>
            </a:r>
            <a:r>
              <a:rPr lang="en-GB" sz="1600" b="0" i="0" dirty="0">
                <a:solidFill>
                  <a:srgbClr val="282828"/>
                </a:solidFill>
                <a:effectLst/>
                <a:latin typeface="Georgia" panose="02040502050405020303" pitchFamily="18" charset="0"/>
              </a:rPr>
              <a:t> points out that the more dissimilar cultures are the bigger the chance of noise</a:t>
            </a:r>
            <a:endParaRPr lang="en-GB" sz="1600" b="1"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8</a:t>
            </a:fld>
            <a:endParaRPr lang="en-US"/>
          </a:p>
        </p:txBody>
      </p:sp>
    </p:spTree>
    <p:extLst>
      <p:ext uri="{BB962C8B-B14F-4D97-AF65-F5344CB8AC3E}">
        <p14:creationId xmlns:p14="http://schemas.microsoft.com/office/powerpoint/2010/main" val="3191124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So communication is a process- its complex, there are a lot of different factors that are going to come into it for the message that is being sent. To be the same message that is received.</a:t>
            </a:r>
          </a:p>
        </p:txBody>
      </p:sp>
      <p:sp>
        <p:nvSpPr>
          <p:cNvPr id="4" name="Slide Number Placeholder 3"/>
          <p:cNvSpPr>
            <a:spLocks noGrp="1"/>
          </p:cNvSpPr>
          <p:nvPr>
            <p:ph type="sldNum" sz="quarter" idx="5"/>
          </p:nvPr>
        </p:nvSpPr>
        <p:spPr/>
        <p:txBody>
          <a:bodyPr/>
          <a:lstStyle/>
          <a:p>
            <a:fld id="{51D890D9-946C-F447-A007-CD62FC879AC5}" type="slidenum">
              <a:rPr lang="en-US" smtClean="0"/>
              <a:t>9</a:t>
            </a:fld>
            <a:endParaRPr lang="en-US"/>
          </a:p>
        </p:txBody>
      </p:sp>
    </p:spTree>
    <p:extLst>
      <p:ext uri="{BB962C8B-B14F-4D97-AF65-F5344CB8AC3E}">
        <p14:creationId xmlns:p14="http://schemas.microsoft.com/office/powerpoint/2010/main" val="1433115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555555"/>
                </a:solidFill>
                <a:effectLst/>
                <a:latin typeface="robotoregular"/>
              </a:rPr>
              <a:t>Browaeys</a:t>
            </a:r>
            <a:r>
              <a:rPr lang="en-US" b="0" i="0" dirty="0">
                <a:solidFill>
                  <a:srgbClr val="555555"/>
                </a:solidFill>
                <a:effectLst/>
                <a:latin typeface="robotoregular"/>
              </a:rPr>
              <a:t>, (2015). </a:t>
            </a:r>
            <a:r>
              <a:rPr lang="en-US" b="0" i="1" dirty="0">
                <a:solidFill>
                  <a:srgbClr val="555555"/>
                </a:solidFill>
                <a:effectLst/>
                <a:latin typeface="robotoregular"/>
              </a:rPr>
              <a:t>Understanding cross-cultural management 3rd </a:t>
            </a:r>
            <a:r>
              <a:rPr lang="en-US" b="0" i="1" dirty="0" err="1">
                <a:solidFill>
                  <a:srgbClr val="555555"/>
                </a:solidFill>
                <a:effectLst/>
                <a:latin typeface="robotoregular"/>
              </a:rPr>
              <a:t>edn</a:t>
            </a:r>
            <a:r>
              <a:rPr lang="en-US" b="0" i="1" dirty="0">
                <a:solidFill>
                  <a:srgbClr val="555555"/>
                </a:solidFill>
                <a:effectLst/>
                <a:latin typeface="robotoregular"/>
              </a:rPr>
              <a:t> pdf </a:t>
            </a:r>
            <a:r>
              <a:rPr lang="en-US" b="0" i="1" dirty="0" err="1">
                <a:solidFill>
                  <a:srgbClr val="555555"/>
                </a:solidFill>
                <a:effectLst/>
                <a:latin typeface="robotoregular"/>
              </a:rPr>
              <a:t>ebook</a:t>
            </a:r>
            <a:r>
              <a:rPr lang="en-US" b="0" i="0" dirty="0">
                <a:solidFill>
                  <a:srgbClr val="555555"/>
                </a:solidFill>
                <a:effectLst/>
                <a:latin typeface="robotoregular"/>
              </a:rPr>
              <a:t>. Pearson Education, Limited.</a:t>
            </a:r>
          </a:p>
          <a:p>
            <a:endParaRPr lang="en-US" b="0" i="0" dirty="0">
              <a:solidFill>
                <a:srgbClr val="555555"/>
              </a:solidFill>
              <a:effectLst/>
              <a:latin typeface="robotoregular"/>
            </a:endParaRPr>
          </a:p>
          <a:p>
            <a:r>
              <a:rPr lang="en-US" b="0" i="0" dirty="0">
                <a:solidFill>
                  <a:srgbClr val="555555"/>
                </a:solidFill>
                <a:effectLst/>
                <a:latin typeface="robotoregular"/>
              </a:rPr>
              <a:t>Communication filters in the middle.</a:t>
            </a:r>
          </a:p>
          <a:p>
            <a:endParaRPr lang="en-US" b="0" i="0" dirty="0">
              <a:solidFill>
                <a:srgbClr val="555555"/>
              </a:solidFill>
              <a:effectLst/>
              <a:latin typeface="robotoregular"/>
            </a:endParaRPr>
          </a:p>
          <a:p>
            <a:r>
              <a:rPr lang="en-US" b="0" i="0" dirty="0">
                <a:solidFill>
                  <a:srgbClr val="555555"/>
                </a:solidFill>
                <a:effectLst/>
                <a:latin typeface="robotoregular"/>
              </a:rPr>
              <a:t>So when we talk about cross cultural communication as can be seen in this diagram, the model becomes much more complex.</a:t>
            </a:r>
          </a:p>
          <a:p>
            <a:r>
              <a:rPr lang="en-US" b="0" i="0" dirty="0">
                <a:solidFill>
                  <a:srgbClr val="555555"/>
                </a:solidFill>
                <a:effectLst/>
                <a:latin typeface="robotoregular"/>
              </a:rPr>
              <a:t>Links to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Communication is a complex process involving numerous situational and contextualization factors that determine the availability and importance of specific cues. (Bryant, Marmot and Ramirez, 2011)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message is sent and received but how it is interpreted (coded and decoded) depends on the frame of references- our culture.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they are from 2 very different culture the noise may be too great to be able to understand each other. They might not understand for example if the message is urgent or not?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we think about this through Hofstede, Schwartz, Trompenaars, Meyer, we can start to think about Power distance, low/high context cultures, attitudes towards time can all impact on communication.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Speaking different languages or first languages can be a barrier. What if they use the wrong words? Looking at language we also need to consider that non verbal language can be considered noise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How can non verbal communication be noise?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Anything that undermines the communication of intended meaning is referred to as </a:t>
            </a:r>
            <a:r>
              <a:rPr lang="en-GB" b="1" dirty="0"/>
              <a:t>noise</a:t>
            </a:r>
            <a:r>
              <a:rPr lang="en-GB" dirty="0"/>
              <a:t>. The more dissimilar the culture, the bigger likelihood of noise. (</a:t>
            </a:r>
            <a:r>
              <a:rPr lang="en-GB" dirty="0" err="1"/>
              <a:t>Deresky</a:t>
            </a:r>
            <a:r>
              <a:rPr lang="en-GB" dirty="0"/>
              <a:t>, 2017)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10</a:t>
            </a:fld>
            <a:endParaRPr lang="en-US"/>
          </a:p>
        </p:txBody>
      </p:sp>
    </p:spTree>
    <p:extLst>
      <p:ext uri="{BB962C8B-B14F-4D97-AF65-F5344CB8AC3E}">
        <p14:creationId xmlns:p14="http://schemas.microsoft.com/office/powerpoint/2010/main" val="3580574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people’s perceptions affect business communication and these are affected by cultural variables.</a:t>
            </a:r>
          </a:p>
          <a:p>
            <a:r>
              <a:rPr lang="en-GB" dirty="0"/>
              <a:t>We looked at most of these variables last week.</a:t>
            </a:r>
          </a:p>
          <a:p>
            <a:r>
              <a:rPr lang="en-GB" dirty="0"/>
              <a:t>This week we will conclude with language.</a:t>
            </a:r>
          </a:p>
        </p:txBody>
      </p:sp>
      <p:sp>
        <p:nvSpPr>
          <p:cNvPr id="4" name="Slide Number Placeholder 3"/>
          <p:cNvSpPr>
            <a:spLocks noGrp="1"/>
          </p:cNvSpPr>
          <p:nvPr>
            <p:ph type="sldNum" sz="quarter" idx="5"/>
          </p:nvPr>
        </p:nvSpPr>
        <p:spPr/>
        <p:txBody>
          <a:bodyPr/>
          <a:lstStyle/>
          <a:p>
            <a:fld id="{51D890D9-946C-F447-A007-CD62FC879AC5}" type="slidenum">
              <a:rPr lang="en-US" smtClean="0"/>
              <a:t>11</a:t>
            </a:fld>
            <a:endParaRPr lang="en-US" dirty="0"/>
          </a:p>
        </p:txBody>
      </p:sp>
    </p:spTree>
    <p:extLst>
      <p:ext uri="{BB962C8B-B14F-4D97-AF65-F5344CB8AC3E}">
        <p14:creationId xmlns:p14="http://schemas.microsoft.com/office/powerpoint/2010/main" val="4097283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is a Lingua Franca?</a:t>
            </a:r>
          </a:p>
          <a:p>
            <a:r>
              <a:rPr lang="en-GB" dirty="0"/>
              <a:t>A bridging language. A language used for communication between people who speak different native languages</a:t>
            </a:r>
          </a:p>
          <a:p>
            <a:r>
              <a:rPr lang="en-GB" dirty="0"/>
              <a:t>Business English is a Lingua Franca but there can be others</a:t>
            </a:r>
          </a:p>
        </p:txBody>
      </p:sp>
      <p:sp>
        <p:nvSpPr>
          <p:cNvPr id="4" name="Slide Number Placeholder 3"/>
          <p:cNvSpPr>
            <a:spLocks noGrp="1"/>
          </p:cNvSpPr>
          <p:nvPr>
            <p:ph type="sldNum" sz="quarter" idx="5"/>
          </p:nvPr>
        </p:nvSpPr>
        <p:spPr/>
        <p:txBody>
          <a:bodyPr/>
          <a:lstStyle/>
          <a:p>
            <a:fld id="{51D890D9-946C-F447-A007-CD62FC879AC5}" type="slidenum">
              <a:rPr lang="en-US" smtClean="0"/>
              <a:t>12</a:t>
            </a:fld>
            <a:endParaRPr lang="en-US"/>
          </a:p>
        </p:txBody>
      </p:sp>
    </p:spTree>
    <p:extLst>
      <p:ext uri="{BB962C8B-B14F-4D97-AF65-F5344CB8AC3E}">
        <p14:creationId xmlns:p14="http://schemas.microsoft.com/office/powerpoint/2010/main" val="3791076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13</a:t>
            </a:fld>
            <a:endParaRPr lang="en-US"/>
          </a:p>
        </p:txBody>
      </p:sp>
    </p:spTree>
    <p:extLst>
      <p:ext uri="{BB962C8B-B14F-4D97-AF65-F5344CB8AC3E}">
        <p14:creationId xmlns:p14="http://schemas.microsoft.com/office/powerpoint/2010/main" val="1350247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14</a:t>
            </a:fld>
            <a:endParaRPr lang="en-US"/>
          </a:p>
        </p:txBody>
      </p:sp>
    </p:spTree>
    <p:extLst>
      <p:ext uri="{BB962C8B-B14F-4D97-AF65-F5344CB8AC3E}">
        <p14:creationId xmlns:p14="http://schemas.microsoft.com/office/powerpoint/2010/main" val="1173089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15</a:t>
            </a:fld>
            <a:endParaRPr lang="en-US"/>
          </a:p>
        </p:txBody>
      </p:sp>
    </p:spTree>
    <p:extLst>
      <p:ext uri="{BB962C8B-B14F-4D97-AF65-F5344CB8AC3E}">
        <p14:creationId xmlns:p14="http://schemas.microsoft.com/office/powerpoint/2010/main" val="1472737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16</a:t>
            </a:fld>
            <a:endParaRPr lang="en-US"/>
          </a:p>
        </p:txBody>
      </p:sp>
    </p:spTree>
    <p:extLst>
      <p:ext uri="{BB962C8B-B14F-4D97-AF65-F5344CB8AC3E}">
        <p14:creationId xmlns:p14="http://schemas.microsoft.com/office/powerpoint/2010/main" val="1794030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17</a:t>
            </a:fld>
            <a:endParaRPr lang="en-US"/>
          </a:p>
        </p:txBody>
      </p:sp>
    </p:spTree>
    <p:extLst>
      <p:ext uri="{BB962C8B-B14F-4D97-AF65-F5344CB8AC3E}">
        <p14:creationId xmlns:p14="http://schemas.microsoft.com/office/powerpoint/2010/main" val="31723374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18</a:t>
            </a:fld>
            <a:endParaRPr lang="en-US"/>
          </a:p>
        </p:txBody>
      </p:sp>
    </p:spTree>
    <p:extLst>
      <p:ext uri="{BB962C8B-B14F-4D97-AF65-F5344CB8AC3E}">
        <p14:creationId xmlns:p14="http://schemas.microsoft.com/office/powerpoint/2010/main" val="2537762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19</a:t>
            </a:fld>
            <a:endParaRPr lang="en-US"/>
          </a:p>
        </p:txBody>
      </p:sp>
    </p:spTree>
    <p:extLst>
      <p:ext uri="{BB962C8B-B14F-4D97-AF65-F5344CB8AC3E}">
        <p14:creationId xmlns:p14="http://schemas.microsoft.com/office/powerpoint/2010/main" val="3216707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20</a:t>
            </a:fld>
            <a:endParaRPr lang="en-US"/>
          </a:p>
        </p:txBody>
      </p:sp>
    </p:spTree>
    <p:extLst>
      <p:ext uri="{BB962C8B-B14F-4D97-AF65-F5344CB8AC3E}">
        <p14:creationId xmlns:p14="http://schemas.microsoft.com/office/powerpoint/2010/main" val="591910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Japan collectivist</a:t>
            </a:r>
          </a:p>
          <a:p>
            <a:r>
              <a:rPr lang="en-GB" dirty="0"/>
              <a:t>US individualist</a:t>
            </a:r>
          </a:p>
        </p:txBody>
      </p:sp>
      <p:sp>
        <p:nvSpPr>
          <p:cNvPr id="4" name="Slide Number Placeholder 3"/>
          <p:cNvSpPr>
            <a:spLocks noGrp="1"/>
          </p:cNvSpPr>
          <p:nvPr>
            <p:ph type="sldNum" sz="quarter" idx="5"/>
          </p:nvPr>
        </p:nvSpPr>
        <p:spPr/>
        <p:txBody>
          <a:bodyPr/>
          <a:lstStyle/>
          <a:p>
            <a:fld id="{2032700E-F836-F843-9466-8C65D46A26AD}" type="slidenum">
              <a:rPr lang="en-US" smtClean="0"/>
              <a:t>21</a:t>
            </a:fld>
            <a:endParaRPr lang="en-US"/>
          </a:p>
        </p:txBody>
      </p:sp>
    </p:spTree>
    <p:extLst>
      <p:ext uri="{BB962C8B-B14F-4D97-AF65-F5344CB8AC3E}">
        <p14:creationId xmlns:p14="http://schemas.microsoft.com/office/powerpoint/2010/main" val="4165110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rPr>
              <a:t>Effective collaboration is built by effective communication. In international alliances success depends a lot on the existence of trust between the parties. Building trust in different cultures is done differently. In USA business is based on formal contracts while in China and Japan on long standing relationships build on trust. </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22</a:t>
            </a:fld>
            <a:endParaRPr lang="en-US"/>
          </a:p>
        </p:txBody>
      </p:sp>
    </p:spTree>
    <p:extLst>
      <p:ext uri="{BB962C8B-B14F-4D97-AF65-F5344CB8AC3E}">
        <p14:creationId xmlns:p14="http://schemas.microsoft.com/office/powerpoint/2010/main" val="591849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23</a:t>
            </a:fld>
            <a:endParaRPr lang="en-US"/>
          </a:p>
        </p:txBody>
      </p:sp>
    </p:spTree>
    <p:extLst>
      <p:ext uri="{BB962C8B-B14F-4D97-AF65-F5344CB8AC3E}">
        <p14:creationId xmlns:p14="http://schemas.microsoft.com/office/powerpoint/2010/main" val="2311890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Mäkelä</a:t>
            </a:r>
            <a:r>
              <a:rPr lang="en-US" dirty="0"/>
              <a:t>, Kalla, and </a:t>
            </a:r>
            <a:r>
              <a:rPr lang="en-US" dirty="0" err="1"/>
              <a:t>Piekkari</a:t>
            </a:r>
            <a:r>
              <a:rPr lang="en-US" dirty="0"/>
              <a:t> (2006),, look at language as both a uniting and a dividing feature at organizational level. They discovered a “clustering” phenomenon in MNCs. According to them, </a:t>
            </a:r>
            <a:r>
              <a:rPr lang="en-US" b="1" dirty="0"/>
              <a:t>units in countries with close linguistic and cultural affinity tend to communicate, cooperate, and share knowledge with each other</a:t>
            </a:r>
            <a:r>
              <a:rPr lang="en-US" dirty="0"/>
              <a:t>, but fail to do so with units whose linguistic and cultural characteristics would require greater linguistic and cultural effort. </a:t>
            </a:r>
            <a:r>
              <a:rPr lang="en-US" dirty="0" err="1"/>
              <a:t>Marschan</a:t>
            </a:r>
            <a:r>
              <a:rPr lang="en-US" dirty="0"/>
              <a:t> (1996) referred to as “</a:t>
            </a:r>
            <a:r>
              <a:rPr lang="en-US" b="1" dirty="0"/>
              <a:t>shadow structure</a:t>
            </a:r>
            <a:r>
              <a:rPr lang="en-US" dirty="0"/>
              <a:t>,” with corporate employees communicating with those with whom they can easily communicate (because of language and culture) rather than with those with whom they should, according to their professional and business interests, be communicating. By dividing individuals into “</a:t>
            </a:r>
            <a:r>
              <a:rPr lang="en-US" b="1" dirty="0"/>
              <a:t>us” and “them</a:t>
            </a:r>
            <a:r>
              <a:rPr lang="en-US" dirty="0"/>
              <a:t>”—those who “can” and those who “cannot”—language can be seen as having the same divisive impact at group level. This is obviously a challenge for multinationals, particularly in view of the fact that language effects—both positive and negative—are not always overt and obvious, and language as a potential factor in corporate success or failure is frequently overlooked. </a:t>
            </a:r>
          </a:p>
          <a:p>
            <a:endParaRPr lang="en-US" dirty="0"/>
          </a:p>
          <a:p>
            <a:r>
              <a:rPr lang="en-US" dirty="0"/>
              <a:t>Difference between ELF an BELF</a:t>
            </a:r>
          </a:p>
          <a:p>
            <a:endParaRPr lang="en-US" dirty="0"/>
          </a:p>
          <a:p>
            <a:r>
              <a:rPr lang="en-US" dirty="0"/>
              <a:t>90% of English speakers are non-native speakers</a:t>
            </a:r>
          </a:p>
          <a:p>
            <a:endParaRPr lang="en-US" dirty="0"/>
          </a:p>
          <a:p>
            <a:r>
              <a:rPr lang="en-US" dirty="0"/>
              <a:t>BELF is focused on getting the job done</a:t>
            </a:r>
          </a:p>
          <a:p>
            <a:r>
              <a:rPr lang="en-US" dirty="0"/>
              <a:t>This ability of BELF speakers to understand each other must surely be partly attributable to their shared business background (in spite of great diversity), and shared purpose, with the help of which discoursal interpretations are made</a:t>
            </a:r>
          </a:p>
          <a:p>
            <a:endParaRPr lang="en-US" dirty="0"/>
          </a:p>
          <a:p>
            <a:r>
              <a:rPr lang="en-US" dirty="0"/>
              <a:t>Problems were created by NS communication as well as by NNS; it seems that NSs’ sophisticated language could be difficult for NNSs to comprehend.</a:t>
            </a:r>
          </a:p>
          <a:p>
            <a:endParaRPr lang="en-US" dirty="0"/>
          </a:p>
          <a:p>
            <a:r>
              <a:rPr lang="en-US" dirty="0"/>
              <a:t>LANGUAGE MATTERS IN GLOBAL COMMUNICATION. Charles, M. 2006</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24</a:t>
            </a:fld>
            <a:endParaRPr lang="en-US"/>
          </a:p>
        </p:txBody>
      </p:sp>
    </p:spTree>
    <p:extLst>
      <p:ext uri="{BB962C8B-B14F-4D97-AF65-F5344CB8AC3E}">
        <p14:creationId xmlns:p14="http://schemas.microsoft.com/office/powerpoint/2010/main" val="3989511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25</a:t>
            </a:fld>
            <a:endParaRPr lang="en-US"/>
          </a:p>
        </p:txBody>
      </p:sp>
    </p:spTree>
    <p:extLst>
      <p:ext uri="{BB962C8B-B14F-4D97-AF65-F5344CB8AC3E}">
        <p14:creationId xmlns:p14="http://schemas.microsoft.com/office/powerpoint/2010/main" val="27985972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26</a:t>
            </a:fld>
            <a:endParaRPr lang="en-US"/>
          </a:p>
        </p:txBody>
      </p:sp>
    </p:spTree>
    <p:extLst>
      <p:ext uri="{BB962C8B-B14F-4D97-AF65-F5344CB8AC3E}">
        <p14:creationId xmlns:p14="http://schemas.microsoft.com/office/powerpoint/2010/main" val="16623492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27</a:t>
            </a:fld>
            <a:endParaRPr lang="en-US"/>
          </a:p>
        </p:txBody>
      </p:sp>
    </p:spTree>
    <p:extLst>
      <p:ext uri="{BB962C8B-B14F-4D97-AF65-F5344CB8AC3E}">
        <p14:creationId xmlns:p14="http://schemas.microsoft.com/office/powerpoint/2010/main" val="3223515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28</a:t>
            </a:fld>
            <a:endParaRPr lang="en-US"/>
          </a:p>
        </p:txBody>
      </p:sp>
    </p:spTree>
    <p:extLst>
      <p:ext uri="{BB962C8B-B14F-4D97-AF65-F5344CB8AC3E}">
        <p14:creationId xmlns:p14="http://schemas.microsoft.com/office/powerpoint/2010/main" val="16603640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29</a:t>
            </a:fld>
            <a:endParaRPr lang="en-US"/>
          </a:p>
        </p:txBody>
      </p:sp>
    </p:spTree>
    <p:extLst>
      <p:ext uri="{BB962C8B-B14F-4D97-AF65-F5344CB8AC3E}">
        <p14:creationId xmlns:p14="http://schemas.microsoft.com/office/powerpoint/2010/main" val="17615146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30</a:t>
            </a:fld>
            <a:endParaRPr lang="en-US"/>
          </a:p>
        </p:txBody>
      </p:sp>
    </p:spTree>
    <p:extLst>
      <p:ext uri="{BB962C8B-B14F-4D97-AF65-F5344CB8AC3E}">
        <p14:creationId xmlns:p14="http://schemas.microsoft.com/office/powerpoint/2010/main" val="38953804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31</a:t>
            </a:fld>
            <a:endParaRPr lang="en-US"/>
          </a:p>
        </p:txBody>
      </p:sp>
    </p:spTree>
    <p:extLst>
      <p:ext uri="{BB962C8B-B14F-4D97-AF65-F5344CB8AC3E}">
        <p14:creationId xmlns:p14="http://schemas.microsoft.com/office/powerpoint/2010/main" val="2519218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just IB and communication</a:t>
            </a:r>
          </a:p>
          <a:p>
            <a:r>
              <a:rPr lang="en-GB" dirty="0"/>
              <a:t>Three variables</a:t>
            </a:r>
          </a:p>
          <a:p>
            <a:r>
              <a:rPr lang="en-GB" dirty="0"/>
              <a:t>Culture communication and business</a:t>
            </a:r>
          </a:p>
          <a:p>
            <a:endParaRPr lang="en-GB" dirty="0"/>
          </a:p>
          <a:p>
            <a:r>
              <a:rPr lang="en-GB" dirty="0"/>
              <a:t>Complex!</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Links to Charles’ (2007) work on BELF Business English as Lingua Franca</a:t>
            </a:r>
          </a:p>
        </p:txBody>
      </p:sp>
      <p:sp>
        <p:nvSpPr>
          <p:cNvPr id="4" name="Slide Number Placeholder 3"/>
          <p:cNvSpPr>
            <a:spLocks noGrp="1"/>
          </p:cNvSpPr>
          <p:nvPr>
            <p:ph type="sldNum" sz="quarter" idx="5"/>
          </p:nvPr>
        </p:nvSpPr>
        <p:spPr/>
        <p:txBody>
          <a:bodyPr/>
          <a:lstStyle/>
          <a:p>
            <a:fld id="{51D890D9-946C-F447-A007-CD62FC879AC5}" type="slidenum">
              <a:rPr lang="en-US" smtClean="0"/>
              <a:t>32</a:t>
            </a:fld>
            <a:endParaRPr lang="en-US"/>
          </a:p>
        </p:txBody>
      </p:sp>
    </p:spTree>
    <p:extLst>
      <p:ext uri="{BB962C8B-B14F-4D97-AF65-F5344CB8AC3E}">
        <p14:creationId xmlns:p14="http://schemas.microsoft.com/office/powerpoint/2010/main" val="1989220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a:cs typeface="Arial"/>
              </a:rPr>
              <a:t>Business</a:t>
            </a:r>
            <a:r>
              <a:rPr lang="en-US" sz="1400" spc="-65" dirty="0">
                <a:latin typeface="Arial"/>
                <a:cs typeface="Arial"/>
              </a:rPr>
              <a:t> </a:t>
            </a:r>
            <a:r>
              <a:rPr lang="en-US" sz="1400" dirty="0">
                <a:latin typeface="Arial"/>
                <a:cs typeface="Arial"/>
              </a:rPr>
              <a:t>people</a:t>
            </a:r>
            <a:r>
              <a:rPr lang="en-US" sz="1400" spc="-60" dirty="0">
                <a:latin typeface="Arial"/>
                <a:cs typeface="Arial"/>
              </a:rPr>
              <a:t> </a:t>
            </a:r>
            <a:r>
              <a:rPr lang="en-US" sz="1400" dirty="0">
                <a:latin typeface="Arial"/>
                <a:cs typeface="Arial"/>
              </a:rPr>
              <a:t>need</a:t>
            </a:r>
            <a:r>
              <a:rPr lang="en-US" sz="1400" spc="-55" dirty="0">
                <a:latin typeface="Arial"/>
                <a:cs typeface="Arial"/>
              </a:rPr>
              <a:t> </a:t>
            </a:r>
            <a:r>
              <a:rPr lang="en-US" sz="1400" dirty="0">
                <a:latin typeface="Arial"/>
                <a:cs typeface="Arial"/>
              </a:rPr>
              <a:t>to</a:t>
            </a:r>
            <a:r>
              <a:rPr lang="en-US" sz="1400" spc="-60" dirty="0">
                <a:latin typeface="Arial"/>
                <a:cs typeface="Arial"/>
              </a:rPr>
              <a:t> </a:t>
            </a:r>
            <a:r>
              <a:rPr lang="en-US" sz="1400" dirty="0">
                <a:latin typeface="Arial"/>
                <a:cs typeface="Arial"/>
              </a:rPr>
              <a:t>take</a:t>
            </a:r>
            <a:r>
              <a:rPr lang="en-US" sz="1400" spc="-60" dirty="0">
                <a:latin typeface="Arial"/>
                <a:cs typeface="Arial"/>
              </a:rPr>
              <a:t> </a:t>
            </a:r>
            <a:r>
              <a:rPr lang="en-US" sz="1400" dirty="0">
                <a:latin typeface="Arial"/>
                <a:cs typeface="Arial"/>
              </a:rPr>
              <a:t>into</a:t>
            </a:r>
            <a:r>
              <a:rPr lang="en-US" sz="1400" spc="-60" dirty="0">
                <a:latin typeface="Arial"/>
                <a:cs typeface="Arial"/>
              </a:rPr>
              <a:t> </a:t>
            </a:r>
            <a:r>
              <a:rPr lang="en-US" sz="1400" dirty="0">
                <a:latin typeface="Arial"/>
                <a:cs typeface="Arial"/>
              </a:rPr>
              <a:t>account</a:t>
            </a:r>
            <a:r>
              <a:rPr lang="en-US" sz="1400" spc="-60" dirty="0">
                <a:latin typeface="Arial"/>
                <a:cs typeface="Arial"/>
              </a:rPr>
              <a:t> </a:t>
            </a:r>
            <a:r>
              <a:rPr lang="en-US" sz="1400" dirty="0">
                <a:latin typeface="Arial"/>
                <a:cs typeface="Arial"/>
              </a:rPr>
              <a:t>the</a:t>
            </a:r>
            <a:r>
              <a:rPr lang="en-US" sz="1400" spc="-50" dirty="0">
                <a:latin typeface="Arial"/>
                <a:cs typeface="Arial"/>
              </a:rPr>
              <a:t> </a:t>
            </a:r>
            <a:r>
              <a:rPr lang="en-US" sz="1400" dirty="0">
                <a:latin typeface="Arial"/>
                <a:cs typeface="Arial"/>
              </a:rPr>
              <a:t>national</a:t>
            </a:r>
            <a:r>
              <a:rPr lang="en-US" sz="1400" spc="-55" dirty="0">
                <a:latin typeface="Arial"/>
                <a:cs typeface="Arial"/>
              </a:rPr>
              <a:t> </a:t>
            </a:r>
            <a:r>
              <a:rPr lang="en-US" sz="1400" dirty="0">
                <a:latin typeface="Arial"/>
                <a:cs typeface="Arial"/>
              </a:rPr>
              <a:t>culture,</a:t>
            </a:r>
            <a:r>
              <a:rPr lang="en-US" sz="1400" spc="-60" dirty="0">
                <a:latin typeface="Arial"/>
                <a:cs typeface="Arial"/>
              </a:rPr>
              <a:t> </a:t>
            </a:r>
            <a:r>
              <a:rPr lang="en-US" sz="1400" dirty="0">
                <a:latin typeface="Arial"/>
                <a:cs typeface="Arial"/>
              </a:rPr>
              <a:t>the</a:t>
            </a:r>
            <a:r>
              <a:rPr lang="en-US" sz="1400" spc="-65" dirty="0">
                <a:latin typeface="Arial"/>
                <a:cs typeface="Arial"/>
              </a:rPr>
              <a:t> </a:t>
            </a:r>
            <a:r>
              <a:rPr lang="en-US" sz="1400" spc="-10" dirty="0">
                <a:latin typeface="Arial"/>
                <a:cs typeface="Arial"/>
              </a:rPr>
              <a:t>general </a:t>
            </a:r>
            <a:r>
              <a:rPr lang="en-US" sz="1400" dirty="0">
                <a:latin typeface="Arial"/>
                <a:cs typeface="Arial"/>
              </a:rPr>
              <a:t>business</a:t>
            </a:r>
            <a:r>
              <a:rPr lang="en-US" sz="1400" spc="-65" dirty="0">
                <a:latin typeface="Arial"/>
                <a:cs typeface="Arial"/>
              </a:rPr>
              <a:t> </a:t>
            </a:r>
            <a:r>
              <a:rPr lang="en-US" sz="1400" dirty="0">
                <a:latin typeface="Arial"/>
                <a:cs typeface="Arial"/>
              </a:rPr>
              <a:t>culture,</a:t>
            </a:r>
            <a:r>
              <a:rPr lang="en-US" sz="1400" spc="-65" dirty="0">
                <a:latin typeface="Arial"/>
                <a:cs typeface="Arial"/>
              </a:rPr>
              <a:t> </a:t>
            </a:r>
            <a:r>
              <a:rPr lang="en-US" sz="1400" dirty="0">
                <a:latin typeface="Arial"/>
                <a:cs typeface="Arial"/>
              </a:rPr>
              <a:t>and</a:t>
            </a:r>
            <a:r>
              <a:rPr lang="en-US" sz="1400" spc="-65" dirty="0">
                <a:latin typeface="Arial"/>
                <a:cs typeface="Arial"/>
              </a:rPr>
              <a:t> </a:t>
            </a:r>
            <a:r>
              <a:rPr lang="en-US" sz="1400" dirty="0">
                <a:latin typeface="Arial"/>
                <a:cs typeface="Arial"/>
              </a:rPr>
              <a:t>the</a:t>
            </a:r>
            <a:r>
              <a:rPr lang="en-US" sz="1400" spc="-55" dirty="0">
                <a:latin typeface="Arial"/>
                <a:cs typeface="Arial"/>
              </a:rPr>
              <a:t> </a:t>
            </a:r>
            <a:r>
              <a:rPr lang="en-US" sz="1400" dirty="0">
                <a:latin typeface="Arial"/>
                <a:cs typeface="Arial"/>
              </a:rPr>
              <a:t>specific</a:t>
            </a:r>
            <a:r>
              <a:rPr lang="en-US" sz="1400" spc="-75" dirty="0">
                <a:latin typeface="Arial"/>
                <a:cs typeface="Arial"/>
              </a:rPr>
              <a:t> </a:t>
            </a:r>
            <a:r>
              <a:rPr lang="en-US" sz="1400" dirty="0">
                <a:latin typeface="Arial"/>
                <a:cs typeface="Arial"/>
              </a:rPr>
              <a:t>corporate</a:t>
            </a:r>
            <a:r>
              <a:rPr lang="en-US" sz="1400" spc="-50" dirty="0">
                <a:latin typeface="Arial"/>
                <a:cs typeface="Arial"/>
              </a:rPr>
              <a:t> </a:t>
            </a:r>
            <a:r>
              <a:rPr lang="en-US" sz="1400" dirty="0">
                <a:latin typeface="Arial"/>
                <a:cs typeface="Arial"/>
              </a:rPr>
              <a:t>culture.</a:t>
            </a:r>
            <a:r>
              <a:rPr lang="en-US" sz="1400" spc="-60" dirty="0">
                <a:latin typeface="Arial"/>
                <a:cs typeface="Arial"/>
              </a:rPr>
              <a:t> </a:t>
            </a:r>
            <a:r>
              <a:rPr lang="en-US" sz="1400" dirty="0">
                <a:latin typeface="Arial"/>
                <a:cs typeface="Arial"/>
              </a:rPr>
              <a:t>In</a:t>
            </a:r>
            <a:r>
              <a:rPr lang="en-US" sz="1400" spc="-50" dirty="0">
                <a:latin typeface="Arial"/>
                <a:cs typeface="Arial"/>
              </a:rPr>
              <a:t> </a:t>
            </a:r>
            <a:r>
              <a:rPr lang="en-US" sz="1400" dirty="0">
                <a:latin typeface="Arial"/>
                <a:cs typeface="Arial"/>
              </a:rPr>
              <a:t>addition,</a:t>
            </a:r>
            <a:r>
              <a:rPr lang="en-US" sz="1400" spc="-70" dirty="0">
                <a:latin typeface="Arial"/>
                <a:cs typeface="Arial"/>
              </a:rPr>
              <a:t> </a:t>
            </a:r>
            <a:r>
              <a:rPr lang="en-US" sz="1400" dirty="0">
                <a:latin typeface="Arial"/>
                <a:cs typeface="Arial"/>
              </a:rPr>
              <a:t>they</a:t>
            </a:r>
            <a:r>
              <a:rPr lang="en-US" sz="1400" spc="-60" dirty="0">
                <a:latin typeface="Arial"/>
                <a:cs typeface="Arial"/>
              </a:rPr>
              <a:t> </a:t>
            </a:r>
            <a:r>
              <a:rPr lang="en-US" sz="1400" dirty="0">
                <a:latin typeface="Arial"/>
                <a:cs typeface="Arial"/>
              </a:rPr>
              <a:t>must</a:t>
            </a:r>
            <a:r>
              <a:rPr lang="en-US" sz="1400" spc="-50" dirty="0">
                <a:latin typeface="Arial"/>
                <a:cs typeface="Arial"/>
              </a:rPr>
              <a:t> </a:t>
            </a:r>
            <a:r>
              <a:rPr lang="en-US" sz="1400" spc="-25" dirty="0">
                <a:latin typeface="Arial"/>
                <a:cs typeface="Arial"/>
              </a:rPr>
              <a:t>be </a:t>
            </a:r>
            <a:r>
              <a:rPr lang="en-US" sz="1400" dirty="0">
                <a:latin typeface="Arial"/>
                <a:cs typeface="Arial"/>
              </a:rPr>
              <a:t>aware</a:t>
            </a:r>
            <a:r>
              <a:rPr lang="en-US" sz="1400" spc="-65" dirty="0">
                <a:latin typeface="Arial"/>
                <a:cs typeface="Arial"/>
              </a:rPr>
              <a:t> </a:t>
            </a:r>
            <a:r>
              <a:rPr lang="en-US" sz="1400" dirty="0">
                <a:latin typeface="Arial"/>
                <a:cs typeface="Arial"/>
              </a:rPr>
              <a:t>of</a:t>
            </a:r>
            <a:r>
              <a:rPr lang="en-US" sz="1400" spc="-75" dirty="0">
                <a:latin typeface="Arial"/>
                <a:cs typeface="Arial"/>
              </a:rPr>
              <a:t> </a:t>
            </a:r>
            <a:r>
              <a:rPr lang="en-US" sz="1400" dirty="0">
                <a:latin typeface="Arial"/>
                <a:cs typeface="Arial"/>
              </a:rPr>
              <a:t>individual</a:t>
            </a:r>
            <a:r>
              <a:rPr lang="en-US" sz="1400" spc="-80" dirty="0">
                <a:latin typeface="Arial"/>
                <a:cs typeface="Arial"/>
              </a:rPr>
              <a:t> </a:t>
            </a:r>
            <a:r>
              <a:rPr lang="en-US" sz="1400" spc="-10" dirty="0">
                <a:latin typeface="Arial"/>
                <a:cs typeface="Arial"/>
              </a:rPr>
              <a:t>communication</a:t>
            </a:r>
            <a:r>
              <a:rPr lang="en-US" sz="1400" spc="-60" dirty="0">
                <a:latin typeface="Arial"/>
                <a:cs typeface="Arial"/>
              </a:rPr>
              <a:t> </a:t>
            </a:r>
            <a:r>
              <a:rPr lang="en-US" sz="1400" spc="-10" dirty="0">
                <a:latin typeface="Arial"/>
                <a:cs typeface="Arial"/>
              </a:rPr>
              <a:t>styles.</a:t>
            </a:r>
          </a:p>
          <a:p>
            <a:endParaRPr lang="en-GB" sz="1400" dirty="0"/>
          </a:p>
          <a:p>
            <a:pPr algn="l"/>
            <a:r>
              <a:rPr lang="en-US" sz="1400" b="0" i="0" u="none" strike="noStrike" baseline="0" dirty="0">
                <a:latin typeface="Times New Roman" panose="02020603050405020304" pitchFamily="18" charset="0"/>
              </a:rPr>
              <a:t>The intercultural business communication research draws heavily</a:t>
            </a:r>
          </a:p>
          <a:p>
            <a:pPr algn="l"/>
            <a:r>
              <a:rPr lang="en-US" sz="1400" b="0" i="0" u="none" strike="noStrike" baseline="0" dirty="0">
                <a:latin typeface="Times New Roman" panose="02020603050405020304" pitchFamily="18" charset="0"/>
              </a:rPr>
              <a:t>from intercultural communication and international business (</a:t>
            </a:r>
            <a:r>
              <a:rPr lang="en-US" sz="1400" b="0" i="0" u="none" strike="noStrike" baseline="0" dirty="0" err="1">
                <a:latin typeface="Times New Roman" panose="02020603050405020304" pitchFamily="18" charset="0"/>
              </a:rPr>
              <a:t>Lovitt</a:t>
            </a:r>
            <a:r>
              <a:rPr lang="en-US" sz="1400" b="0" i="0" u="none" strike="noStrike" baseline="0" dirty="0">
                <a:latin typeface="Times New Roman" panose="02020603050405020304" pitchFamily="18" charset="0"/>
              </a:rPr>
              <a:t>,</a:t>
            </a:r>
          </a:p>
          <a:p>
            <a:pPr algn="l"/>
            <a:r>
              <a:rPr lang="en-US" sz="1400" b="0" i="0" u="none" strike="noStrike" baseline="0" dirty="0">
                <a:latin typeface="Times New Roman" panose="02020603050405020304" pitchFamily="18" charset="0"/>
              </a:rPr>
              <a:t>1999). However, relying on research from related disciplines can create</a:t>
            </a:r>
          </a:p>
          <a:p>
            <a:pPr algn="l"/>
            <a:r>
              <a:rPr lang="en-US" sz="1400" b="0" i="0" u="none" strike="noStrike" baseline="0" dirty="0">
                <a:latin typeface="Times New Roman" panose="02020603050405020304" pitchFamily="18" charset="0"/>
              </a:rPr>
              <a:t>risks. For example, imported research may provide answers to questions</a:t>
            </a:r>
          </a:p>
          <a:p>
            <a:pPr algn="l"/>
            <a:r>
              <a:rPr lang="en-US" sz="1400" b="0" i="0" u="none" strike="noStrike" baseline="0" dirty="0">
                <a:latin typeface="Times New Roman" panose="02020603050405020304" pitchFamily="18" charset="0"/>
              </a:rPr>
              <a:t>that do not go to the heart of intercultural business communication and</a:t>
            </a:r>
          </a:p>
          <a:p>
            <a:pPr algn="l"/>
            <a:r>
              <a:rPr lang="en-US" sz="1400" b="0" i="0" u="none" strike="noStrike" baseline="0" dirty="0">
                <a:latin typeface="Times New Roman" panose="02020603050405020304" pitchFamily="18" charset="0"/>
              </a:rPr>
              <a:t>impose its own conceptual model of intercultural communication or international</a:t>
            </a:r>
          </a:p>
          <a:p>
            <a:pPr algn="l"/>
            <a:r>
              <a:rPr lang="en-US" sz="1400" b="0" i="0" u="none" strike="noStrike" baseline="0" dirty="0" err="1">
                <a:latin typeface="Times New Roman" panose="02020603050405020304" pitchFamily="18" charset="0"/>
              </a:rPr>
              <a:t>husiness</a:t>
            </a:r>
            <a:r>
              <a:rPr lang="en-US" sz="1400" b="0" i="0" u="none" strike="noStrike" baseline="0" dirty="0">
                <a:latin typeface="Times New Roman" panose="02020603050405020304" pitchFamily="18" charset="0"/>
              </a:rPr>
              <a:t> that may hinder the development of more appropriate</a:t>
            </a:r>
          </a:p>
          <a:p>
            <a:pPr algn="l"/>
            <a:r>
              <a:rPr lang="en-US" sz="1400" b="0" i="0" u="none" strike="noStrike" baseline="0" dirty="0">
                <a:latin typeface="Times New Roman" panose="02020603050405020304" pitchFamily="18" charset="0"/>
              </a:rPr>
              <a:t>concepts of intercultural </a:t>
            </a:r>
            <a:r>
              <a:rPr lang="en-US" sz="1400" b="0" i="0" u="none" strike="noStrike" baseline="0" dirty="0" err="1">
                <a:latin typeface="Times New Roman" panose="02020603050405020304" pitchFamily="18" charset="0"/>
              </a:rPr>
              <a:t>husiness</a:t>
            </a:r>
            <a:r>
              <a:rPr lang="en-US" sz="1400" b="0" i="0" u="none" strike="noStrike" baseline="0" dirty="0">
                <a:latin typeface="Times New Roman" panose="02020603050405020304" pitchFamily="18" charset="0"/>
              </a:rPr>
              <a:t> communication (</a:t>
            </a:r>
            <a:r>
              <a:rPr lang="en-US" sz="1400" b="0" i="0" u="none" strike="noStrike" baseline="0" dirty="0" err="1">
                <a:latin typeface="Times New Roman" panose="02020603050405020304" pitchFamily="18" charset="0"/>
              </a:rPr>
              <a:t>Lovitt</a:t>
            </a:r>
            <a:r>
              <a:rPr lang="en-US" sz="1400" b="0" i="0" u="none" strike="noStrike" baseline="0" dirty="0">
                <a:latin typeface="Times New Roman" panose="02020603050405020304" pitchFamily="18" charset="0"/>
              </a:rPr>
              <a:t>, 1999).</a:t>
            </a:r>
            <a:endParaRPr lang="en-GB" sz="1400" b="0" i="0" u="none" strike="noStrike" baseline="0" dirty="0">
              <a:latin typeface="Times New Roman" panose="02020603050405020304" pitchFamily="18" charset="0"/>
            </a:endParaRPr>
          </a:p>
          <a:p>
            <a:pPr algn="l"/>
            <a:endParaRPr lang="en-GB" sz="1400" b="0" i="0" u="none" strike="noStrike" baseline="0" dirty="0">
              <a:latin typeface="Times New Roman" panose="02020603050405020304" pitchFamily="18" charset="0"/>
            </a:endParaRPr>
          </a:p>
          <a:p>
            <a:pPr algn="l"/>
            <a:r>
              <a:rPr lang="en-US" sz="1400" b="0" i="0" u="none" strike="noStrike" baseline="0" dirty="0">
                <a:latin typeface="Times New Roman" panose="02020603050405020304" pitchFamily="18" charset="0"/>
              </a:rPr>
              <a:t>When two business people from two different cultures interact, they</a:t>
            </a:r>
          </a:p>
          <a:p>
            <a:pPr algn="l"/>
            <a:r>
              <a:rPr lang="en-US" sz="1400" b="0" i="0" u="none" strike="noStrike" baseline="0" dirty="0">
                <a:latin typeface="Times New Roman" panose="02020603050405020304" pitchFamily="18" charset="0"/>
              </a:rPr>
              <a:t>bring their own backgrounds with them, but they also step outside their</a:t>
            </a:r>
          </a:p>
          <a:p>
            <a:pPr algn="l"/>
            <a:r>
              <a:rPr lang="en-US" sz="1400" b="0" i="0" u="none" strike="noStrike" baseline="0" dirty="0">
                <a:latin typeface="Times New Roman" panose="02020603050405020304" pitchFamily="18" charset="0"/>
              </a:rPr>
              <a:t>own cultural and business environment and create a new context (</a:t>
            </a:r>
            <a:r>
              <a:rPr lang="en-US" sz="1400" b="0" i="0" u="none" strike="noStrike" baseline="0" dirty="0" err="1">
                <a:latin typeface="Times New Roman" panose="02020603050405020304" pitchFamily="18" charset="0"/>
              </a:rPr>
              <a:t>Bolten</a:t>
            </a:r>
            <a:r>
              <a:rPr lang="en-US" sz="1400" b="0" i="0" u="none" strike="noStrike" baseline="0" dirty="0">
                <a:latin typeface="Times New Roman" panose="02020603050405020304" pitchFamily="18" charset="0"/>
              </a:rPr>
              <a:t>,</a:t>
            </a:r>
          </a:p>
          <a:p>
            <a:pPr algn="l"/>
            <a:r>
              <a:rPr lang="en-US" sz="1400" b="0" i="0" u="none" strike="noStrike" baseline="0" dirty="0">
                <a:latin typeface="Times New Roman" panose="02020603050405020304" pitchFamily="18" charset="0"/>
              </a:rPr>
              <a:t>1999). Bell (1992) calls this new context "transactional culture" (p. 452).</a:t>
            </a:r>
            <a:endParaRPr lang="en-GB" sz="1400" b="0" i="0" u="none" strike="noStrike" baseline="0" dirty="0">
              <a:latin typeface="Times New Roman" panose="02020603050405020304" pitchFamily="18" charset="0"/>
            </a:endParaRPr>
          </a:p>
          <a:p>
            <a:pPr algn="l"/>
            <a:endParaRPr lang="en-GB" sz="1400" b="0" i="0" u="none" strike="noStrike" baseline="0" dirty="0">
              <a:latin typeface="Times New Roman" panose="02020603050405020304" pitchFamily="18" charset="0"/>
            </a:endParaRPr>
          </a:p>
          <a:p>
            <a:pPr algn="l"/>
            <a:r>
              <a:rPr lang="en-US" sz="1400" b="0" i="0" u="none" strike="noStrike" baseline="0" dirty="0">
                <a:latin typeface="Times New Roman" panose="02020603050405020304" pitchFamily="18" charset="0"/>
              </a:rPr>
              <a:t>The difference between intercultural communication and intercultural</a:t>
            </a:r>
          </a:p>
          <a:p>
            <a:pPr algn="l"/>
            <a:r>
              <a:rPr lang="en-US" sz="1400" b="0" i="0" u="none" strike="noStrike" baseline="0" dirty="0">
                <a:latin typeface="Times New Roman" panose="02020603050405020304" pitchFamily="18" charset="0"/>
              </a:rPr>
              <a:t>business communication is not just that the latter takes place in a business.</a:t>
            </a:r>
          </a:p>
          <a:p>
            <a:pPr algn="l"/>
            <a:r>
              <a:rPr lang="en-US" sz="1400" b="0" i="0" u="none" strike="noStrike" baseline="0" dirty="0">
                <a:latin typeface="Times New Roman" panose="02020603050405020304" pitchFamily="18" charset="0"/>
              </a:rPr>
              <a:t>In intercultural business communication the business strategies,</a:t>
            </a:r>
          </a:p>
          <a:p>
            <a:pPr algn="l"/>
            <a:r>
              <a:rPr lang="en-US" sz="1400" b="0" i="0" u="none" strike="noStrike" baseline="0" dirty="0">
                <a:latin typeface="Times New Roman" panose="02020603050405020304" pitchFamily="18" charset="0"/>
              </a:rPr>
              <a:t>goals, objectives, and practices become an integral part of the communication</a:t>
            </a:r>
          </a:p>
          <a:p>
            <a:pPr algn="l"/>
            <a:r>
              <a:rPr lang="en-US" sz="1400" b="0" i="0" u="none" strike="noStrike" baseline="0" dirty="0">
                <a:latin typeface="Times New Roman" panose="02020603050405020304" pitchFamily="18" charset="0"/>
              </a:rPr>
              <a:t>process and help create a new environment out of the synergy of</a:t>
            </a:r>
          </a:p>
          <a:p>
            <a:pPr algn="l"/>
            <a:r>
              <a:rPr lang="en-GB" sz="1400" b="0" i="0" u="none" strike="noStrike" baseline="0" dirty="0">
                <a:latin typeface="Times New Roman" panose="02020603050405020304" pitchFamily="18" charset="0"/>
              </a:rPr>
              <a:t>culture, communication, and business.</a:t>
            </a:r>
            <a:endParaRPr lang="en-GB" sz="1400" dirty="0"/>
          </a:p>
        </p:txBody>
      </p:sp>
      <p:sp>
        <p:nvSpPr>
          <p:cNvPr id="4" name="Slide Number Placeholder 3"/>
          <p:cNvSpPr>
            <a:spLocks noGrp="1"/>
          </p:cNvSpPr>
          <p:nvPr>
            <p:ph type="sldNum" sz="quarter" idx="5"/>
          </p:nvPr>
        </p:nvSpPr>
        <p:spPr/>
        <p:txBody>
          <a:bodyPr/>
          <a:lstStyle/>
          <a:p>
            <a:fld id="{51D890D9-946C-F447-A007-CD62FC879AC5}" type="slidenum">
              <a:rPr lang="en-US" smtClean="0"/>
              <a:t>33</a:t>
            </a:fld>
            <a:endParaRPr lang="en-US"/>
          </a:p>
        </p:txBody>
      </p:sp>
    </p:spTree>
    <p:extLst>
      <p:ext uri="{BB962C8B-B14F-4D97-AF65-F5344CB8AC3E}">
        <p14:creationId xmlns:p14="http://schemas.microsoft.com/office/powerpoint/2010/main" val="323207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34</a:t>
            </a:fld>
            <a:endParaRPr lang="en-US"/>
          </a:p>
        </p:txBody>
      </p:sp>
    </p:spTree>
    <p:extLst>
      <p:ext uri="{BB962C8B-B14F-4D97-AF65-F5344CB8AC3E}">
        <p14:creationId xmlns:p14="http://schemas.microsoft.com/office/powerpoint/2010/main" val="4160192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Do you know what ethnocentric attitudes/culture means?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This is where the ‘home’ culture of the MNC, their corporate and managerial culture, is imposed in the parts of the organisation in ‘host’ countries. This can create a lot of noise!</a:t>
            </a:r>
          </a:p>
          <a:p>
            <a:r>
              <a:rPr lang="en-GB" b="1" dirty="0"/>
              <a:t>What is the danger of doing this?</a:t>
            </a:r>
          </a:p>
          <a:p>
            <a:r>
              <a:rPr lang="en-GB" b="0" dirty="0"/>
              <a:t>They may become disgruntled, demotivated, may stop sharing information, may feel insulted or disrespected.</a:t>
            </a:r>
          </a:p>
          <a:p>
            <a:endParaRPr lang="en-GB" b="0" dirty="0"/>
          </a:p>
          <a:p>
            <a:r>
              <a:rPr lang="en-GB" b="0" dirty="0"/>
              <a:t>To avoid this you could practice geocentric or polycentric culture</a:t>
            </a:r>
          </a:p>
          <a:p>
            <a:r>
              <a:rPr lang="en-GB" b="1" dirty="0"/>
              <a:t>Polycentric </a:t>
            </a:r>
            <a:r>
              <a:rPr lang="en-GB" b="0" dirty="0"/>
              <a:t>where MNC recognises the different culture in every host country, employees people with own culture, management, style of communication. Respects the culture and does not impose.</a:t>
            </a:r>
          </a:p>
          <a:p>
            <a:r>
              <a:rPr lang="en-GB" b="0" dirty="0"/>
              <a:t>In </a:t>
            </a:r>
            <a:r>
              <a:rPr lang="en-GB" b="1" dirty="0"/>
              <a:t>geocentric, </a:t>
            </a:r>
            <a:r>
              <a:rPr lang="en-GB" b="0" dirty="0"/>
              <a:t>the organisation understands about different cultures an attempts to build an international corporate culture. Picks bits form different cultures to create a best practise corporate culture. </a:t>
            </a:r>
            <a:r>
              <a:rPr lang="en-GB" b="0" dirty="0" err="1"/>
              <a:t>Eg</a:t>
            </a:r>
            <a:r>
              <a:rPr lang="en-GB" b="0" dirty="0"/>
              <a:t> </a:t>
            </a:r>
            <a:r>
              <a:rPr lang="en-GB" b="0" dirty="0" err="1"/>
              <a:t>Coca-cola</a:t>
            </a:r>
            <a:r>
              <a:rPr lang="en-GB" b="0" dirty="0"/>
              <a:t> and also google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35</a:t>
            </a:fld>
            <a:endParaRPr lang="en-US"/>
          </a:p>
        </p:txBody>
      </p:sp>
    </p:spTree>
    <p:extLst>
      <p:ext uri="{BB962C8B-B14F-4D97-AF65-F5344CB8AC3E}">
        <p14:creationId xmlns:p14="http://schemas.microsoft.com/office/powerpoint/2010/main" val="15540102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36</a:t>
            </a:fld>
            <a:endParaRPr lang="en-US"/>
          </a:p>
        </p:txBody>
      </p:sp>
    </p:spTree>
    <p:extLst>
      <p:ext uri="{BB962C8B-B14F-4D97-AF65-F5344CB8AC3E}">
        <p14:creationId xmlns:p14="http://schemas.microsoft.com/office/powerpoint/2010/main" val="6191467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37</a:t>
            </a:fld>
            <a:endParaRPr lang="en-US"/>
          </a:p>
        </p:txBody>
      </p:sp>
    </p:spTree>
    <p:extLst>
      <p:ext uri="{BB962C8B-B14F-4D97-AF65-F5344CB8AC3E}">
        <p14:creationId xmlns:p14="http://schemas.microsoft.com/office/powerpoint/2010/main" val="1562204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38</a:t>
            </a:fld>
            <a:endParaRPr lang="en-US"/>
          </a:p>
        </p:txBody>
      </p:sp>
    </p:spTree>
    <p:extLst>
      <p:ext uri="{BB962C8B-B14F-4D97-AF65-F5344CB8AC3E}">
        <p14:creationId xmlns:p14="http://schemas.microsoft.com/office/powerpoint/2010/main" val="42060588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39</a:t>
            </a:fld>
            <a:endParaRPr lang="en-US"/>
          </a:p>
        </p:txBody>
      </p:sp>
    </p:spTree>
    <p:extLst>
      <p:ext uri="{BB962C8B-B14F-4D97-AF65-F5344CB8AC3E}">
        <p14:creationId xmlns:p14="http://schemas.microsoft.com/office/powerpoint/2010/main" val="3212205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40</a:t>
            </a:fld>
            <a:endParaRPr lang="en-US"/>
          </a:p>
        </p:txBody>
      </p:sp>
    </p:spTree>
    <p:extLst>
      <p:ext uri="{BB962C8B-B14F-4D97-AF65-F5344CB8AC3E}">
        <p14:creationId xmlns:p14="http://schemas.microsoft.com/office/powerpoint/2010/main" val="38868916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075C-4794-4732-6D67-6367AE6E8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CAAE9-E394-443C-FE42-D73317EEF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A95E0-F3BC-48BA-6CAB-DF391E648D7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17CFC34-8D3F-6BD8-A496-ADF7CABE9526}"/>
              </a:ext>
            </a:extLst>
          </p:cNvPr>
          <p:cNvSpPr>
            <a:spLocks noGrp="1"/>
          </p:cNvSpPr>
          <p:nvPr>
            <p:ph type="sldNum" sz="quarter" idx="5"/>
          </p:nvPr>
        </p:nvSpPr>
        <p:spPr/>
        <p:txBody>
          <a:bodyPr/>
          <a:lstStyle/>
          <a:p>
            <a:fld id="{51D890D9-946C-F447-A007-CD62FC879AC5}" type="slidenum">
              <a:rPr lang="en-US" smtClean="0"/>
              <a:t>41</a:t>
            </a:fld>
            <a:endParaRPr lang="en-US"/>
          </a:p>
        </p:txBody>
      </p:sp>
    </p:spTree>
    <p:extLst>
      <p:ext uri="{BB962C8B-B14F-4D97-AF65-F5344CB8AC3E}">
        <p14:creationId xmlns:p14="http://schemas.microsoft.com/office/powerpoint/2010/main" val="211968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Intro - Blue">
    <p:bg>
      <p:bgPr>
        <a:solidFill>
          <a:srgbClr val="3E77C0"/>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AA45605-E101-0EBA-E3C7-E88F3A8F03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5720389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go Intro - Mustard">
    <p:bg>
      <p:bgPr>
        <a:solidFill>
          <a:srgbClr val="FFC00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34111678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go Intro - Pink">
    <p:bg>
      <p:bgPr>
        <a:solidFill>
          <a:srgbClr val="F088B6"/>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0C359C5-7041-3106-960A-4317A98729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495233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o Intro - Red">
    <p:bg>
      <p:bgPr>
        <a:solidFill>
          <a:srgbClr val="FF3B58"/>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EDCD93D9-F4BB-135B-2729-5A64EE0DA2B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65924804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ogo Intro - Teal">
    <p:bg>
      <p:bgPr>
        <a:solidFill>
          <a:srgbClr val="1CA69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59C9131-9802-35F9-E086-DF9C52E499C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56421408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Intro - Black">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525332" y="2057399"/>
            <a:ext cx="7141336" cy="1859622"/>
          </a:xfrm>
          <a:prstGeom prst="rect">
            <a:avLst/>
          </a:prstGeom>
        </p:spPr>
      </p:pic>
    </p:spTree>
    <p:extLst>
      <p:ext uri="{BB962C8B-B14F-4D97-AF65-F5344CB8AC3E}">
        <p14:creationId xmlns:p14="http://schemas.microsoft.com/office/powerpoint/2010/main" val="351289843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 Intro - White">
    <p:bg>
      <p:bgPr>
        <a:solidFill>
          <a:schemeClr val="tx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B4789F8-AA27-494F-AA74-293C75985B9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55079119"/>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screenshot, fireworks&#10;&#10;Description automatically generated">
            <a:extLst>
              <a:ext uri="{FF2B5EF4-FFF2-40B4-BE49-F238E27FC236}">
                <a16:creationId xmlns:a16="http://schemas.microsoft.com/office/drawing/2014/main" id="{15B96FEC-57BA-5533-1816-0C6E4EC31D0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12700"/>
            <a:ext cx="12214663" cy="6845300"/>
          </a:xfrm>
          <a:prstGeom prst="rect">
            <a:avLst/>
          </a:prstGeom>
        </p:spPr>
      </p:pic>
      <p:sp>
        <p:nvSpPr>
          <p:cNvPr id="5" name="Title 1">
            <a:extLst>
              <a:ext uri="{FF2B5EF4-FFF2-40B4-BE49-F238E27FC236}">
                <a16:creationId xmlns:a16="http://schemas.microsoft.com/office/drawing/2014/main" id="{727C368D-4969-E2C9-1121-03D776A952F6}"/>
              </a:ext>
            </a:extLst>
          </p:cNvPr>
          <p:cNvSpPr>
            <a:spLocks noGrp="1"/>
          </p:cNvSpPr>
          <p:nvPr>
            <p:ph type="title" hasCustomPrompt="1"/>
          </p:nvPr>
        </p:nvSpPr>
        <p:spPr>
          <a:xfrm>
            <a:off x="292522" y="406399"/>
            <a:ext cx="9537278" cy="4089401"/>
          </a:xfrm>
          <a:prstGeom prst="rect">
            <a:avLst/>
          </a:prstGeom>
        </p:spPr>
        <p:txBody>
          <a:bodyPr anchor="ctr">
            <a:noAutofit/>
          </a:bodyPr>
          <a:lstStyle>
            <a:lvl1pPr>
              <a:defRPr sz="9000" b="0" i="0" u="none" cap="all" baseline="0">
                <a:solidFill>
                  <a:schemeClr val="bg1"/>
                </a:solidFill>
                <a:latin typeface="Impact" panose="020B0806030902050204" pitchFamily="34" charset="0"/>
                <a:ea typeface="Beatrice" pitchFamily="2" charset="77"/>
              </a:defRPr>
            </a:lvl1pPr>
          </a:lstStyle>
          <a:p>
            <a:r>
              <a:rPr lang="en-US" dirty="0"/>
              <a:t>Insert title </a:t>
            </a:r>
            <a:br>
              <a:rPr lang="en-US" dirty="0"/>
            </a:br>
            <a:r>
              <a:rPr lang="en-US" dirty="0"/>
              <a:t>text here</a:t>
            </a:r>
          </a:p>
        </p:txBody>
      </p:sp>
      <p:pic>
        <p:nvPicPr>
          <p:cNvPr id="7" name="Picture 6">
            <a:extLst>
              <a:ext uri="{FF2B5EF4-FFF2-40B4-BE49-F238E27FC236}">
                <a16:creationId xmlns:a16="http://schemas.microsoft.com/office/drawing/2014/main" id="{1DA5680C-DFDF-3627-5CBC-C4D906DE6C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633143" y="5673919"/>
            <a:ext cx="3114674" cy="777682"/>
          </a:xfrm>
          <a:prstGeom prst="rect">
            <a:avLst/>
          </a:prstGeom>
        </p:spPr>
      </p:pic>
    </p:spTree>
    <p:extLst>
      <p:ext uri="{BB962C8B-B14F-4D97-AF65-F5344CB8AC3E}">
        <p14:creationId xmlns:p14="http://schemas.microsoft.com/office/powerpoint/2010/main" val="232601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Text / Image 1">
    <p:bg>
      <p:bgPr>
        <a:solidFill>
          <a:schemeClr val="bg1">
            <a:lumMod val="95000"/>
          </a:schemeClr>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E57500C-78C7-9101-A77C-A4F2F86AC100}"/>
              </a:ext>
            </a:extLst>
          </p:cNvPr>
          <p:cNvGrpSpPr/>
          <p:nvPr userDrawn="1"/>
        </p:nvGrpSpPr>
        <p:grpSpPr>
          <a:xfrm>
            <a:off x="-1" y="132520"/>
            <a:ext cx="12192001" cy="6619463"/>
            <a:chOff x="-1" y="132520"/>
            <a:chExt cx="12192001" cy="6619463"/>
          </a:xfrm>
        </p:grpSpPr>
        <p:pic>
          <p:nvPicPr>
            <p:cNvPr id="12" name="Picture 11" descr="Shape&#10;&#10;Description automatically generated">
              <a:extLst>
                <a:ext uri="{FF2B5EF4-FFF2-40B4-BE49-F238E27FC236}">
                  <a16:creationId xmlns:a16="http://schemas.microsoft.com/office/drawing/2014/main" id="{685863C0-3CC0-79D1-C10E-E4A128FDB0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5428020"/>
              <a:ext cx="1846729" cy="1323963"/>
            </a:xfrm>
            <a:prstGeom prst="rect">
              <a:avLst/>
            </a:prstGeom>
          </p:spPr>
        </p:pic>
        <p:pic>
          <p:nvPicPr>
            <p:cNvPr id="13" name="Picture 12" descr="Shape&#10;&#10;Description automatically generated">
              <a:extLst>
                <a:ext uri="{FF2B5EF4-FFF2-40B4-BE49-F238E27FC236}">
                  <a16:creationId xmlns:a16="http://schemas.microsoft.com/office/drawing/2014/main" id="{011EFACB-3A5C-91A4-B00C-B6D273EEA6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26122" y="132520"/>
              <a:ext cx="1865878" cy="1337691"/>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6" name="Content Placeholder 1">
            <a:extLst>
              <a:ext uri="{FF2B5EF4-FFF2-40B4-BE49-F238E27FC236}">
                <a16:creationId xmlns:a16="http://schemas.microsoft.com/office/drawing/2014/main" id="{9846EE08-C60C-6611-7559-F5A3D426BE0D}"/>
              </a:ext>
            </a:extLst>
          </p:cNvPr>
          <p:cNvSpPr>
            <a:spLocks noGrp="1"/>
          </p:cNvSpPr>
          <p:nvPr>
            <p:ph idx="14" hasCustomPrompt="1"/>
          </p:nvPr>
        </p:nvSpPr>
        <p:spPr>
          <a:xfrm>
            <a:off x="574240" y="1645920"/>
            <a:ext cx="10980451" cy="3557847"/>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800539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Text / Image 2">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0D43A2C-7F7D-F522-D966-8A94D059926D}"/>
              </a:ext>
            </a:extLst>
          </p:cNvPr>
          <p:cNvGrpSpPr/>
          <p:nvPr userDrawn="1"/>
        </p:nvGrpSpPr>
        <p:grpSpPr>
          <a:xfrm>
            <a:off x="4573" y="59918"/>
            <a:ext cx="12124601" cy="6763575"/>
            <a:chOff x="4573" y="59918"/>
            <a:chExt cx="12124601" cy="6763575"/>
          </a:xfrm>
        </p:grpSpPr>
        <p:pic>
          <p:nvPicPr>
            <p:cNvPr id="3" name="Picture 2" descr="A yellow star with a black background&#10;&#10;Description automatically generated with low confidence">
              <a:extLst>
                <a:ext uri="{FF2B5EF4-FFF2-40B4-BE49-F238E27FC236}">
                  <a16:creationId xmlns:a16="http://schemas.microsoft.com/office/drawing/2014/main" id="{F599F180-AC71-CE73-1173-AC3ED7CBDF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3" y="5184009"/>
              <a:ext cx="1703892" cy="1639484"/>
            </a:xfrm>
            <a:prstGeom prst="rect">
              <a:avLst/>
            </a:prstGeom>
          </p:spPr>
        </p:pic>
        <p:pic>
          <p:nvPicPr>
            <p:cNvPr id="4" name="Picture 3" descr="A yellow star with a black background&#10;&#10;Description automatically generated with low confidence">
              <a:extLst>
                <a:ext uri="{FF2B5EF4-FFF2-40B4-BE49-F238E27FC236}">
                  <a16:creationId xmlns:a16="http://schemas.microsoft.com/office/drawing/2014/main" id="{D6156A45-B06D-93C2-2F7D-15E6A4E29E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25282" y="59918"/>
              <a:ext cx="1703892" cy="1639484"/>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4E1BA221-E291-FFB6-E5F1-8AE178158877}"/>
              </a:ext>
            </a:extLst>
          </p:cNvPr>
          <p:cNvSpPr>
            <a:spLocks noGrp="1"/>
          </p:cNvSpPr>
          <p:nvPr>
            <p:ph idx="13" hasCustomPrompt="1"/>
          </p:nvPr>
        </p:nvSpPr>
        <p:spPr>
          <a:xfrm>
            <a:off x="574240" y="1645920"/>
            <a:ext cx="10980451" cy="3538089"/>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1889316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 Image 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2E0A79-490D-14C4-F974-11E2E0181BB3}"/>
              </a:ext>
            </a:extLst>
          </p:cNvPr>
          <p:cNvGrpSpPr/>
          <p:nvPr userDrawn="1"/>
        </p:nvGrpSpPr>
        <p:grpSpPr>
          <a:xfrm>
            <a:off x="164597" y="191844"/>
            <a:ext cx="11844874" cy="6529141"/>
            <a:chOff x="164597" y="191844"/>
            <a:chExt cx="11844874" cy="6529141"/>
          </a:xfrm>
        </p:grpSpPr>
        <p:pic>
          <p:nvPicPr>
            <p:cNvPr id="4" name="Picture 3" descr="A picture containing shape&#10;&#10;Description automatically generated">
              <a:extLst>
                <a:ext uri="{FF2B5EF4-FFF2-40B4-BE49-F238E27FC236}">
                  <a16:creationId xmlns:a16="http://schemas.microsoft.com/office/drawing/2014/main" id="{BD70B058-B4D0-65A6-2C50-5166F35FCE6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64597" y="5495288"/>
              <a:ext cx="1541327" cy="1225697"/>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9FA93485-F273-1BFA-737E-980BFAEDDC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flipH="1">
              <a:off x="10468144" y="191844"/>
              <a:ext cx="1541327" cy="1225697"/>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D810EC07-7220-6405-0597-FBD62F939213}"/>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289245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ext / Image 4">
    <p:bg>
      <p:bgPr>
        <a:solidFill>
          <a:schemeClr val="bg1">
            <a:lumMod val="95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grpSp>
        <p:nvGrpSpPr>
          <p:cNvPr id="5" name="Group 4">
            <a:extLst>
              <a:ext uri="{FF2B5EF4-FFF2-40B4-BE49-F238E27FC236}">
                <a16:creationId xmlns:a16="http://schemas.microsoft.com/office/drawing/2014/main" id="{C9F18925-F85C-D131-011C-526A582F4B4F}"/>
              </a:ext>
            </a:extLst>
          </p:cNvPr>
          <p:cNvGrpSpPr/>
          <p:nvPr userDrawn="1"/>
        </p:nvGrpSpPr>
        <p:grpSpPr>
          <a:xfrm>
            <a:off x="66260" y="66260"/>
            <a:ext cx="12025040" cy="6738732"/>
            <a:chOff x="66260" y="66260"/>
            <a:chExt cx="12025040" cy="6738732"/>
          </a:xfrm>
        </p:grpSpPr>
        <p:pic>
          <p:nvPicPr>
            <p:cNvPr id="7" name="Picture 6" descr="Shape&#10;&#10;Description automatically generated">
              <a:extLst>
                <a:ext uri="{FF2B5EF4-FFF2-40B4-BE49-F238E27FC236}">
                  <a16:creationId xmlns:a16="http://schemas.microsoft.com/office/drawing/2014/main" id="{373F1712-B533-21FC-01AC-4AEFCF410E8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260" y="5433392"/>
              <a:ext cx="2437092" cy="1371600"/>
            </a:xfrm>
            <a:prstGeom prst="rect">
              <a:avLst/>
            </a:prstGeom>
          </p:spPr>
        </p:pic>
        <p:pic>
          <p:nvPicPr>
            <p:cNvPr id="9" name="Picture 8" descr="Shape&#10;&#10;Description automatically generated">
              <a:extLst>
                <a:ext uri="{FF2B5EF4-FFF2-40B4-BE49-F238E27FC236}">
                  <a16:creationId xmlns:a16="http://schemas.microsoft.com/office/drawing/2014/main" id="{92F91E10-FAB2-4120-0F13-629A41F559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9654208" y="66260"/>
              <a:ext cx="2437092" cy="1371600"/>
            </a:xfrm>
            <a:prstGeom prst="rect">
              <a:avLst/>
            </a:prstGeom>
          </p:spPr>
        </p:pic>
      </p:grpSp>
      <p:sp>
        <p:nvSpPr>
          <p:cNvPr id="10" name="Content Placeholder 1">
            <a:extLst>
              <a:ext uri="{FF2B5EF4-FFF2-40B4-BE49-F238E27FC236}">
                <a16:creationId xmlns:a16="http://schemas.microsoft.com/office/drawing/2014/main" id="{8E4D6CBC-5F47-838E-5EA6-EC8C6DD1B4B6}"/>
              </a:ext>
            </a:extLst>
          </p:cNvPr>
          <p:cNvSpPr>
            <a:spLocks noGrp="1"/>
          </p:cNvSpPr>
          <p:nvPr>
            <p:ph idx="13" hasCustomPrompt="1"/>
          </p:nvPr>
        </p:nvSpPr>
        <p:spPr>
          <a:xfrm>
            <a:off x="574240" y="1645920"/>
            <a:ext cx="10980451" cy="3607724"/>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775000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 Image 5">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660F8BE-8535-0A6D-3C7D-584A13A08D87}"/>
              </a:ext>
            </a:extLst>
          </p:cNvPr>
          <p:cNvGrpSpPr/>
          <p:nvPr userDrawn="1"/>
        </p:nvGrpSpPr>
        <p:grpSpPr>
          <a:xfrm>
            <a:off x="0" y="0"/>
            <a:ext cx="12190476" cy="6858000"/>
            <a:chOff x="0" y="0"/>
            <a:chExt cx="12190476" cy="6858000"/>
          </a:xfrm>
        </p:grpSpPr>
        <p:pic>
          <p:nvPicPr>
            <p:cNvPr id="4" name="Picture 3" descr="Shape, rectangle&#10;&#10;Description automatically generated">
              <a:extLst>
                <a:ext uri="{FF2B5EF4-FFF2-40B4-BE49-F238E27FC236}">
                  <a16:creationId xmlns:a16="http://schemas.microsoft.com/office/drawing/2014/main" id="{4B66CEE4-A825-4223-10DF-E13ED9A0B3C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818537"/>
              <a:ext cx="1846943" cy="1039463"/>
            </a:xfrm>
            <a:prstGeom prst="rect">
              <a:avLst/>
            </a:prstGeom>
          </p:spPr>
        </p:pic>
        <p:pic>
          <p:nvPicPr>
            <p:cNvPr id="6" name="Picture 5" descr="Shape, rectangle&#10;&#10;Description automatically generated">
              <a:extLst>
                <a:ext uri="{FF2B5EF4-FFF2-40B4-BE49-F238E27FC236}">
                  <a16:creationId xmlns:a16="http://schemas.microsoft.com/office/drawing/2014/main" id="{A9FB3CD6-7EE3-A5AC-8D4A-43299D34B38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flipV="1">
              <a:off x="10343533" y="0"/>
              <a:ext cx="1846943" cy="1039463"/>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462707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ext / Image 6">
    <p:bg>
      <p:bgPr>
        <a:solidFill>
          <a:schemeClr val="bg1">
            <a:lumMod val="95000"/>
          </a:schemeClr>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258EA6-9FB2-815D-57CF-615D3156E80E}"/>
              </a:ext>
            </a:extLst>
          </p:cNvPr>
          <p:cNvGrpSpPr/>
          <p:nvPr userDrawn="1"/>
        </p:nvGrpSpPr>
        <p:grpSpPr>
          <a:xfrm>
            <a:off x="28090" y="1"/>
            <a:ext cx="12160862" cy="6854674"/>
            <a:chOff x="28090" y="1"/>
            <a:chExt cx="12160862" cy="6854674"/>
          </a:xfrm>
        </p:grpSpPr>
        <p:pic>
          <p:nvPicPr>
            <p:cNvPr id="7" name="Picture 6" descr="Logo&#10;&#10;Description automatically generated">
              <a:extLst>
                <a:ext uri="{FF2B5EF4-FFF2-40B4-BE49-F238E27FC236}">
                  <a16:creationId xmlns:a16="http://schemas.microsoft.com/office/drawing/2014/main" id="{EFEC4D6A-4A22-15C3-F75A-33BC8BC246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48563" y="5150836"/>
              <a:ext cx="2180492" cy="1227185"/>
            </a:xfrm>
            <a:prstGeom prst="rect">
              <a:avLst/>
            </a:prstGeom>
          </p:spPr>
        </p:pic>
        <p:pic>
          <p:nvPicPr>
            <p:cNvPr id="9" name="Picture 8" descr="Logo&#10;&#10;Description automatically generated">
              <a:extLst>
                <a:ext uri="{FF2B5EF4-FFF2-40B4-BE49-F238E27FC236}">
                  <a16:creationId xmlns:a16="http://schemas.microsoft.com/office/drawing/2014/main" id="{9038D2EC-E056-06EE-6961-9C7E479FDDC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flipH="1">
              <a:off x="10485114" y="476654"/>
              <a:ext cx="2180492" cy="1227185"/>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0" name="Content Placeholder 1">
            <a:extLst>
              <a:ext uri="{FF2B5EF4-FFF2-40B4-BE49-F238E27FC236}">
                <a16:creationId xmlns:a16="http://schemas.microsoft.com/office/drawing/2014/main" id="{D8B7A707-66EB-F3C0-7C6B-41B63F4EC67B}"/>
              </a:ext>
            </a:extLst>
          </p:cNvPr>
          <p:cNvSpPr>
            <a:spLocks noGrp="1"/>
          </p:cNvSpPr>
          <p:nvPr>
            <p:ph idx="13" hasCustomPrompt="1"/>
          </p:nvPr>
        </p:nvSpPr>
        <p:spPr>
          <a:xfrm>
            <a:off x="1255276" y="1645920"/>
            <a:ext cx="9667649" cy="4572000"/>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314366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Text / Image 7">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36B1C24-D3E5-EB08-D472-3268D44B70F2}"/>
              </a:ext>
            </a:extLst>
          </p:cNvPr>
          <p:cNvGrpSpPr/>
          <p:nvPr userDrawn="1"/>
        </p:nvGrpSpPr>
        <p:grpSpPr>
          <a:xfrm>
            <a:off x="41360" y="-25400"/>
            <a:ext cx="12123716" cy="6857999"/>
            <a:chOff x="66760" y="0"/>
            <a:chExt cx="12123716" cy="6857999"/>
          </a:xfrm>
        </p:grpSpPr>
        <p:pic>
          <p:nvPicPr>
            <p:cNvPr id="5" name="Picture 4" descr="Shape&#10;&#10;Description automatically generated">
              <a:extLst>
                <a:ext uri="{FF2B5EF4-FFF2-40B4-BE49-F238E27FC236}">
                  <a16:creationId xmlns:a16="http://schemas.microsoft.com/office/drawing/2014/main" id="{99BF3BF0-382E-38F4-F4C8-EAE9F7EFE6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760" y="5627077"/>
              <a:ext cx="1294317" cy="1230922"/>
            </a:xfrm>
            <a:prstGeom prst="rect">
              <a:avLst/>
            </a:prstGeom>
          </p:spPr>
        </p:pic>
        <p:pic>
          <p:nvPicPr>
            <p:cNvPr id="7" name="Picture 6" descr="Shape&#10;&#10;Description automatically generated">
              <a:extLst>
                <a:ext uri="{FF2B5EF4-FFF2-40B4-BE49-F238E27FC236}">
                  <a16:creationId xmlns:a16="http://schemas.microsoft.com/office/drawing/2014/main" id="{D3C6E284-0EE8-45F4-56A5-D76701A2E2C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96159" y="0"/>
              <a:ext cx="1294317" cy="1230922"/>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4054088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852168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 column gree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371DAE-A209-4F99-8998-011EBCC6FC9F}"/>
              </a:ext>
            </a:extLst>
          </p:cNvPr>
          <p:cNvSpPr/>
          <p:nvPr userDrawn="1"/>
        </p:nvSpPr>
        <p:spPr>
          <a:xfrm>
            <a:off x="0" y="6348923"/>
            <a:ext cx="12192000" cy="522000"/>
          </a:xfrm>
          <a:prstGeom prst="rect">
            <a:avLst/>
          </a:prstGeom>
          <a:solidFill>
            <a:srgbClr val="3637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pic>
        <p:nvPicPr>
          <p:cNvPr id="9" name="Picture 8">
            <a:extLst>
              <a:ext uri="{FF2B5EF4-FFF2-40B4-BE49-F238E27FC236}">
                <a16:creationId xmlns:a16="http://schemas.microsoft.com/office/drawing/2014/main" id="{D3559C2F-91B3-4E84-B4E9-A061D33D4EE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 y="6346825"/>
            <a:ext cx="12192000" cy="521208"/>
          </a:xfrm>
          <a:prstGeom prst="rect">
            <a:avLst/>
          </a:prstGeom>
        </p:spPr>
      </p:pic>
      <p:pic>
        <p:nvPicPr>
          <p:cNvPr id="12" name="Picture 11">
            <a:extLst>
              <a:ext uri="{FF2B5EF4-FFF2-40B4-BE49-F238E27FC236}">
                <a16:creationId xmlns:a16="http://schemas.microsoft.com/office/drawing/2014/main" id="{A1137DBE-3DCB-461E-8748-28DDBCC2B31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0"/>
            <a:ext cx="12192000" cy="6336792"/>
          </a:xfrm>
          <a:prstGeom prst="rect">
            <a:avLst/>
          </a:prstGeom>
        </p:spPr>
      </p:pic>
      <p:sp>
        <p:nvSpPr>
          <p:cNvPr id="11" name="Slide Number Placeholder 5">
            <a:extLst>
              <a:ext uri="{FF2B5EF4-FFF2-40B4-BE49-F238E27FC236}">
                <a16:creationId xmlns:a16="http://schemas.microsoft.com/office/drawing/2014/main" id="{8F84C52A-A232-44B0-91E1-6C35437E881A}"/>
              </a:ext>
            </a:extLst>
          </p:cNvPr>
          <p:cNvSpPr txBox="1">
            <a:spLocks/>
          </p:cNvSpPr>
          <p:nvPr userDrawn="1"/>
        </p:nvSpPr>
        <p:spPr>
          <a:xfrm>
            <a:off x="11174400" y="6348923"/>
            <a:ext cx="500400" cy="501650"/>
          </a:xfrm>
          <a:prstGeom prst="rect">
            <a:avLst/>
          </a:prstGeom>
        </p:spPr>
        <p:txBody>
          <a:bodyPr vert="horz" lIns="0" tIns="0" rIns="0" bIns="0" rtlCol="0" anchor="ctr">
            <a:normAutofit/>
          </a:bodyPr>
          <a:lstStyle>
            <a:defPPr>
              <a:defRPr lang="en-US"/>
            </a:defPPr>
            <a:lvl1pPr marL="0" algn="r" defTabSz="914400" rtl="0" eaLnBrk="1" latinLnBrk="0" hangingPunct="1">
              <a:lnSpc>
                <a:spcPts val="1900"/>
              </a:lnSpc>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865ED3-5985-4D19-8FFA-E2B1DCF4EC52}" type="slidenum">
              <a:rPr lang="en-GB" smtClean="0"/>
              <a:pPr/>
              <a:t>‹#›</a:t>
            </a:fld>
            <a:endParaRPr lang="en-GB"/>
          </a:p>
        </p:txBody>
      </p:sp>
      <p:sp>
        <p:nvSpPr>
          <p:cNvPr id="2" name="Title 1">
            <a:extLst>
              <a:ext uri="{FF2B5EF4-FFF2-40B4-BE49-F238E27FC236}">
                <a16:creationId xmlns:a16="http://schemas.microsoft.com/office/drawing/2014/main" id="{001849FF-D1BD-4B43-80E5-706DB49E99E8}"/>
              </a:ext>
            </a:extLst>
          </p:cNvPr>
          <p:cNvSpPr>
            <a:spLocks noGrp="1"/>
          </p:cNvSpPr>
          <p:nvPr>
            <p:ph type="title"/>
          </p:nvPr>
        </p:nvSpPr>
        <p:spPr>
          <a:xfrm>
            <a:off x="522000" y="842400"/>
            <a:ext cx="5479200" cy="720000"/>
          </a:xfrm>
          <a:prstGeom prst="rect">
            <a:avLst/>
          </a:prstGeom>
        </p:spPr>
        <p:txBody>
          <a:bodyPr vert="horz" lIns="0" tIns="0" rIns="0" bIns="0" rtlCol="0" anchor="t" anchorCtr="0">
            <a:normAutofit/>
          </a:bodyPr>
          <a:lstStyle>
            <a:lvl1pPr>
              <a:defRPr lang="en-GB">
                <a:solidFill>
                  <a:schemeClr val="accent1"/>
                </a:solidFill>
              </a:defRPr>
            </a:lvl1pPr>
          </a:lstStyle>
          <a:p>
            <a:pPr lvl="0">
              <a:lnSpc>
                <a:spcPts val="3250"/>
              </a:lnSpc>
            </a:pPr>
            <a:r>
              <a:rPr lang="en-US"/>
              <a:t>Click to edit Master title style</a:t>
            </a:r>
            <a:endParaRPr lang="en-GB" dirty="0"/>
          </a:p>
        </p:txBody>
      </p:sp>
      <p:pic>
        <p:nvPicPr>
          <p:cNvPr id="14" name="Picture 13">
            <a:extLst>
              <a:ext uri="{FF2B5EF4-FFF2-40B4-BE49-F238E27FC236}">
                <a16:creationId xmlns:a16="http://schemas.microsoft.com/office/drawing/2014/main" id="{1AA6D8F6-1179-4A3E-B426-3B2F125F16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17200" y="6423209"/>
            <a:ext cx="1472965" cy="383295"/>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174400" y="80398"/>
            <a:ext cx="762002" cy="762002"/>
          </a:xfrm>
          <a:prstGeom prst="rect">
            <a:avLst/>
          </a:prstGeom>
        </p:spPr>
      </p:pic>
      <p:sp>
        <p:nvSpPr>
          <p:cNvPr id="16" name="Text Placeholder 14">
            <a:extLst>
              <a:ext uri="{FF2B5EF4-FFF2-40B4-BE49-F238E27FC236}">
                <a16:creationId xmlns:a16="http://schemas.microsoft.com/office/drawing/2014/main" id="{F810EB91-327E-4BC3-93A7-D326DD9D2310}"/>
              </a:ext>
            </a:extLst>
          </p:cNvPr>
          <p:cNvSpPr>
            <a:spLocks noGrp="1"/>
          </p:cNvSpPr>
          <p:nvPr>
            <p:ph type="body" sz="quarter" idx="14"/>
          </p:nvPr>
        </p:nvSpPr>
        <p:spPr>
          <a:xfrm>
            <a:off x="522287" y="1562399"/>
            <a:ext cx="10652114" cy="4368843"/>
          </a:xfrm>
        </p:spPr>
        <p:txBody>
          <a:bodyPr vert="horz" lIns="0" tIns="331200" rIns="0" bIns="0" rtlCol="0">
            <a:normAutofit/>
          </a:bodyPr>
          <a:lstStyle>
            <a:lvl1pPr marL="0" indent="0">
              <a:lnSpc>
                <a:spcPct val="100000"/>
              </a:lnSpc>
              <a:buNone/>
              <a:defRPr lang="en-US" dirty="0" smtClean="0">
                <a:solidFill>
                  <a:schemeClr val="tx2"/>
                </a:solidFill>
                <a:latin typeface="+mn-lt"/>
              </a:defRPr>
            </a:lvl1pPr>
            <a:lvl2pPr marL="432000" indent="-288000">
              <a:lnSpc>
                <a:spcPct val="100000"/>
              </a:lnSpc>
              <a:buClr>
                <a:schemeClr val="accent1"/>
              </a:buClr>
              <a:buSzPct val="90000"/>
              <a:buFont typeface="Wingdings" panose="05000000000000000000" pitchFamily="2" charset="2"/>
              <a:buChar char="n"/>
              <a:defRPr lang="en-US" dirty="0" smtClean="0">
                <a:solidFill>
                  <a:schemeClr val="tx2"/>
                </a:solidFill>
                <a:latin typeface="+mn-lt"/>
              </a:defRPr>
            </a:lvl2pPr>
            <a:lvl3pPr marL="576000" indent="-216000">
              <a:lnSpc>
                <a:spcPct val="100000"/>
              </a:lnSpc>
              <a:buClr>
                <a:schemeClr val="accent1"/>
              </a:buClr>
              <a:buFont typeface="Wingdings" panose="05000000000000000000" pitchFamily="2" charset="2"/>
              <a:buChar char="§"/>
              <a:defRPr sz="2300">
                <a:solidFill>
                  <a:schemeClr val="tx2"/>
                </a:solidFill>
              </a:defRPr>
            </a:lvl3pPr>
            <a:lvl4pPr marL="720000" indent="-216000">
              <a:lnSpc>
                <a:spcPct val="100000"/>
              </a:lnSpc>
              <a:buFont typeface="Arial" panose="020B0604020202020204" pitchFamily="34" charset="0"/>
              <a:buChar char="▪"/>
              <a:defRPr sz="2200" u="none" baseline="0">
                <a:solidFill>
                  <a:schemeClr val="tx2"/>
                </a:solidFill>
              </a:defRPr>
            </a:lvl4pPr>
            <a:lvl5pPr marL="864000" indent="-216000">
              <a:lnSpc>
                <a:spcPct val="100000"/>
              </a:lnSpc>
              <a:buClrTx/>
              <a:buSzPct val="80000"/>
              <a:buFont typeface="Arial" panose="020B0604020202020204" pitchFamily="34" charset="0"/>
              <a:buChar char="▫"/>
              <a:defRPr lang="en-US" sz="2100" kern="1200" dirty="0">
                <a:solidFill>
                  <a:schemeClr val="tx2"/>
                </a:solidFill>
                <a:latin typeface="+mn-lt"/>
                <a:ea typeface="+mn-ea"/>
                <a:cs typeface="+mn-cs"/>
              </a:defRPr>
            </a:lvl5pPr>
            <a:lvl6pPr>
              <a:lnSpc>
                <a:spcPct val="100000"/>
              </a:lnSpc>
              <a:buClr>
                <a:schemeClr val="tx2"/>
              </a:buClr>
              <a:buSzPct val="90000"/>
              <a:defRPr lang="en-US" sz="2400" kern="1200" dirty="0">
                <a:solidFill>
                  <a:schemeClr val="tx2"/>
                </a:solidFill>
                <a:latin typeface="+mn-lt"/>
                <a:ea typeface="+mn-ea"/>
                <a:cs typeface="+mn-cs"/>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15472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300" b="0" i="0">
                <a:solidFill>
                  <a:srgbClr val="353637"/>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088060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026582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Text + Image - Blue">
    <p:bg>
      <p:bgPr>
        <a:solidFill>
          <a:srgbClr val="3E77C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65E3F6E-7AE8-7029-B63F-79557072DAB3}"/>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9F618F1D-F863-B3CE-F9CB-A4D4D3125A2A}"/>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63AD18B0-E39B-37B8-613A-E55F9D47F8E4}"/>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924604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Text + Image - Mustard">
    <p:bg>
      <p:bgPr>
        <a:solidFill>
          <a:srgbClr val="FAA719"/>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126AB98-9CB3-D0E1-EE6F-515E28859AFC}"/>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4FADF643-ABE6-679C-68C3-F6AA3BC198B3}"/>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54F291C8-DF2C-1FD0-C127-42F50358AAA2}"/>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1841900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Text + Image - Pink">
    <p:bg>
      <p:bgPr>
        <a:solidFill>
          <a:srgbClr val="F088B6"/>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41BEA2-B145-B2D2-4CCC-04E49981A052}"/>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AAF77B74-A798-632A-79E0-7843F4AB81FD}"/>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5D999A1E-EBC3-F8C8-0D66-05F11EBE878D}"/>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376578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Text + Image - Red">
    <p:bg>
      <p:bgPr>
        <a:solidFill>
          <a:srgbClr val="FF3B58"/>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545C05-391D-B49D-8CA0-EDE5B16DADE6}"/>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3EE5A007-D97F-3169-4DE8-99E313BC7BF7}"/>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1A59696C-F022-EBB2-663D-14C951F97DBA}"/>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365699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Text + Image - Teal">
    <p:bg>
      <p:bgPr>
        <a:solidFill>
          <a:srgbClr val="1CA69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DA9CBD-4690-61BA-8439-F213199DB115}"/>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77B31DE1-1114-14B1-F4E6-D99AE9146806}"/>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E6A11601-E796-C5CD-6607-3DE096A50E78}"/>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936125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Text + Image - Black">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A365F7C-1550-025D-512A-22B56B9C9013}"/>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bg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BC768C92-B10E-E104-6A6C-B56EE91990D8}"/>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79239266-98B2-4598-7647-DAA162EAFAFF}"/>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bg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13797845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Text + Image - White">
    <p:bg>
      <p:bgPr>
        <a:solidFill>
          <a:schemeClr val="bg1">
            <a:lumMod val="9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319DDB-8A63-8605-350D-80BFF4D12485}"/>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2456614B-8F35-DF4B-4FE5-2D55DAA7B71B}"/>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C3AC4AC0-7FBF-D61A-A8E8-A8DF56EA004D}"/>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80157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131039"/>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7" r:id="rId4"/>
    <p:sldLayoutId id="2147483856" r:id="rId5"/>
    <p:sldLayoutId id="2147483763" r:id="rId6"/>
    <p:sldLayoutId id="21474838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240114"/>
      </p:ext>
    </p:extLst>
  </p:cSld>
  <p:clrMap bg1="lt1" tx1="dk1" bg2="lt2" tx2="dk2" accent1="accent1" accent2="accent2" accent3="accent3" accent4="accent4" accent5="accent5" accent6="accent6" hlink="hlink" folHlink="folHlink"/>
  <p:sldLayoutIdLst>
    <p:sldLayoutId id="21474837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716968"/>
      </p:ext>
    </p:extLst>
  </p:cSld>
  <p:clrMap bg1="lt1" tx1="dk1" bg2="lt2" tx2="dk2" accent1="accent1" accent2="accent2" accent3="accent3" accent4="accent4" accent5="accent5" accent6="accent6" hlink="hlink" folHlink="folHlink"/>
  <p:sldLayoutIdLst>
    <p:sldLayoutId id="2147483759" r:id="rId1"/>
    <p:sldLayoutId id="2147483761" r:id="rId2"/>
    <p:sldLayoutId id="2147483760" r:id="rId3"/>
    <p:sldLayoutId id="2147483762" r:id="rId4"/>
    <p:sldLayoutId id="2147483961" r:id="rId5"/>
    <p:sldLayoutId id="2147483962" r:id="rId6"/>
    <p:sldLayoutId id="2147483963" r:id="rId7"/>
    <p:sldLayoutId id="2147484045" r:id="rId8"/>
    <p:sldLayoutId id="2147484046" r:id="rId9"/>
    <p:sldLayoutId id="2147484047" r:id="rId10"/>
    <p:sldLayoutId id="21474840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748963"/>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hyperlink" Target="https://moodle.glos.ac.uk/course/view.php?id=60048"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video" Target="https://www.youtube.com/embed/a9ZdC6wZnks?feature=oembed" TargetMode="External"/><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www.facebook.com/reel/843538154120517"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hyperlink" Target="https://padlet.com/uniofglos/using-the-country-cultures-we-have-chosen-for-the-assignment-zgid7fcvyeb3i08c" TargetMode="External"/><Relationship Id="rId2" Type="http://schemas.openxmlformats.org/officeDocument/2006/relationships/notesSlide" Target="../notesSlides/notesSlide40.xml"/><Relationship Id="rId1" Type="http://schemas.openxmlformats.org/officeDocument/2006/relationships/slideLayout" Target="../slideLayouts/slideLayout26.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hyperlink" Target="https://padlet.com/uniofglos/assessment-questions-board-i76plmfklysg9lcf" TargetMode="External"/><Relationship Id="rId2" Type="http://schemas.openxmlformats.org/officeDocument/2006/relationships/notesSlide" Target="../notesSlides/notesSlide41.xml"/><Relationship Id="rId1" Type="http://schemas.openxmlformats.org/officeDocument/2006/relationships/slideLayout" Target="../slideLayouts/slideLayout26.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A868-CE15-6040-6AAC-B13D8F853C3F}"/>
              </a:ext>
            </a:extLst>
          </p:cNvPr>
          <p:cNvSpPr>
            <a:spLocks noGrp="1"/>
          </p:cNvSpPr>
          <p:nvPr>
            <p:ph type="title"/>
          </p:nvPr>
        </p:nvSpPr>
        <p:spPr/>
        <p:txBody>
          <a:bodyPr/>
          <a:lstStyle/>
          <a:p>
            <a:r>
              <a:rPr lang="en-GB" sz="4800" dirty="0"/>
              <a:t>BM7703</a:t>
            </a:r>
            <a:br>
              <a:rPr lang="en-GB" sz="4800" dirty="0"/>
            </a:br>
            <a:r>
              <a:rPr lang="en-GB" sz="4800" dirty="0"/>
              <a:t>Cross-cultural Issues in international business</a:t>
            </a:r>
            <a:br>
              <a:rPr lang="en-GB" sz="4800" dirty="0"/>
            </a:br>
            <a:br>
              <a:rPr lang="en-GB" sz="4800" dirty="0"/>
            </a:br>
            <a:r>
              <a:rPr lang="en-GB" sz="2800" dirty="0"/>
              <a:t>SESSION 4</a:t>
            </a:r>
            <a:br>
              <a:rPr lang="en-GB" sz="2800" dirty="0"/>
            </a:br>
            <a:r>
              <a:rPr lang="en-GB" sz="2800" dirty="0"/>
              <a:t>Communicating across cultures Part 2</a:t>
            </a:r>
            <a:br>
              <a:rPr lang="en-GB" sz="2800" dirty="0"/>
            </a:br>
            <a:br>
              <a:rPr lang="en-GB" sz="2800" dirty="0"/>
            </a:br>
            <a:r>
              <a:rPr lang="en-GB" sz="2800" dirty="0"/>
              <a:t>Sara </a:t>
            </a:r>
            <a:r>
              <a:rPr lang="en-GB" sz="2800" dirty="0" err="1"/>
              <a:t>hooke</a:t>
            </a:r>
            <a:endParaRPr lang="en-GB" sz="2800" dirty="0"/>
          </a:p>
        </p:txBody>
      </p:sp>
    </p:spTree>
    <p:extLst>
      <p:ext uri="{BB962C8B-B14F-4D97-AF65-F5344CB8AC3E}">
        <p14:creationId xmlns:p14="http://schemas.microsoft.com/office/powerpoint/2010/main" val="54544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31EA54A-4B98-D406-3445-17A82B6B30B8}"/>
              </a:ext>
            </a:extLst>
          </p:cNvPr>
          <p:cNvSpPr>
            <a:spLocks noGrp="1"/>
          </p:cNvSpPr>
          <p:nvPr>
            <p:ph type="title"/>
          </p:nvPr>
        </p:nvSpPr>
        <p:spPr/>
        <p:txBody>
          <a:bodyPr/>
          <a:lstStyle/>
          <a:p>
            <a:r>
              <a:rPr lang="en-GB" sz="4000" dirty="0"/>
              <a:t>Communicating across cultures Part 2</a:t>
            </a:r>
          </a:p>
        </p:txBody>
      </p:sp>
      <p:sp>
        <p:nvSpPr>
          <p:cNvPr id="7" name="Content Placeholder 6">
            <a:extLst>
              <a:ext uri="{FF2B5EF4-FFF2-40B4-BE49-F238E27FC236}">
                <a16:creationId xmlns:a16="http://schemas.microsoft.com/office/drawing/2014/main" id="{D3CFE4BC-ACE2-82EA-2AFB-C7874D52E84B}"/>
              </a:ext>
            </a:extLst>
          </p:cNvPr>
          <p:cNvSpPr>
            <a:spLocks noGrp="1"/>
          </p:cNvSpPr>
          <p:nvPr>
            <p:ph idx="13"/>
          </p:nvPr>
        </p:nvSpPr>
        <p:spPr/>
        <p:txBody>
          <a:bodyPr/>
          <a:lstStyle/>
          <a:p>
            <a:r>
              <a:rPr lang="en-GB" dirty="0"/>
              <a:t>This week we are going to…</a:t>
            </a:r>
          </a:p>
          <a:p>
            <a:endParaRPr lang="en-GB" dirty="0"/>
          </a:p>
          <a:p>
            <a:r>
              <a:rPr lang="en-US" b="0" i="0" dirty="0">
                <a:solidFill>
                  <a:srgbClr val="1D2125"/>
                </a:solidFill>
                <a:effectLst/>
                <a:latin typeface="+mn-lt"/>
              </a:rPr>
              <a:t>Examine academic research evidence and findings on cross-cultural communication. This session aims to enhance your understanding of how to communicate effectively in diverse and changing business contexts, with internal and external stakeholders.  </a:t>
            </a:r>
            <a:endParaRPr lang="en-GB" dirty="0">
              <a:latin typeface="+mn-lt"/>
            </a:endParaRPr>
          </a:p>
        </p:txBody>
      </p:sp>
    </p:spTree>
    <p:extLst>
      <p:ext uri="{BB962C8B-B14F-4D97-AF65-F5344CB8AC3E}">
        <p14:creationId xmlns:p14="http://schemas.microsoft.com/office/powerpoint/2010/main" val="277646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D6D9E-1642-A92D-C528-4BB08865797C}"/>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5FA01D3F-D3F4-3058-364D-A6595B72D8F6}"/>
              </a:ext>
            </a:extLst>
          </p:cNvPr>
          <p:cNvSpPr>
            <a:spLocks noGrp="1"/>
          </p:cNvSpPr>
          <p:nvPr>
            <p:ph idx="13"/>
          </p:nvPr>
        </p:nvSpPr>
        <p:spPr/>
        <p:txBody>
          <a:bodyPr/>
          <a:lstStyle/>
          <a:p>
            <a:r>
              <a:rPr lang="en-GB" dirty="0"/>
              <a:t>It links to our learning outcomes…</a:t>
            </a:r>
          </a:p>
          <a:p>
            <a:endParaRPr lang="en-GB" dirty="0"/>
          </a:p>
          <a:p>
            <a:r>
              <a:rPr lang="en-US" dirty="0">
                <a:latin typeface="+mn-lt"/>
              </a:rPr>
              <a:t>…As it displays </a:t>
            </a:r>
            <a:r>
              <a:rPr lang="en-US" b="0" i="0" dirty="0">
                <a:solidFill>
                  <a:srgbClr val="1D2125"/>
                </a:solidFill>
                <a:effectLst/>
                <a:latin typeface="+mn-lt"/>
              </a:rPr>
              <a:t>flexibility in evaluating own </a:t>
            </a:r>
            <a:r>
              <a:rPr lang="en-US" b="0" i="0" dirty="0" err="1">
                <a:solidFill>
                  <a:srgbClr val="1D2125"/>
                </a:solidFill>
                <a:effectLst/>
                <a:latin typeface="+mn-lt"/>
              </a:rPr>
              <a:t>behaviour</a:t>
            </a:r>
            <a:r>
              <a:rPr lang="en-US" b="0" i="0" dirty="0">
                <a:solidFill>
                  <a:srgbClr val="1D2125"/>
                </a:solidFill>
                <a:effectLst/>
                <a:latin typeface="+mn-lt"/>
              </a:rPr>
              <a:t> and </a:t>
            </a:r>
            <a:r>
              <a:rPr lang="en-US" b="1" i="0" dirty="0">
                <a:solidFill>
                  <a:srgbClr val="1D2125"/>
                </a:solidFill>
                <a:effectLst/>
                <a:latin typeface="+mn-lt"/>
              </a:rPr>
              <a:t>communication style </a:t>
            </a:r>
            <a:r>
              <a:rPr lang="en-US" b="0" i="0" dirty="0">
                <a:solidFill>
                  <a:srgbClr val="1D2125"/>
                </a:solidFill>
                <a:effectLst/>
                <a:latin typeface="+mn-lt"/>
              </a:rPr>
              <a:t>from others’ perspectives and adapting these to a range of complex, multicultural and multilingual contexts</a:t>
            </a:r>
            <a:endParaRPr lang="en-GB" dirty="0">
              <a:latin typeface="+mn-lt"/>
            </a:endParaRPr>
          </a:p>
        </p:txBody>
      </p:sp>
    </p:spTree>
    <p:extLst>
      <p:ext uri="{BB962C8B-B14F-4D97-AF65-F5344CB8AC3E}">
        <p14:creationId xmlns:p14="http://schemas.microsoft.com/office/powerpoint/2010/main" val="2625384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64C3-E704-D328-321B-892FFB85A8D5}"/>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3C357A02-1627-034F-9EE3-81C601BF0631}"/>
              </a:ext>
            </a:extLst>
          </p:cNvPr>
          <p:cNvSpPr>
            <a:spLocks noGrp="1"/>
          </p:cNvSpPr>
          <p:nvPr>
            <p:ph idx="14"/>
          </p:nvPr>
        </p:nvSpPr>
        <p:spPr/>
        <p:txBody>
          <a:bodyPr/>
          <a:lstStyle/>
          <a:p>
            <a:r>
              <a:rPr lang="en-GB" dirty="0"/>
              <a:t>I</a:t>
            </a:r>
            <a:r>
              <a:rPr lang="en-GB" dirty="0">
                <a:latin typeface="+mn-lt"/>
              </a:rPr>
              <a:t>t links to your assessment</a:t>
            </a:r>
          </a:p>
          <a:p>
            <a:r>
              <a:rPr lang="en-US" b="0" i="0" dirty="0">
                <a:solidFill>
                  <a:srgbClr val="1D2125"/>
                </a:solidFill>
                <a:effectLst/>
                <a:latin typeface="Segoe UI" panose="020B0502040204020203" pitchFamily="34" charset="0"/>
              </a:rPr>
              <a:t>…your manager at </a:t>
            </a:r>
            <a:r>
              <a:rPr lang="en-US" b="0" i="0" dirty="0" err="1">
                <a:solidFill>
                  <a:srgbClr val="1D2125"/>
                </a:solidFill>
                <a:effectLst/>
                <a:latin typeface="Segoe UI" panose="020B0502040204020203" pitchFamily="34" charset="0"/>
              </a:rPr>
              <a:t>GlosTech</a:t>
            </a:r>
            <a:r>
              <a:rPr lang="en-US" b="0" i="0" dirty="0">
                <a:solidFill>
                  <a:srgbClr val="1D2125"/>
                </a:solidFill>
                <a:effectLst/>
                <a:latin typeface="Segoe UI" panose="020B0502040204020203" pitchFamily="34" charset="0"/>
              </a:rPr>
              <a:t> (who is from the UK) asks for your help in understanding the issues that may arise for a project group that they have put together </a:t>
            </a:r>
            <a:r>
              <a:rPr lang="en-GB" b="0" i="0" dirty="0">
                <a:solidFill>
                  <a:srgbClr val="1D2125"/>
                </a:solidFill>
                <a:effectLst/>
                <a:latin typeface="+mn-lt"/>
              </a:rPr>
              <a:t>…</a:t>
            </a:r>
          </a:p>
          <a:p>
            <a:endParaRPr lang="en-GB" dirty="0">
              <a:solidFill>
                <a:srgbClr val="1D2125"/>
              </a:solidFill>
              <a:latin typeface="+mn-lt"/>
            </a:endParaRPr>
          </a:p>
          <a:p>
            <a:r>
              <a:rPr lang="en-US" b="0" i="0" dirty="0">
                <a:solidFill>
                  <a:srgbClr val="1D2125"/>
                </a:solidFill>
                <a:effectLst/>
                <a:latin typeface="Segoe UI" panose="020B0502040204020203" pitchFamily="34" charset="0"/>
              </a:rPr>
              <a:t>1.What issues might the team experience whilst they work on this project? Think particularly about </a:t>
            </a:r>
            <a:r>
              <a:rPr lang="en-US" b="0" i="0" dirty="0">
                <a:solidFill>
                  <a:srgbClr val="1D2125"/>
                </a:solidFill>
                <a:effectLst/>
                <a:highlight>
                  <a:srgbClr val="FFFF00"/>
                </a:highlight>
                <a:latin typeface="Segoe UI" panose="020B0502040204020203" pitchFamily="34" charset="0"/>
              </a:rPr>
              <a:t>communication</a:t>
            </a:r>
            <a:r>
              <a:rPr lang="en-US" b="0" i="0" dirty="0">
                <a:solidFill>
                  <a:srgbClr val="1D2125"/>
                </a:solidFill>
                <a:effectLst/>
                <a:latin typeface="Segoe UI" panose="020B0502040204020203" pitchFamily="34" charset="0"/>
              </a:rPr>
              <a:t>, decision making and trust.</a:t>
            </a:r>
            <a:endParaRPr lang="en-GB" dirty="0">
              <a:latin typeface="+mn-lt"/>
            </a:endParaRPr>
          </a:p>
          <a:p>
            <a:endParaRPr lang="en-GB" dirty="0">
              <a:latin typeface="+mn-lt"/>
            </a:endParaRPr>
          </a:p>
          <a:p>
            <a:r>
              <a:rPr lang="en-GB" dirty="0">
                <a:latin typeface="+mn-lt"/>
                <a:hlinkClick r:id="rId3"/>
              </a:rPr>
              <a:t>https://moodle.glos.ac.uk/course/view.php?id=60048</a:t>
            </a:r>
            <a:endParaRPr lang="en-GB" dirty="0">
              <a:latin typeface="+mn-lt"/>
            </a:endParaRPr>
          </a:p>
          <a:p>
            <a:endParaRPr lang="en-GB" dirty="0">
              <a:latin typeface="+mn-lt"/>
            </a:endParaRPr>
          </a:p>
          <a:p>
            <a:pPr algn="l"/>
            <a:endParaRPr lang="en-GB" dirty="0"/>
          </a:p>
        </p:txBody>
      </p:sp>
    </p:spTree>
    <p:extLst>
      <p:ext uri="{BB962C8B-B14F-4D97-AF65-F5344CB8AC3E}">
        <p14:creationId xmlns:p14="http://schemas.microsoft.com/office/powerpoint/2010/main" val="75770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0EBE-A3DC-4AB5-9583-F4647751A646}"/>
              </a:ext>
            </a:extLst>
          </p:cNvPr>
          <p:cNvSpPr>
            <a:spLocks noGrp="1"/>
          </p:cNvSpPr>
          <p:nvPr>
            <p:ph type="title"/>
          </p:nvPr>
        </p:nvSpPr>
        <p:spPr/>
        <p:txBody>
          <a:bodyPr/>
          <a:lstStyle/>
          <a:p>
            <a:pPr algn="ctr"/>
            <a:r>
              <a:rPr lang="en-GB" dirty="0"/>
              <a:t>SESSION AGENDA</a:t>
            </a:r>
          </a:p>
        </p:txBody>
      </p:sp>
      <p:sp>
        <p:nvSpPr>
          <p:cNvPr id="3" name="TextBox 2">
            <a:extLst>
              <a:ext uri="{FF2B5EF4-FFF2-40B4-BE49-F238E27FC236}">
                <a16:creationId xmlns:a16="http://schemas.microsoft.com/office/drawing/2014/main" id="{F7733C1E-C96E-4F18-AF82-500114FF8C3F}"/>
              </a:ext>
            </a:extLst>
          </p:cNvPr>
          <p:cNvSpPr txBox="1"/>
          <p:nvPr/>
        </p:nvSpPr>
        <p:spPr>
          <a:xfrm>
            <a:off x="762000" y="1600200"/>
            <a:ext cx="10287000" cy="3570208"/>
          </a:xfrm>
          <a:prstGeom prst="rect">
            <a:avLst/>
          </a:prstGeom>
          <a:noFill/>
        </p:spPr>
        <p:txBody>
          <a:bodyPr wrap="square" rtlCol="0">
            <a:spAutoFit/>
          </a:bodyPr>
          <a:lstStyle/>
          <a:p>
            <a:pPr marL="457200" indent="-457200">
              <a:buFont typeface="Arial" panose="020B0604020202020204" pitchFamily="34" charset="0"/>
              <a:buChar char="•"/>
            </a:pPr>
            <a:r>
              <a:rPr lang="en-GB" sz="2600" dirty="0"/>
              <a:t>The power of language  and the pitfalls of Verbal Communication</a:t>
            </a:r>
          </a:p>
          <a:p>
            <a:pPr marL="285750" indent="-285750">
              <a:buFont typeface="Arial" panose="020B0604020202020204" pitchFamily="34" charset="0"/>
              <a:buChar char="•"/>
            </a:pPr>
            <a:endParaRPr lang="en-GB" sz="2600" dirty="0"/>
          </a:p>
          <a:p>
            <a:pPr marL="285750" indent="-285750">
              <a:buFont typeface="Arial" panose="020B0604020202020204" pitchFamily="34" charset="0"/>
              <a:buChar char="•"/>
            </a:pPr>
            <a:r>
              <a:rPr lang="en-GB" sz="2600" dirty="0"/>
              <a:t>Language in High/Low Context societies</a:t>
            </a:r>
          </a:p>
          <a:p>
            <a:pPr marL="285750" indent="-285750">
              <a:buFont typeface="Arial" panose="020B0604020202020204" pitchFamily="34" charset="0"/>
              <a:buChar char="•"/>
            </a:pPr>
            <a:endParaRPr lang="en-GB" sz="2600" dirty="0"/>
          </a:p>
          <a:p>
            <a:pPr marL="285750" indent="-285750">
              <a:buFont typeface="Arial" panose="020B0604020202020204" pitchFamily="34" charset="0"/>
              <a:buChar char="•"/>
            </a:pPr>
            <a:r>
              <a:rPr lang="en-GB" sz="2600" dirty="0"/>
              <a:t>Language barriers/pitfalls in communication</a:t>
            </a:r>
          </a:p>
          <a:p>
            <a:pPr marL="285750" indent="-285750">
              <a:buFont typeface="Arial" panose="020B0604020202020204" pitchFamily="34" charset="0"/>
              <a:buChar char="•"/>
            </a:pPr>
            <a:r>
              <a:rPr lang="en-GB" sz="2600" dirty="0"/>
              <a:t>Intercultural Business Communication</a:t>
            </a:r>
          </a:p>
          <a:p>
            <a:pPr marL="285750" indent="-285750">
              <a:buFont typeface="Arial" panose="020B0604020202020204" pitchFamily="34" charset="0"/>
              <a:buChar char="•"/>
            </a:pPr>
            <a:endParaRPr lang="en-GB" sz="2600" dirty="0"/>
          </a:p>
          <a:p>
            <a:pPr marL="285750" indent="-285750">
              <a:buFont typeface="Arial" panose="020B0604020202020204" pitchFamily="34" charset="0"/>
              <a:buChar char="•"/>
            </a:pPr>
            <a:endParaRPr lang="en-GB" sz="2600"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423507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FAB3-8AA6-4123-BF8E-C507DE6F6E39}"/>
              </a:ext>
            </a:extLst>
          </p:cNvPr>
          <p:cNvSpPr>
            <a:spLocks noGrp="1"/>
          </p:cNvSpPr>
          <p:nvPr>
            <p:ph type="title"/>
          </p:nvPr>
        </p:nvSpPr>
        <p:spPr/>
        <p:txBody>
          <a:bodyPr>
            <a:normAutofit fontScale="90000"/>
          </a:bodyPr>
          <a:lstStyle/>
          <a:p>
            <a:r>
              <a:rPr lang="en-GB" dirty="0"/>
              <a:t>Recap: DEFINITIONS OF COMMUNICATION</a:t>
            </a:r>
          </a:p>
        </p:txBody>
      </p:sp>
      <p:sp>
        <p:nvSpPr>
          <p:cNvPr id="3" name="Text Placeholder 2">
            <a:extLst>
              <a:ext uri="{FF2B5EF4-FFF2-40B4-BE49-F238E27FC236}">
                <a16:creationId xmlns:a16="http://schemas.microsoft.com/office/drawing/2014/main" id="{D147618C-B011-4CDF-8D7F-87150BE1AF4C}"/>
              </a:ext>
            </a:extLst>
          </p:cNvPr>
          <p:cNvSpPr>
            <a:spLocks noGrp="1"/>
          </p:cNvSpPr>
          <p:nvPr>
            <p:ph idx="14"/>
          </p:nvPr>
        </p:nvSpPr>
        <p:spPr>
          <a:xfrm>
            <a:off x="574240" y="1952786"/>
            <a:ext cx="10980451" cy="3250981"/>
          </a:xfrm>
        </p:spPr>
        <p:txBody>
          <a:bodyPr>
            <a:normAutofit/>
          </a:bodyPr>
          <a:lstStyle/>
          <a:p>
            <a:r>
              <a:rPr lang="en-GB" dirty="0"/>
              <a:t>From a historical point of view the word ’communication’ is based on the root ‘common’ which reflects the aim as ‘ sharing knowledge’ or ‘common sense’.                         (Rosengren, 2000)</a:t>
            </a:r>
          </a:p>
          <a:p>
            <a:endParaRPr lang="en-GB" dirty="0"/>
          </a:p>
          <a:p>
            <a:r>
              <a:rPr lang="en-GB" dirty="0"/>
              <a:t>Communication is a complex process involving numerous situational and contextualization factors that determine the availability and importance of specific cues. (Bryant, Marmot and Ramirez, 2011)</a:t>
            </a:r>
          </a:p>
          <a:p>
            <a:endParaRPr lang="en-GB" dirty="0"/>
          </a:p>
        </p:txBody>
      </p:sp>
    </p:spTree>
    <p:extLst>
      <p:ext uri="{BB962C8B-B14F-4D97-AF65-F5344CB8AC3E}">
        <p14:creationId xmlns:p14="http://schemas.microsoft.com/office/powerpoint/2010/main" val="113393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DF81-4F73-4C73-A791-F71210B0DE6A}"/>
              </a:ext>
            </a:extLst>
          </p:cNvPr>
          <p:cNvSpPr>
            <a:spLocks noGrp="1"/>
          </p:cNvSpPr>
          <p:nvPr>
            <p:ph type="title"/>
          </p:nvPr>
        </p:nvSpPr>
        <p:spPr/>
        <p:txBody>
          <a:bodyPr>
            <a:normAutofit fontScale="90000"/>
          </a:bodyPr>
          <a:lstStyle/>
          <a:p>
            <a:r>
              <a:rPr lang="en-GB" dirty="0"/>
              <a:t>IMPORTANCE OF COMMUNICATION IN BUSINESS</a:t>
            </a:r>
          </a:p>
        </p:txBody>
      </p:sp>
      <p:sp>
        <p:nvSpPr>
          <p:cNvPr id="3" name="Text Placeholder 2">
            <a:extLst>
              <a:ext uri="{FF2B5EF4-FFF2-40B4-BE49-F238E27FC236}">
                <a16:creationId xmlns:a16="http://schemas.microsoft.com/office/drawing/2014/main" id="{FDDFAD3E-7652-4E9D-B189-451BF73FA9E3}"/>
              </a:ext>
            </a:extLst>
          </p:cNvPr>
          <p:cNvSpPr>
            <a:spLocks noGrp="1"/>
          </p:cNvSpPr>
          <p:nvPr>
            <p:ph idx="14"/>
          </p:nvPr>
        </p:nvSpPr>
        <p:spPr>
          <a:xfrm>
            <a:off x="130630" y="1645920"/>
            <a:ext cx="6120512" cy="5134357"/>
          </a:xfrm>
        </p:spPr>
        <p:txBody>
          <a:bodyPr>
            <a:normAutofit lnSpcReduction="10000"/>
          </a:bodyPr>
          <a:lstStyle/>
          <a:p>
            <a:r>
              <a:rPr lang="en-GB" sz="2800" dirty="0"/>
              <a:t>Communication is a critical factor in cross-cultural management in relation to </a:t>
            </a:r>
            <a:r>
              <a:rPr lang="en-GB" sz="2800" dirty="0">
                <a:solidFill>
                  <a:srgbClr val="0070C0"/>
                </a:solidFill>
              </a:rPr>
              <a:t>Motivation, Leadership, Group Interactions and Negotiations</a:t>
            </a:r>
          </a:p>
          <a:p>
            <a:endParaRPr lang="en-GB" sz="2800" dirty="0">
              <a:solidFill>
                <a:srgbClr val="0070C0"/>
              </a:solidFill>
            </a:endParaRPr>
          </a:p>
          <a:p>
            <a:r>
              <a:rPr lang="en-GB" sz="2800" dirty="0">
                <a:solidFill>
                  <a:schemeClr val="tx1"/>
                </a:solidFill>
              </a:rPr>
              <a:t>Culture is conveyed and perpetuated through communication. They are intertwined and through communication:</a:t>
            </a:r>
          </a:p>
          <a:p>
            <a:endParaRPr lang="en-GB" sz="2800" dirty="0">
              <a:solidFill>
                <a:schemeClr val="tx1"/>
              </a:solidFill>
            </a:endParaRPr>
          </a:p>
          <a:p>
            <a:r>
              <a:rPr lang="en-GB" sz="2800" dirty="0">
                <a:solidFill>
                  <a:srgbClr val="0070C0"/>
                </a:solidFill>
              </a:rPr>
              <a:t>-Relationships are built</a:t>
            </a:r>
          </a:p>
          <a:p>
            <a:r>
              <a:rPr lang="en-GB" sz="2800" dirty="0">
                <a:solidFill>
                  <a:srgbClr val="0070C0"/>
                </a:solidFill>
              </a:rPr>
              <a:t>-Conflicts resolved</a:t>
            </a:r>
          </a:p>
          <a:p>
            <a:r>
              <a:rPr lang="en-GB" sz="2800" dirty="0">
                <a:solidFill>
                  <a:srgbClr val="0070C0"/>
                </a:solidFill>
              </a:rPr>
              <a:t>-Innovative ideas created and shared</a:t>
            </a:r>
          </a:p>
        </p:txBody>
      </p:sp>
      <p:sp>
        <p:nvSpPr>
          <p:cNvPr id="4" name="TextBox 3">
            <a:extLst>
              <a:ext uri="{FF2B5EF4-FFF2-40B4-BE49-F238E27FC236}">
                <a16:creationId xmlns:a16="http://schemas.microsoft.com/office/drawing/2014/main" id="{E0C2E770-A810-4BD4-BCCF-5A94D56CD580}"/>
              </a:ext>
            </a:extLst>
          </p:cNvPr>
          <p:cNvSpPr txBox="1"/>
          <p:nvPr/>
        </p:nvSpPr>
        <p:spPr>
          <a:xfrm>
            <a:off x="263959" y="4548442"/>
            <a:ext cx="3286897" cy="369332"/>
          </a:xfrm>
          <a:prstGeom prst="rect">
            <a:avLst/>
          </a:prstGeom>
          <a:noFill/>
        </p:spPr>
        <p:txBody>
          <a:bodyPr wrap="square" rtlCol="0">
            <a:spAutoFit/>
          </a:bodyPr>
          <a:lstStyle/>
          <a:p>
            <a:r>
              <a:rPr lang="en-GB" dirty="0"/>
              <a:t>(</a:t>
            </a:r>
            <a:r>
              <a:rPr lang="en-GB" dirty="0" err="1"/>
              <a:t>Deresky</a:t>
            </a:r>
            <a:r>
              <a:rPr lang="en-GB" dirty="0"/>
              <a:t>, 2017)</a:t>
            </a:r>
          </a:p>
        </p:txBody>
      </p:sp>
      <p:pic>
        <p:nvPicPr>
          <p:cNvPr id="6" name="Picture 5" descr="A diagram of a group of people&#10;&#10;Description automatically generated">
            <a:extLst>
              <a:ext uri="{FF2B5EF4-FFF2-40B4-BE49-F238E27FC236}">
                <a16:creationId xmlns:a16="http://schemas.microsoft.com/office/drawing/2014/main" id="{0561A589-E664-F9E5-8EFF-1E8CE8DA8E03}"/>
              </a:ext>
            </a:extLst>
          </p:cNvPr>
          <p:cNvPicPr>
            <a:picLocks noChangeAspect="1"/>
          </p:cNvPicPr>
          <p:nvPr/>
        </p:nvPicPr>
        <p:blipFill>
          <a:blip r:embed="rId3"/>
          <a:stretch>
            <a:fillRect/>
          </a:stretch>
        </p:blipFill>
        <p:spPr>
          <a:xfrm>
            <a:off x="6251141" y="1393371"/>
            <a:ext cx="5676900" cy="5107441"/>
          </a:xfrm>
          <a:prstGeom prst="rect">
            <a:avLst/>
          </a:prstGeom>
        </p:spPr>
      </p:pic>
    </p:spTree>
    <p:extLst>
      <p:ext uri="{BB962C8B-B14F-4D97-AF65-F5344CB8AC3E}">
        <p14:creationId xmlns:p14="http://schemas.microsoft.com/office/powerpoint/2010/main" val="200009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EE53-08B9-574C-2415-87475405084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97865F0-E99A-CAA1-01E6-FE8A982BAACC}"/>
              </a:ext>
            </a:extLst>
          </p:cNvPr>
          <p:cNvSpPr>
            <a:spLocks noGrp="1"/>
          </p:cNvSpPr>
          <p:nvPr>
            <p:ph idx="13"/>
          </p:nvPr>
        </p:nvSpPr>
        <p:spPr/>
        <p:txBody>
          <a:bodyPr/>
          <a:lstStyle/>
          <a:p>
            <a:endParaRPr lang="en-GB" dirty="0"/>
          </a:p>
        </p:txBody>
      </p:sp>
      <p:pic>
        <p:nvPicPr>
          <p:cNvPr id="2050" name="Picture 2" descr="What is Communication? | National Communication Association">
            <a:extLst>
              <a:ext uri="{FF2B5EF4-FFF2-40B4-BE49-F238E27FC236}">
                <a16:creationId xmlns:a16="http://schemas.microsoft.com/office/drawing/2014/main" id="{ECE7543C-D199-9896-9587-DDABBBD68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0"/>
            <a:ext cx="11552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57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2904B-FA3A-D27A-04B5-B5EB11D30A06}"/>
              </a:ext>
            </a:extLst>
          </p:cNvPr>
          <p:cNvSpPr>
            <a:spLocks noGrp="1"/>
          </p:cNvSpPr>
          <p:nvPr>
            <p:ph type="title"/>
          </p:nvPr>
        </p:nvSpPr>
        <p:spPr/>
        <p:txBody>
          <a:bodyPr/>
          <a:lstStyle/>
          <a:p>
            <a:r>
              <a:rPr lang="en-GB" sz="4400" dirty="0"/>
              <a:t>Recap: DEFINITIONS OF COMMUNICATION</a:t>
            </a:r>
          </a:p>
        </p:txBody>
      </p:sp>
      <p:sp>
        <p:nvSpPr>
          <p:cNvPr id="4" name="Content Placeholder 3">
            <a:extLst>
              <a:ext uri="{FF2B5EF4-FFF2-40B4-BE49-F238E27FC236}">
                <a16:creationId xmlns:a16="http://schemas.microsoft.com/office/drawing/2014/main" id="{F3F626E7-C45E-C8C1-986D-5F6FCFE16DF1}"/>
              </a:ext>
            </a:extLst>
          </p:cNvPr>
          <p:cNvSpPr>
            <a:spLocks noGrp="1"/>
          </p:cNvSpPr>
          <p:nvPr>
            <p:ph idx="13"/>
          </p:nvPr>
        </p:nvSpPr>
        <p:spPr>
          <a:xfrm>
            <a:off x="574240" y="2034540"/>
            <a:ext cx="10980451" cy="3460748"/>
          </a:xfrm>
        </p:spPr>
        <p:txBody>
          <a:bodyPr/>
          <a:lstStyle/>
          <a:p>
            <a:r>
              <a:rPr lang="en-GB" dirty="0"/>
              <a:t>Communication is a process of creating and sharing meaning by transmitting messages via media such as words, behaviour or material artefacts. (Johnson, 2021). </a:t>
            </a:r>
          </a:p>
          <a:p>
            <a:endParaRPr lang="en-GB" dirty="0"/>
          </a:p>
          <a:p>
            <a:r>
              <a:rPr lang="en-GB" dirty="0"/>
              <a:t>Anything that undermines the communication of intended meaning is referred to as </a:t>
            </a:r>
            <a:r>
              <a:rPr lang="en-GB" b="1" dirty="0"/>
              <a:t>noise</a:t>
            </a:r>
            <a:r>
              <a:rPr lang="en-GB" dirty="0"/>
              <a:t>. The more dissimilar the culture, the bigger likelihood of noise. (</a:t>
            </a:r>
            <a:r>
              <a:rPr lang="en-GB" dirty="0" err="1"/>
              <a:t>Deresky</a:t>
            </a:r>
            <a:r>
              <a:rPr lang="en-GB" dirty="0"/>
              <a:t>, 2017)</a:t>
            </a:r>
          </a:p>
          <a:p>
            <a:endParaRPr lang="en-GB" dirty="0"/>
          </a:p>
        </p:txBody>
      </p:sp>
    </p:spTree>
    <p:extLst>
      <p:ext uri="{BB962C8B-B14F-4D97-AF65-F5344CB8AC3E}">
        <p14:creationId xmlns:p14="http://schemas.microsoft.com/office/powerpoint/2010/main" val="1402506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D7D32-9EC4-4E09-8702-A7A695CD3644}"/>
              </a:ext>
            </a:extLst>
          </p:cNvPr>
          <p:cNvSpPr>
            <a:spLocks noGrp="1"/>
          </p:cNvSpPr>
          <p:nvPr>
            <p:ph type="title"/>
          </p:nvPr>
        </p:nvSpPr>
        <p:spPr>
          <a:xfrm>
            <a:off x="574240" y="357188"/>
            <a:ext cx="9840622" cy="756718"/>
          </a:xfrm>
        </p:spPr>
        <p:txBody>
          <a:bodyPr>
            <a:normAutofit fontScale="90000"/>
          </a:bodyPr>
          <a:lstStyle/>
          <a:p>
            <a:r>
              <a:rPr lang="en-GB" dirty="0"/>
              <a:t>MODEL OF CROSS CULTURAL COMMUNICATION</a:t>
            </a:r>
          </a:p>
        </p:txBody>
      </p:sp>
      <p:sp>
        <p:nvSpPr>
          <p:cNvPr id="4" name="Content Placeholder 3">
            <a:extLst>
              <a:ext uri="{FF2B5EF4-FFF2-40B4-BE49-F238E27FC236}">
                <a16:creationId xmlns:a16="http://schemas.microsoft.com/office/drawing/2014/main" id="{C7B32201-F771-0760-AED4-6216A47CE2A5}"/>
              </a:ext>
            </a:extLst>
          </p:cNvPr>
          <p:cNvSpPr>
            <a:spLocks noGrp="1"/>
          </p:cNvSpPr>
          <p:nvPr>
            <p:ph idx="14"/>
          </p:nvPr>
        </p:nvSpPr>
        <p:spPr/>
        <p:txBody>
          <a:bodyPr/>
          <a:lstStyle/>
          <a:p>
            <a:endParaRPr lang="en-GB"/>
          </a:p>
        </p:txBody>
      </p:sp>
      <p:pic>
        <p:nvPicPr>
          <p:cNvPr id="5" name="Picture 4">
            <a:extLst>
              <a:ext uri="{FF2B5EF4-FFF2-40B4-BE49-F238E27FC236}">
                <a16:creationId xmlns:a16="http://schemas.microsoft.com/office/drawing/2014/main" id="{1A0735E8-87BB-4C36-9A6A-A825BE794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139" y="1645919"/>
            <a:ext cx="11380205" cy="3773805"/>
          </a:xfrm>
          <a:prstGeom prst="rect">
            <a:avLst/>
          </a:prstGeom>
        </p:spPr>
      </p:pic>
      <p:sp>
        <p:nvSpPr>
          <p:cNvPr id="6" name="TextBox 5">
            <a:extLst>
              <a:ext uri="{FF2B5EF4-FFF2-40B4-BE49-F238E27FC236}">
                <a16:creationId xmlns:a16="http://schemas.microsoft.com/office/drawing/2014/main" id="{6CA563B3-12E6-49D5-B4A8-30D3FAF24F53}"/>
              </a:ext>
            </a:extLst>
          </p:cNvPr>
          <p:cNvSpPr txBox="1"/>
          <p:nvPr/>
        </p:nvSpPr>
        <p:spPr>
          <a:xfrm>
            <a:off x="7055074" y="5985289"/>
            <a:ext cx="4119327" cy="369332"/>
          </a:xfrm>
          <a:prstGeom prst="rect">
            <a:avLst/>
          </a:prstGeom>
          <a:noFill/>
        </p:spPr>
        <p:txBody>
          <a:bodyPr wrap="square" rtlCol="0">
            <a:spAutoFit/>
          </a:bodyPr>
          <a:lstStyle/>
          <a:p>
            <a:r>
              <a:rPr lang="en-GB" dirty="0"/>
              <a:t>Based on (</a:t>
            </a:r>
            <a:r>
              <a:rPr lang="en-GB" dirty="0" err="1"/>
              <a:t>Browaeys</a:t>
            </a:r>
            <a:r>
              <a:rPr lang="en-GB" dirty="0"/>
              <a:t> 2015).</a:t>
            </a:r>
          </a:p>
        </p:txBody>
      </p:sp>
    </p:spTree>
    <p:extLst>
      <p:ext uri="{BB962C8B-B14F-4D97-AF65-F5344CB8AC3E}">
        <p14:creationId xmlns:p14="http://schemas.microsoft.com/office/powerpoint/2010/main" val="2570904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0A84F-44A3-42C4-B816-86E0E64A0593}"/>
              </a:ext>
            </a:extLst>
          </p:cNvPr>
          <p:cNvSpPr>
            <a:spLocks noGrp="1"/>
          </p:cNvSpPr>
          <p:nvPr>
            <p:ph type="title"/>
          </p:nvPr>
        </p:nvSpPr>
        <p:spPr/>
        <p:txBody>
          <a:bodyPr>
            <a:normAutofit fontScale="90000"/>
          </a:bodyPr>
          <a:lstStyle/>
          <a:p>
            <a:pPr algn="ctr"/>
            <a:r>
              <a:rPr lang="en-GB" dirty="0"/>
              <a:t>CULTURAL VARIABLES IN THE BUSINESS COMMUNICATION PROCESS</a:t>
            </a:r>
          </a:p>
        </p:txBody>
      </p:sp>
      <p:sp>
        <p:nvSpPr>
          <p:cNvPr id="3" name="Text Placeholder 2">
            <a:extLst>
              <a:ext uri="{FF2B5EF4-FFF2-40B4-BE49-F238E27FC236}">
                <a16:creationId xmlns:a16="http://schemas.microsoft.com/office/drawing/2014/main" id="{E9070535-0D59-4DC9-AA5F-EEE3B67CFFAF}"/>
              </a:ext>
            </a:extLst>
          </p:cNvPr>
          <p:cNvSpPr>
            <a:spLocks noGrp="1"/>
          </p:cNvSpPr>
          <p:nvPr>
            <p:ph idx="14"/>
          </p:nvPr>
        </p:nvSpPr>
        <p:spPr>
          <a:xfrm>
            <a:off x="574240" y="1918447"/>
            <a:ext cx="10980451" cy="3657600"/>
          </a:xfrm>
        </p:spPr>
        <p:txBody>
          <a:bodyPr>
            <a:normAutofit fontScale="92500" lnSpcReduction="20000"/>
          </a:bodyPr>
          <a:lstStyle/>
          <a:p>
            <a:r>
              <a:rPr lang="en-GB" dirty="0"/>
              <a:t>According to Victor (1992) business communication is affected by people’s perceptions dependent on these cultural variables:</a:t>
            </a:r>
          </a:p>
          <a:p>
            <a:r>
              <a:rPr lang="en-GB" dirty="0"/>
              <a:t>-attitude</a:t>
            </a:r>
          </a:p>
          <a:p>
            <a:r>
              <a:rPr lang="en-GB" dirty="0"/>
              <a:t>-social organization</a:t>
            </a:r>
          </a:p>
          <a:p>
            <a:r>
              <a:rPr lang="en-GB" dirty="0"/>
              <a:t>-context</a:t>
            </a:r>
          </a:p>
          <a:p>
            <a:r>
              <a:rPr lang="en-GB" dirty="0"/>
              <a:t>-authority(roles we play)</a:t>
            </a:r>
          </a:p>
          <a:p>
            <a:r>
              <a:rPr lang="en-GB" dirty="0"/>
              <a:t>-non verbal communication</a:t>
            </a:r>
          </a:p>
          <a:p>
            <a:r>
              <a:rPr lang="en-GB" dirty="0"/>
              <a:t>-time</a:t>
            </a:r>
          </a:p>
          <a:p>
            <a:r>
              <a:rPr lang="en-GB" dirty="0"/>
              <a:t>-space</a:t>
            </a:r>
          </a:p>
          <a:p>
            <a:r>
              <a:rPr lang="en-GB" dirty="0"/>
              <a:t>-language (spoken and written)</a:t>
            </a:r>
          </a:p>
          <a:p>
            <a:endParaRPr lang="en-GB" dirty="0"/>
          </a:p>
        </p:txBody>
      </p:sp>
    </p:spTree>
    <p:extLst>
      <p:ext uri="{BB962C8B-B14F-4D97-AF65-F5344CB8AC3E}">
        <p14:creationId xmlns:p14="http://schemas.microsoft.com/office/powerpoint/2010/main" val="2324332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49C310-0DDB-5FAF-26B9-2DBF90615645}"/>
              </a:ext>
            </a:extLst>
          </p:cNvPr>
          <p:cNvSpPr>
            <a:spLocks noGrp="1"/>
          </p:cNvSpPr>
          <p:nvPr>
            <p:ph type="title"/>
          </p:nvPr>
        </p:nvSpPr>
        <p:spPr/>
        <p:txBody>
          <a:bodyPr/>
          <a:lstStyle/>
          <a:p>
            <a:r>
              <a:rPr lang="en-GB"/>
              <a:t>Lingua Franca</a:t>
            </a:r>
          </a:p>
        </p:txBody>
      </p:sp>
      <p:pic>
        <p:nvPicPr>
          <p:cNvPr id="4" name="Online Media 3" title="What is a &quot;Lingua Franca&quot;?">
            <a:hlinkClick r:id="" action="ppaction://media"/>
            <a:extLst>
              <a:ext uri="{FF2B5EF4-FFF2-40B4-BE49-F238E27FC236}">
                <a16:creationId xmlns:a16="http://schemas.microsoft.com/office/drawing/2014/main" id="{BF28977D-3EB6-34DE-28BB-5FD34F595A6F}"/>
              </a:ext>
            </a:extLst>
          </p:cNvPr>
          <p:cNvPicPr>
            <a:picLocks noGrp="1" noRot="1" noChangeAspect="1"/>
          </p:cNvPicPr>
          <p:nvPr>
            <p:ph idx="13"/>
            <a:videoFile r:link="rId1"/>
          </p:nvPr>
        </p:nvPicPr>
        <p:blipFill>
          <a:blip r:embed="rId4"/>
          <a:stretch>
            <a:fillRect/>
          </a:stretch>
        </p:blipFill>
        <p:spPr>
          <a:xfrm>
            <a:off x="1300922" y="1113906"/>
            <a:ext cx="8840344" cy="4994794"/>
          </a:xfrm>
          <a:prstGeom prst="rect">
            <a:avLst/>
          </a:prstGeom>
        </p:spPr>
      </p:pic>
    </p:spTree>
    <p:extLst>
      <p:ext uri="{BB962C8B-B14F-4D97-AF65-F5344CB8AC3E}">
        <p14:creationId xmlns:p14="http://schemas.microsoft.com/office/powerpoint/2010/main" val="191320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F3C19-2D3A-4140-A8D5-64DD9FD6EC9B}"/>
              </a:ext>
            </a:extLst>
          </p:cNvPr>
          <p:cNvSpPr>
            <a:spLocks noGrp="1"/>
          </p:cNvSpPr>
          <p:nvPr>
            <p:ph type="title"/>
          </p:nvPr>
        </p:nvSpPr>
        <p:spPr/>
        <p:txBody>
          <a:bodyPr>
            <a:normAutofit fontScale="90000"/>
          </a:bodyPr>
          <a:lstStyle/>
          <a:p>
            <a:pPr algn="ctr"/>
            <a:r>
              <a:rPr lang="en-GB" dirty="0"/>
              <a:t>SOURCES OF TROUBLE IN BUSINESS ENGLISH AS A LINGUA FRANCA</a:t>
            </a:r>
          </a:p>
        </p:txBody>
      </p:sp>
      <p:sp>
        <p:nvSpPr>
          <p:cNvPr id="3" name="Text Placeholder 2">
            <a:extLst>
              <a:ext uri="{FF2B5EF4-FFF2-40B4-BE49-F238E27FC236}">
                <a16:creationId xmlns:a16="http://schemas.microsoft.com/office/drawing/2014/main" id="{481B8764-9B20-4ADD-955F-AFEF00950422}"/>
              </a:ext>
            </a:extLst>
          </p:cNvPr>
          <p:cNvSpPr>
            <a:spLocks noGrp="1"/>
          </p:cNvSpPr>
          <p:nvPr>
            <p:ph idx="14"/>
          </p:nvPr>
        </p:nvSpPr>
        <p:spPr/>
        <p:txBody>
          <a:bodyPr>
            <a:normAutofit/>
          </a:bodyPr>
          <a:lstStyle/>
          <a:p>
            <a:pPr algn="ctr"/>
            <a:endParaRPr lang="en-GB" sz="2600" dirty="0">
              <a:solidFill>
                <a:schemeClr val="tx1"/>
              </a:solidFill>
            </a:endParaRPr>
          </a:p>
          <a:p>
            <a:pPr marL="342900" indent="-342900" algn="ctr">
              <a:buFontTx/>
              <a:buChar char="-"/>
            </a:pPr>
            <a:r>
              <a:rPr lang="en-GB" sz="2600" dirty="0">
                <a:solidFill>
                  <a:schemeClr val="tx1"/>
                </a:solidFill>
              </a:rPr>
              <a:t>Language skills - (English words and grammar)</a:t>
            </a:r>
          </a:p>
          <a:p>
            <a:pPr marL="342900" indent="-342900" algn="ctr">
              <a:buFontTx/>
              <a:buChar char="-"/>
            </a:pPr>
            <a:r>
              <a:rPr lang="en-GB" sz="2600" dirty="0">
                <a:solidFill>
                  <a:schemeClr val="tx1"/>
                </a:solidFill>
              </a:rPr>
              <a:t>Interpersonal Communication skills - (perceptions and culture)</a:t>
            </a:r>
          </a:p>
          <a:p>
            <a:pPr marL="342900" indent="-342900" algn="ctr">
              <a:buFontTx/>
              <a:buChar char="-"/>
            </a:pPr>
            <a:r>
              <a:rPr lang="en-GB" sz="2600" dirty="0">
                <a:solidFill>
                  <a:schemeClr val="tx1"/>
                </a:solidFill>
              </a:rPr>
              <a:t>Diversity of Globalised Business Community – (conceptualizing roles and context through the lenses of different corporate cultures)</a:t>
            </a:r>
          </a:p>
          <a:p>
            <a:pPr marL="342900" indent="-342900" algn="ctr">
              <a:buFontTx/>
              <a:buChar char="-"/>
            </a:pPr>
            <a:r>
              <a:rPr lang="en-GB" dirty="0"/>
              <a:t>Accents</a:t>
            </a:r>
            <a:endParaRPr lang="en-GB" sz="2600" dirty="0">
              <a:solidFill>
                <a:schemeClr val="tx1"/>
              </a:solidFill>
            </a:endParaRPr>
          </a:p>
        </p:txBody>
      </p:sp>
      <p:sp>
        <p:nvSpPr>
          <p:cNvPr id="4" name="TextBox 3">
            <a:extLst>
              <a:ext uri="{FF2B5EF4-FFF2-40B4-BE49-F238E27FC236}">
                <a16:creationId xmlns:a16="http://schemas.microsoft.com/office/drawing/2014/main" id="{409E5898-CA80-48CD-9F0A-7EDE96713453}"/>
              </a:ext>
            </a:extLst>
          </p:cNvPr>
          <p:cNvSpPr txBox="1"/>
          <p:nvPr/>
        </p:nvSpPr>
        <p:spPr>
          <a:xfrm>
            <a:off x="8190099" y="3931121"/>
            <a:ext cx="4202113" cy="2769989"/>
          </a:xfrm>
          <a:prstGeom prst="rect">
            <a:avLst/>
          </a:prstGeom>
          <a:noFill/>
        </p:spPr>
        <p:txBody>
          <a:bodyPr wrap="square" rtlCol="0">
            <a:spAutoFit/>
          </a:bodyPr>
          <a:lstStyle/>
          <a:p>
            <a:pPr algn="ctr"/>
            <a:r>
              <a:rPr lang="en-GB" sz="2600" dirty="0">
                <a:solidFill>
                  <a:srgbClr val="FF0000"/>
                </a:solidFill>
                <a:latin typeface="+mn-lt"/>
              </a:rPr>
              <a:t>BEWARE OF:</a:t>
            </a:r>
          </a:p>
          <a:p>
            <a:r>
              <a:rPr lang="en-GB" sz="2600" dirty="0">
                <a:solidFill>
                  <a:srgbClr val="0070C0"/>
                </a:solidFill>
                <a:latin typeface="+mn-lt"/>
              </a:rPr>
              <a:t>Harsh Language</a:t>
            </a:r>
          </a:p>
          <a:p>
            <a:r>
              <a:rPr lang="en-GB" sz="2600" dirty="0">
                <a:solidFill>
                  <a:srgbClr val="0070C0"/>
                </a:solidFill>
                <a:latin typeface="+mn-lt"/>
              </a:rPr>
              <a:t>Vague Language</a:t>
            </a:r>
          </a:p>
          <a:p>
            <a:r>
              <a:rPr lang="en-GB" sz="2600" dirty="0">
                <a:solidFill>
                  <a:srgbClr val="0070C0"/>
                </a:solidFill>
                <a:latin typeface="+mn-lt"/>
              </a:rPr>
              <a:t>Misleading Interpretation</a:t>
            </a:r>
          </a:p>
          <a:p>
            <a:r>
              <a:rPr lang="en-GB" sz="2600" dirty="0">
                <a:solidFill>
                  <a:srgbClr val="0070C0"/>
                </a:solidFill>
                <a:latin typeface="+mn-lt"/>
              </a:rPr>
              <a:t>Technical Language</a:t>
            </a:r>
          </a:p>
          <a:p>
            <a:r>
              <a:rPr lang="en-GB" sz="2600" dirty="0">
                <a:solidFill>
                  <a:srgbClr val="0070C0"/>
                </a:solidFill>
                <a:latin typeface="+mn-lt"/>
              </a:rPr>
              <a:t>Use of Jargon</a:t>
            </a:r>
          </a:p>
          <a:p>
            <a:endParaRPr lang="en-GB" dirty="0"/>
          </a:p>
        </p:txBody>
      </p:sp>
    </p:spTree>
    <p:extLst>
      <p:ext uri="{BB962C8B-B14F-4D97-AF65-F5344CB8AC3E}">
        <p14:creationId xmlns:p14="http://schemas.microsoft.com/office/powerpoint/2010/main" val="2529461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19C9-1494-D131-8503-23AEAD9A7F34}"/>
              </a:ext>
            </a:extLst>
          </p:cNvPr>
          <p:cNvSpPr>
            <a:spLocks noGrp="1"/>
          </p:cNvSpPr>
          <p:nvPr>
            <p:ph type="title"/>
          </p:nvPr>
        </p:nvSpPr>
        <p:spPr/>
        <p:txBody>
          <a:bodyPr/>
          <a:lstStyle/>
          <a:p>
            <a:r>
              <a:rPr lang="en-GB" dirty="0"/>
              <a:t>Accents…</a:t>
            </a:r>
          </a:p>
        </p:txBody>
      </p:sp>
      <p:sp>
        <p:nvSpPr>
          <p:cNvPr id="3" name="Content Placeholder 2">
            <a:extLst>
              <a:ext uri="{FF2B5EF4-FFF2-40B4-BE49-F238E27FC236}">
                <a16:creationId xmlns:a16="http://schemas.microsoft.com/office/drawing/2014/main" id="{58374F4F-D19D-3BBA-7A76-EA3198AEFD12}"/>
              </a:ext>
            </a:extLst>
          </p:cNvPr>
          <p:cNvSpPr>
            <a:spLocks noGrp="1"/>
          </p:cNvSpPr>
          <p:nvPr>
            <p:ph idx="13"/>
          </p:nvPr>
        </p:nvSpPr>
        <p:spPr/>
        <p:txBody>
          <a:bodyPr/>
          <a:lstStyle/>
          <a:p>
            <a:r>
              <a:rPr lang="en-GB" dirty="0">
                <a:hlinkClick r:id="rId3"/>
              </a:rPr>
              <a:t>https://www.facebook.com/reel/843538154120517</a:t>
            </a:r>
            <a:endParaRPr lang="en-GB" dirty="0"/>
          </a:p>
          <a:p>
            <a:endParaRPr lang="en-GB" dirty="0"/>
          </a:p>
        </p:txBody>
      </p:sp>
    </p:spTree>
    <p:extLst>
      <p:ext uri="{BB962C8B-B14F-4D97-AF65-F5344CB8AC3E}">
        <p14:creationId xmlns:p14="http://schemas.microsoft.com/office/powerpoint/2010/main" val="2111180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4EE3-80EF-484C-9FC5-EF2D186077F5}"/>
              </a:ext>
            </a:extLst>
          </p:cNvPr>
          <p:cNvSpPr>
            <a:spLocks noGrp="1"/>
          </p:cNvSpPr>
          <p:nvPr>
            <p:ph type="title"/>
          </p:nvPr>
        </p:nvSpPr>
        <p:spPr/>
        <p:txBody>
          <a:bodyPr>
            <a:normAutofit fontScale="90000"/>
          </a:bodyPr>
          <a:lstStyle/>
          <a:p>
            <a:pPr algn="ctr"/>
            <a:r>
              <a:rPr lang="en-GB" dirty="0"/>
              <a:t>LANGUAGE IN BUSINESS ENCOUNTERS</a:t>
            </a:r>
          </a:p>
        </p:txBody>
      </p:sp>
      <p:sp>
        <p:nvSpPr>
          <p:cNvPr id="3" name="Text Placeholder 2">
            <a:extLst>
              <a:ext uri="{FF2B5EF4-FFF2-40B4-BE49-F238E27FC236}">
                <a16:creationId xmlns:a16="http://schemas.microsoft.com/office/drawing/2014/main" id="{2079533B-2133-40C9-AB0D-5686A60DB54D}"/>
              </a:ext>
            </a:extLst>
          </p:cNvPr>
          <p:cNvSpPr>
            <a:spLocks noGrp="1"/>
          </p:cNvSpPr>
          <p:nvPr>
            <p:ph idx="14"/>
          </p:nvPr>
        </p:nvSpPr>
        <p:spPr>
          <a:xfrm>
            <a:off x="574240" y="1417983"/>
            <a:ext cx="10980451" cy="4220817"/>
          </a:xfrm>
        </p:spPr>
        <p:txBody>
          <a:bodyPr>
            <a:normAutofit fontScale="62500" lnSpcReduction="20000"/>
          </a:bodyPr>
          <a:lstStyle/>
          <a:p>
            <a:pPr>
              <a:lnSpc>
                <a:spcPct val="120000"/>
              </a:lnSpc>
            </a:pPr>
            <a:r>
              <a:rPr lang="en-GB" sz="2800" dirty="0">
                <a:solidFill>
                  <a:schemeClr val="tx1"/>
                </a:solidFill>
              </a:rPr>
              <a:t>How</a:t>
            </a:r>
            <a:r>
              <a:rPr lang="en-GB" sz="2800" spc="-10" dirty="0">
                <a:solidFill>
                  <a:schemeClr val="tx1"/>
                </a:solidFill>
              </a:rPr>
              <a:t> </a:t>
            </a:r>
            <a:r>
              <a:rPr lang="en-GB" sz="2800" dirty="0">
                <a:solidFill>
                  <a:schemeClr val="tx1"/>
                </a:solidFill>
              </a:rPr>
              <a:t>do</a:t>
            </a:r>
            <a:r>
              <a:rPr lang="en-GB" sz="2800" spc="-20" dirty="0">
                <a:solidFill>
                  <a:schemeClr val="tx1"/>
                </a:solidFill>
              </a:rPr>
              <a:t> </a:t>
            </a:r>
            <a:r>
              <a:rPr lang="en-GB" sz="2800" dirty="0">
                <a:solidFill>
                  <a:schemeClr val="tx1"/>
                </a:solidFill>
              </a:rPr>
              <a:t>you</a:t>
            </a:r>
            <a:r>
              <a:rPr lang="en-GB" sz="2800" spc="-5" dirty="0">
                <a:solidFill>
                  <a:schemeClr val="tx1"/>
                </a:solidFill>
              </a:rPr>
              <a:t> </a:t>
            </a:r>
            <a:r>
              <a:rPr lang="en-GB" sz="2800" dirty="0">
                <a:solidFill>
                  <a:schemeClr val="tx1"/>
                </a:solidFill>
              </a:rPr>
              <a:t>communicate</a:t>
            </a:r>
            <a:r>
              <a:rPr lang="en-GB" sz="2800" spc="-15" dirty="0">
                <a:solidFill>
                  <a:schemeClr val="tx1"/>
                </a:solidFill>
              </a:rPr>
              <a:t> </a:t>
            </a:r>
            <a:r>
              <a:rPr lang="en-GB" sz="2800" dirty="0">
                <a:solidFill>
                  <a:schemeClr val="tx1"/>
                </a:solidFill>
              </a:rPr>
              <a:t>with</a:t>
            </a:r>
            <a:r>
              <a:rPr lang="en-GB" sz="2800" spc="-5" dirty="0">
                <a:solidFill>
                  <a:schemeClr val="tx1"/>
                </a:solidFill>
              </a:rPr>
              <a:t> </a:t>
            </a:r>
            <a:r>
              <a:rPr lang="en-GB" sz="2800" dirty="0">
                <a:solidFill>
                  <a:schemeClr val="tx1"/>
                </a:solidFill>
              </a:rPr>
              <a:t>someone</a:t>
            </a:r>
            <a:r>
              <a:rPr lang="en-GB" sz="2800" spc="-15" dirty="0">
                <a:solidFill>
                  <a:schemeClr val="tx1"/>
                </a:solidFill>
              </a:rPr>
              <a:t> </a:t>
            </a:r>
            <a:r>
              <a:rPr lang="en-GB" sz="2800" dirty="0">
                <a:solidFill>
                  <a:schemeClr val="tx1"/>
                </a:solidFill>
              </a:rPr>
              <a:t>who</a:t>
            </a:r>
            <a:r>
              <a:rPr lang="en-GB" sz="2800" spc="-5" dirty="0">
                <a:solidFill>
                  <a:schemeClr val="tx1"/>
                </a:solidFill>
              </a:rPr>
              <a:t> </a:t>
            </a:r>
            <a:r>
              <a:rPr lang="en-GB" sz="2800" dirty="0">
                <a:solidFill>
                  <a:schemeClr val="tx1"/>
                </a:solidFill>
              </a:rPr>
              <a:t>is</a:t>
            </a:r>
            <a:r>
              <a:rPr lang="en-GB" sz="2800" spc="-20" dirty="0">
                <a:solidFill>
                  <a:schemeClr val="tx1"/>
                </a:solidFill>
              </a:rPr>
              <a:t> </a:t>
            </a:r>
            <a:r>
              <a:rPr lang="en-GB" sz="2800" dirty="0">
                <a:solidFill>
                  <a:schemeClr val="tx1"/>
                </a:solidFill>
              </a:rPr>
              <a:t>from</a:t>
            </a:r>
            <a:r>
              <a:rPr lang="en-GB" sz="2800" spc="-20" dirty="0">
                <a:solidFill>
                  <a:schemeClr val="tx1"/>
                </a:solidFill>
              </a:rPr>
              <a:t> </a:t>
            </a:r>
            <a:r>
              <a:rPr lang="en-GB" sz="2800" dirty="0">
                <a:solidFill>
                  <a:schemeClr val="tx1"/>
                </a:solidFill>
              </a:rPr>
              <a:t>a</a:t>
            </a:r>
            <a:r>
              <a:rPr lang="en-GB" sz="2800" spc="-25" dirty="0">
                <a:solidFill>
                  <a:schemeClr val="tx1"/>
                </a:solidFill>
              </a:rPr>
              <a:t> </a:t>
            </a:r>
            <a:r>
              <a:rPr lang="en-GB" sz="2800" dirty="0">
                <a:solidFill>
                  <a:schemeClr val="tx1"/>
                </a:solidFill>
              </a:rPr>
              <a:t>different</a:t>
            </a:r>
            <a:r>
              <a:rPr lang="en-GB" sz="2800" spc="-20" dirty="0">
                <a:solidFill>
                  <a:schemeClr val="tx1"/>
                </a:solidFill>
              </a:rPr>
              <a:t> </a:t>
            </a:r>
            <a:r>
              <a:rPr lang="en-GB" sz="2800" spc="-10" dirty="0">
                <a:solidFill>
                  <a:schemeClr val="tx1"/>
                </a:solidFill>
              </a:rPr>
              <a:t>country? </a:t>
            </a:r>
            <a:r>
              <a:rPr lang="en-GB" sz="2800" dirty="0">
                <a:solidFill>
                  <a:schemeClr val="tx1"/>
                </a:solidFill>
              </a:rPr>
              <a:t>In</a:t>
            </a:r>
            <a:r>
              <a:rPr lang="en-GB" sz="2800" spc="-35" dirty="0">
                <a:solidFill>
                  <a:schemeClr val="tx1"/>
                </a:solidFill>
              </a:rPr>
              <a:t> </a:t>
            </a:r>
            <a:r>
              <a:rPr lang="en-GB" sz="2800" dirty="0">
                <a:solidFill>
                  <a:schemeClr val="tx1"/>
                </a:solidFill>
              </a:rPr>
              <a:t>your</a:t>
            </a:r>
            <a:r>
              <a:rPr lang="en-GB" sz="2800" spc="-25" dirty="0">
                <a:solidFill>
                  <a:schemeClr val="tx1"/>
                </a:solidFill>
              </a:rPr>
              <a:t> </a:t>
            </a:r>
            <a:r>
              <a:rPr lang="en-GB" sz="2800" dirty="0">
                <a:solidFill>
                  <a:schemeClr val="tx1"/>
                </a:solidFill>
              </a:rPr>
              <a:t>language, their</a:t>
            </a:r>
            <a:r>
              <a:rPr lang="en-GB" sz="2800" spc="-20" dirty="0">
                <a:solidFill>
                  <a:schemeClr val="tx1"/>
                </a:solidFill>
              </a:rPr>
              <a:t> </a:t>
            </a:r>
            <a:r>
              <a:rPr lang="en-GB" sz="2800" dirty="0">
                <a:solidFill>
                  <a:schemeClr val="tx1"/>
                </a:solidFill>
              </a:rPr>
              <a:t>language,</a:t>
            </a:r>
            <a:r>
              <a:rPr lang="en-GB" sz="2800" spc="10" dirty="0">
                <a:solidFill>
                  <a:schemeClr val="tx1"/>
                </a:solidFill>
              </a:rPr>
              <a:t> </a:t>
            </a:r>
            <a:r>
              <a:rPr lang="en-GB" sz="2800" spc="-25" dirty="0">
                <a:solidFill>
                  <a:schemeClr val="tx1"/>
                </a:solidFill>
              </a:rPr>
              <a:t>or a third language?  - ‘International English’</a:t>
            </a:r>
          </a:p>
          <a:p>
            <a:pPr>
              <a:lnSpc>
                <a:spcPct val="120000"/>
              </a:lnSpc>
            </a:pPr>
            <a:endParaRPr lang="en-GB" sz="2800" spc="-25" dirty="0">
              <a:solidFill>
                <a:schemeClr val="tx1"/>
              </a:solidFill>
            </a:endParaRPr>
          </a:p>
          <a:p>
            <a:pPr>
              <a:lnSpc>
                <a:spcPct val="120000"/>
              </a:lnSpc>
            </a:pPr>
            <a:r>
              <a:rPr lang="en-GB" sz="2800" spc="-25" dirty="0">
                <a:solidFill>
                  <a:schemeClr val="tx1"/>
                </a:solidFill>
              </a:rPr>
              <a:t>When using interpreters </a:t>
            </a:r>
            <a:r>
              <a:rPr lang="en-GB" sz="2800" spc="-25" dirty="0">
                <a:solidFill>
                  <a:srgbClr val="FF0000"/>
                </a:solidFill>
              </a:rPr>
              <a:t>consider availability, cost and reliability</a:t>
            </a:r>
            <a:r>
              <a:rPr lang="en-GB" sz="2800" spc="-25" dirty="0">
                <a:solidFill>
                  <a:schemeClr val="tx1"/>
                </a:solidFill>
              </a:rPr>
              <a:t>. </a:t>
            </a:r>
          </a:p>
          <a:p>
            <a:pPr>
              <a:lnSpc>
                <a:spcPct val="120000"/>
              </a:lnSpc>
            </a:pPr>
            <a:r>
              <a:rPr lang="en-GB" sz="2800" spc="-25" dirty="0">
                <a:solidFill>
                  <a:schemeClr val="tx1"/>
                </a:solidFill>
              </a:rPr>
              <a:t>The role of non verbal communication will be reduced and extra meaning may be lost in the translation. The development of relationship and trust building can be hindered by the intermediaries.</a:t>
            </a:r>
          </a:p>
          <a:p>
            <a:pPr>
              <a:lnSpc>
                <a:spcPct val="120000"/>
              </a:lnSpc>
            </a:pPr>
            <a:endParaRPr lang="en-GB" sz="2800" spc="-25" dirty="0">
              <a:solidFill>
                <a:schemeClr val="tx1"/>
              </a:solidFill>
            </a:endParaRPr>
          </a:p>
          <a:p>
            <a:pPr>
              <a:lnSpc>
                <a:spcPct val="120000"/>
              </a:lnSpc>
            </a:pPr>
            <a:r>
              <a:rPr lang="en-GB" sz="2800" spc="-25" dirty="0">
                <a:solidFill>
                  <a:schemeClr val="tx1"/>
                </a:solidFill>
              </a:rPr>
              <a:t>A more practical solution is to use ‘expat’ managers if available. </a:t>
            </a:r>
          </a:p>
          <a:p>
            <a:pPr>
              <a:lnSpc>
                <a:spcPct val="120000"/>
              </a:lnSpc>
            </a:pPr>
            <a:endParaRPr lang="en-GB" sz="2800" spc="-25" dirty="0">
              <a:solidFill>
                <a:schemeClr val="tx1"/>
              </a:solidFill>
            </a:endParaRPr>
          </a:p>
          <a:p>
            <a:pPr>
              <a:lnSpc>
                <a:spcPct val="120000"/>
              </a:lnSpc>
            </a:pPr>
            <a:r>
              <a:rPr lang="en-GB" sz="2800" spc="-25" dirty="0">
                <a:solidFill>
                  <a:schemeClr val="tx1"/>
                </a:solidFill>
              </a:rPr>
              <a:t>Beware of shared language nuances and word meaning differences like between US and UK as well as dialects used like Indian English, Singapore English and South African English.</a:t>
            </a:r>
            <a:endParaRPr lang="en-GB" sz="2800" dirty="0">
              <a:solidFill>
                <a:schemeClr val="tx1"/>
              </a:solidFill>
            </a:endParaRPr>
          </a:p>
          <a:p>
            <a:endParaRPr lang="en-GB" dirty="0"/>
          </a:p>
        </p:txBody>
      </p:sp>
    </p:spTree>
    <p:extLst>
      <p:ext uri="{BB962C8B-B14F-4D97-AF65-F5344CB8AC3E}">
        <p14:creationId xmlns:p14="http://schemas.microsoft.com/office/powerpoint/2010/main" val="1506861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2AC4-7423-483D-AE28-1C83B3EAA87D}"/>
              </a:ext>
            </a:extLst>
          </p:cNvPr>
          <p:cNvSpPr>
            <a:spLocks noGrp="1"/>
          </p:cNvSpPr>
          <p:nvPr>
            <p:ph type="title"/>
          </p:nvPr>
        </p:nvSpPr>
        <p:spPr/>
        <p:txBody>
          <a:bodyPr/>
          <a:lstStyle/>
          <a:p>
            <a:pPr algn="ctr"/>
            <a:r>
              <a:rPr lang="en-GB" dirty="0">
                <a:solidFill>
                  <a:srgbClr val="00B050"/>
                </a:solidFill>
              </a:rPr>
              <a:t>DIFFERENT MEANING</a:t>
            </a:r>
            <a:br>
              <a:rPr lang="en-GB" dirty="0">
                <a:solidFill>
                  <a:srgbClr val="00B050"/>
                </a:solidFill>
              </a:rPr>
            </a:br>
            <a:r>
              <a:rPr lang="en-GB" dirty="0">
                <a:solidFill>
                  <a:srgbClr val="00B050"/>
                </a:solidFill>
              </a:rPr>
              <a:t>US                                             UK</a:t>
            </a:r>
          </a:p>
        </p:txBody>
      </p:sp>
      <p:sp>
        <p:nvSpPr>
          <p:cNvPr id="5" name="Content Placeholder 4">
            <a:extLst>
              <a:ext uri="{FF2B5EF4-FFF2-40B4-BE49-F238E27FC236}">
                <a16:creationId xmlns:a16="http://schemas.microsoft.com/office/drawing/2014/main" id="{9DA28455-A8B2-4287-B36B-D9658E056F8B}"/>
              </a:ext>
            </a:extLst>
          </p:cNvPr>
          <p:cNvSpPr txBox="1">
            <a:spLocks noGrp="1"/>
          </p:cNvSpPr>
          <p:nvPr>
            <p:ph idx="14"/>
          </p:nvPr>
        </p:nvSpPr>
        <p:spPr>
          <a:xfrm>
            <a:off x="574240" y="1645920"/>
            <a:ext cx="10980451" cy="3999043"/>
          </a:xfrm>
          <a:prstGeom prst="rect">
            <a:avLst/>
          </a:prstGeom>
          <a:noFill/>
        </p:spPr>
        <p:txBody>
          <a:bodyPr wrap="square" rtlCol="0">
            <a:spAutoFit/>
          </a:bodyPr>
          <a:lstStyle/>
          <a:p>
            <a:r>
              <a:rPr lang="en-GB" sz="2600" dirty="0"/>
              <a:t>Smart — intelligent</a:t>
            </a:r>
          </a:p>
          <a:p>
            <a:endParaRPr lang="en-GB" sz="2600" dirty="0"/>
          </a:p>
          <a:p>
            <a:r>
              <a:rPr lang="en-GB" sz="2600" dirty="0"/>
              <a:t>School- any level educational institution</a:t>
            </a:r>
          </a:p>
          <a:p>
            <a:endParaRPr lang="en-GB" sz="2600" dirty="0"/>
          </a:p>
          <a:p>
            <a:r>
              <a:rPr lang="en-GB" sz="2600" dirty="0"/>
              <a:t>Ship – to convey by boat, train, plane, truck</a:t>
            </a:r>
          </a:p>
          <a:p>
            <a:endParaRPr lang="en-GB" sz="2600" dirty="0"/>
          </a:p>
          <a:p>
            <a:r>
              <a:rPr lang="en-GB" sz="2600" dirty="0"/>
              <a:t>Bomb- explosive device; overwhelming failure</a:t>
            </a:r>
          </a:p>
          <a:p>
            <a:endParaRPr lang="en-GB" sz="2600" dirty="0"/>
          </a:p>
          <a:p>
            <a:endParaRPr lang="en-GB" sz="2600" dirty="0"/>
          </a:p>
        </p:txBody>
      </p:sp>
      <p:sp>
        <p:nvSpPr>
          <p:cNvPr id="6" name="Content Placeholder 5">
            <a:extLst>
              <a:ext uri="{FF2B5EF4-FFF2-40B4-BE49-F238E27FC236}">
                <a16:creationId xmlns:a16="http://schemas.microsoft.com/office/drawing/2014/main" id="{87D427E0-9518-49DE-AEF4-047A55327429}"/>
              </a:ext>
            </a:extLst>
          </p:cNvPr>
          <p:cNvSpPr txBox="1">
            <a:spLocks noGrp="1"/>
          </p:cNvSpPr>
          <p:nvPr>
            <p:ph sz="half" idx="4294967295"/>
          </p:nvPr>
        </p:nvSpPr>
        <p:spPr>
          <a:xfrm>
            <a:off x="6888163" y="1577975"/>
            <a:ext cx="5303837" cy="4719241"/>
          </a:xfrm>
          <a:prstGeom prst="rect">
            <a:avLst/>
          </a:prstGeom>
          <a:noFill/>
        </p:spPr>
        <p:txBody>
          <a:bodyPr wrap="square" rtlCol="0">
            <a:spAutoFit/>
          </a:bodyPr>
          <a:lstStyle/>
          <a:p>
            <a:r>
              <a:rPr lang="en-GB" sz="2600" dirty="0"/>
              <a:t>Smart—intelligent, sharp looking, well groomed</a:t>
            </a:r>
          </a:p>
          <a:p>
            <a:endParaRPr lang="en-GB" sz="2600" dirty="0"/>
          </a:p>
          <a:p>
            <a:r>
              <a:rPr lang="en-GB" sz="2600" dirty="0"/>
              <a:t>School – elementary level</a:t>
            </a:r>
          </a:p>
          <a:p>
            <a:endParaRPr lang="en-GB" sz="2600" dirty="0"/>
          </a:p>
          <a:p>
            <a:r>
              <a:rPr lang="en-GB" sz="2600" dirty="0"/>
              <a:t>Ship  – convey by boat only</a:t>
            </a:r>
          </a:p>
          <a:p>
            <a:endParaRPr lang="en-GB" sz="2600" dirty="0"/>
          </a:p>
          <a:p>
            <a:r>
              <a:rPr lang="en-GB" sz="2600" dirty="0"/>
              <a:t>Bomb – explosive device,</a:t>
            </a:r>
          </a:p>
          <a:p>
            <a:r>
              <a:rPr lang="en-GB" sz="2600" dirty="0"/>
              <a:t>overwhelming success.</a:t>
            </a:r>
          </a:p>
          <a:p>
            <a:pPr marL="0" indent="0">
              <a:buNone/>
            </a:pPr>
            <a:endParaRPr lang="en-GB" sz="2600" dirty="0"/>
          </a:p>
        </p:txBody>
      </p:sp>
    </p:spTree>
    <p:extLst>
      <p:ext uri="{BB962C8B-B14F-4D97-AF65-F5344CB8AC3E}">
        <p14:creationId xmlns:p14="http://schemas.microsoft.com/office/powerpoint/2010/main" val="231615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A1D3-B256-4239-8E9C-2C778E1ABA69}"/>
              </a:ext>
            </a:extLst>
          </p:cNvPr>
          <p:cNvSpPr>
            <a:spLocks noGrp="1"/>
          </p:cNvSpPr>
          <p:nvPr>
            <p:ph type="title"/>
          </p:nvPr>
        </p:nvSpPr>
        <p:spPr/>
        <p:txBody>
          <a:bodyPr>
            <a:normAutofit fontScale="90000"/>
          </a:bodyPr>
          <a:lstStyle/>
          <a:p>
            <a:pPr algn="ctr"/>
            <a:r>
              <a:rPr lang="en-GB" dirty="0"/>
              <a:t>SPOKEN LANGUAGE IN HIGH AND LOW CONTEXT CULTURES</a:t>
            </a:r>
          </a:p>
        </p:txBody>
      </p:sp>
      <p:sp>
        <p:nvSpPr>
          <p:cNvPr id="3" name="Text Placeholder 2">
            <a:extLst>
              <a:ext uri="{FF2B5EF4-FFF2-40B4-BE49-F238E27FC236}">
                <a16:creationId xmlns:a16="http://schemas.microsoft.com/office/drawing/2014/main" id="{E72FDB59-4A0C-497C-AECB-2B9A649B1D44}"/>
              </a:ext>
            </a:extLst>
          </p:cNvPr>
          <p:cNvSpPr>
            <a:spLocks noGrp="1"/>
          </p:cNvSpPr>
          <p:nvPr>
            <p:ph idx="14"/>
          </p:nvPr>
        </p:nvSpPr>
        <p:spPr/>
        <p:txBody>
          <a:bodyPr/>
          <a:lstStyle/>
          <a:p>
            <a:r>
              <a:rPr lang="en-GB" sz="2800" dirty="0">
                <a:solidFill>
                  <a:srgbClr val="00B050"/>
                </a:solidFill>
              </a:rPr>
              <a:t>Low context cultures </a:t>
            </a:r>
            <a:r>
              <a:rPr lang="en-GB" sz="2800" dirty="0"/>
              <a:t>prefer messages with clear meaning with nothing hidden behind it. Silence is uncomfortable and you are expected to be good at expressing yourself. (USA, UK, etc.)</a:t>
            </a:r>
          </a:p>
          <a:p>
            <a:endParaRPr lang="en-GB" sz="2800" dirty="0"/>
          </a:p>
          <a:p>
            <a:r>
              <a:rPr lang="en-GB" sz="2800" dirty="0">
                <a:solidFill>
                  <a:srgbClr val="00B050"/>
                </a:solidFill>
              </a:rPr>
              <a:t>High context cultures</a:t>
            </a:r>
            <a:r>
              <a:rPr lang="en-GB" sz="2800" dirty="0"/>
              <a:t> are more indirect and subtle. There is implicit meaning behind messages. You are expected to listen more.</a:t>
            </a:r>
          </a:p>
          <a:p>
            <a:r>
              <a:rPr lang="en-GB" sz="2800" dirty="0"/>
              <a:t>Silence has a place in the conversation. It carries meaning! (China, Japan, etc.)</a:t>
            </a:r>
          </a:p>
          <a:p>
            <a:endParaRPr lang="en-GB" sz="2800" dirty="0"/>
          </a:p>
          <a:p>
            <a:endParaRPr lang="en-GB" dirty="0"/>
          </a:p>
        </p:txBody>
      </p:sp>
    </p:spTree>
    <p:extLst>
      <p:ext uri="{BB962C8B-B14F-4D97-AF65-F5344CB8AC3E}">
        <p14:creationId xmlns:p14="http://schemas.microsoft.com/office/powerpoint/2010/main" val="1573903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8D7D707-5A7F-66AA-0972-E6195ADD2FD6}"/>
              </a:ext>
            </a:extLst>
          </p:cNvPr>
          <p:cNvSpPr>
            <a:spLocks noGrp="1"/>
          </p:cNvSpPr>
          <p:nvPr>
            <p:ph idx="14"/>
          </p:nvPr>
        </p:nvSpPr>
        <p:spPr/>
        <p:txBody>
          <a:bodyPr/>
          <a:lstStyle/>
          <a:p>
            <a:endParaRPr lang="en-GB"/>
          </a:p>
        </p:txBody>
      </p:sp>
      <p:pic>
        <p:nvPicPr>
          <p:cNvPr id="4" name="object 2">
            <a:extLst>
              <a:ext uri="{FF2B5EF4-FFF2-40B4-BE49-F238E27FC236}">
                <a16:creationId xmlns:a16="http://schemas.microsoft.com/office/drawing/2014/main" id="{D91FC808-65DF-4CA0-9612-57958B091EF7}"/>
              </a:ext>
            </a:extLst>
          </p:cNvPr>
          <p:cNvPicPr/>
          <p:nvPr/>
        </p:nvPicPr>
        <p:blipFill>
          <a:blip r:embed="rId3" cstate="print"/>
          <a:stretch>
            <a:fillRect/>
          </a:stretch>
        </p:blipFill>
        <p:spPr>
          <a:xfrm>
            <a:off x="182880" y="17418"/>
            <a:ext cx="11821886" cy="6858000"/>
          </a:xfrm>
          <a:prstGeom prst="rect">
            <a:avLst/>
          </a:prstGeom>
        </p:spPr>
      </p:pic>
    </p:spTree>
    <p:extLst>
      <p:ext uri="{BB962C8B-B14F-4D97-AF65-F5344CB8AC3E}">
        <p14:creationId xmlns:p14="http://schemas.microsoft.com/office/powerpoint/2010/main" val="698810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283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E89A3-25BC-4E89-B326-F2A61E0DA49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pPr>
            <a:r>
              <a:rPr lang="en-US" sz="2000" kern="1200" dirty="0">
                <a:solidFill>
                  <a:srgbClr val="FFFFFF"/>
                </a:solidFill>
              </a:rPr>
              <a:t>HIGH/LOW CONTEXT CULTURES COMPARISON</a:t>
            </a:r>
          </a:p>
        </p:txBody>
      </p:sp>
      <p:pic>
        <p:nvPicPr>
          <p:cNvPr id="4" name="object 2">
            <a:extLst>
              <a:ext uri="{FF2B5EF4-FFF2-40B4-BE49-F238E27FC236}">
                <a16:creationId xmlns:a16="http://schemas.microsoft.com/office/drawing/2014/main" id="{77EA06DA-57BD-4405-9149-C0C88ABE25ED}"/>
              </a:ext>
            </a:extLst>
          </p:cNvPr>
          <p:cNvPicPr>
            <a:picLocks noGrp="1"/>
          </p:cNvPicPr>
          <p:nvPr>
            <p:ph idx="14"/>
          </p:nvPr>
        </p:nvPicPr>
        <p:blipFill>
          <a:blip r:embed="rId3" cstate="print"/>
          <a:stretch>
            <a:fillRect/>
          </a:stretch>
        </p:blipFill>
        <p:spPr>
          <a:xfrm>
            <a:off x="3566159" y="0"/>
            <a:ext cx="8625841" cy="6858000"/>
          </a:xfrm>
          <a:prstGeom prst="rect">
            <a:avLst/>
          </a:prstGeom>
        </p:spPr>
      </p:pic>
    </p:spTree>
    <p:extLst>
      <p:ext uri="{BB962C8B-B14F-4D97-AF65-F5344CB8AC3E}">
        <p14:creationId xmlns:p14="http://schemas.microsoft.com/office/powerpoint/2010/main" val="3832069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E45ED06-F4C8-4816-BFD7-8B75CD8A99B4}"/>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3021495" y="19625"/>
            <a:ext cx="6047039" cy="6837947"/>
          </a:xfrm>
          <a:prstGeom prst="rect">
            <a:avLst/>
          </a:prstGeom>
        </p:spPr>
      </p:pic>
    </p:spTree>
    <p:extLst>
      <p:ext uri="{BB962C8B-B14F-4D97-AF65-F5344CB8AC3E}">
        <p14:creationId xmlns:p14="http://schemas.microsoft.com/office/powerpoint/2010/main" val="863785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D091CEB9-032B-497E-A64F-FE0111FF0608}"/>
              </a:ext>
            </a:extLst>
          </p:cNvPr>
          <p:cNvPicPr/>
          <p:nvPr/>
        </p:nvPicPr>
        <p:blipFill>
          <a:blip r:embed="rId3" cstate="print"/>
          <a:stretch>
            <a:fillRect/>
          </a:stretch>
        </p:blipFill>
        <p:spPr>
          <a:xfrm>
            <a:off x="2660072" y="8709"/>
            <a:ext cx="7109032" cy="6854624"/>
          </a:xfrm>
          <a:prstGeom prst="rect">
            <a:avLst/>
          </a:prstGeom>
        </p:spPr>
      </p:pic>
    </p:spTree>
    <p:extLst>
      <p:ext uri="{BB962C8B-B14F-4D97-AF65-F5344CB8AC3E}">
        <p14:creationId xmlns:p14="http://schemas.microsoft.com/office/powerpoint/2010/main" val="2599322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CC388-A1DC-4568-92B3-41BF65ED9C0F}"/>
              </a:ext>
            </a:extLst>
          </p:cNvPr>
          <p:cNvSpPr>
            <a:spLocks noGrp="1"/>
          </p:cNvSpPr>
          <p:nvPr>
            <p:ph type="title"/>
          </p:nvPr>
        </p:nvSpPr>
        <p:spPr/>
        <p:txBody>
          <a:bodyPr>
            <a:normAutofit fontScale="90000"/>
          </a:bodyPr>
          <a:lstStyle/>
          <a:p>
            <a:pPr algn="ctr"/>
            <a:r>
              <a:rPr lang="en-GB" dirty="0"/>
              <a:t>COMMUNICATION AND COLLABORATION</a:t>
            </a:r>
          </a:p>
        </p:txBody>
      </p:sp>
      <p:sp>
        <p:nvSpPr>
          <p:cNvPr id="3" name="Text Placeholder 2">
            <a:extLst>
              <a:ext uri="{FF2B5EF4-FFF2-40B4-BE49-F238E27FC236}">
                <a16:creationId xmlns:a16="http://schemas.microsoft.com/office/drawing/2014/main" id="{4CC2DB56-D8E9-43C2-A6FB-CD20D06EFB84}"/>
              </a:ext>
            </a:extLst>
          </p:cNvPr>
          <p:cNvSpPr>
            <a:spLocks noGrp="1"/>
          </p:cNvSpPr>
          <p:nvPr>
            <p:ph idx="14"/>
          </p:nvPr>
        </p:nvSpPr>
        <p:spPr>
          <a:xfrm>
            <a:off x="574240" y="1666754"/>
            <a:ext cx="10980451" cy="3796497"/>
          </a:xfrm>
        </p:spPr>
        <p:txBody>
          <a:bodyPr>
            <a:normAutofit/>
          </a:bodyPr>
          <a:lstStyle/>
          <a:p>
            <a:r>
              <a:rPr lang="en-GB" sz="2600" dirty="0">
                <a:solidFill>
                  <a:schemeClr val="tx1"/>
                </a:solidFill>
              </a:rPr>
              <a:t>Effective collaboration is built by effective communication. </a:t>
            </a:r>
          </a:p>
          <a:p>
            <a:endParaRPr lang="en-GB" dirty="0">
              <a:solidFill>
                <a:schemeClr val="tx1"/>
              </a:solidFill>
            </a:endParaRPr>
          </a:p>
          <a:p>
            <a:r>
              <a:rPr lang="en-GB" sz="2600" dirty="0">
                <a:solidFill>
                  <a:schemeClr val="tx1"/>
                </a:solidFill>
                <a:latin typeface="Arial"/>
              </a:rPr>
              <a:t>Academic</a:t>
            </a:r>
            <a:r>
              <a:rPr lang="en-GB" sz="2600" spc="-20" dirty="0">
                <a:solidFill>
                  <a:schemeClr val="tx1"/>
                </a:solidFill>
                <a:latin typeface="Arial"/>
              </a:rPr>
              <a:t> </a:t>
            </a:r>
            <a:r>
              <a:rPr lang="en-GB" sz="2600" dirty="0">
                <a:solidFill>
                  <a:schemeClr val="tx1"/>
                </a:solidFill>
                <a:latin typeface="Arial"/>
              </a:rPr>
              <a:t>studies</a:t>
            </a:r>
            <a:r>
              <a:rPr lang="en-GB" sz="2600" spc="-10" dirty="0">
                <a:solidFill>
                  <a:schemeClr val="tx1"/>
                </a:solidFill>
                <a:latin typeface="Arial"/>
              </a:rPr>
              <a:t> </a:t>
            </a:r>
            <a:r>
              <a:rPr lang="en-GB" sz="2600" dirty="0">
                <a:solidFill>
                  <a:schemeClr val="tx1"/>
                </a:solidFill>
                <a:latin typeface="Arial"/>
              </a:rPr>
              <a:t>have</a:t>
            </a:r>
            <a:r>
              <a:rPr lang="en-GB" sz="2600" spc="-5" dirty="0">
                <a:solidFill>
                  <a:schemeClr val="tx1"/>
                </a:solidFill>
                <a:latin typeface="Arial"/>
              </a:rPr>
              <a:t> </a:t>
            </a:r>
            <a:r>
              <a:rPr lang="en-GB" sz="2600" dirty="0">
                <a:solidFill>
                  <a:schemeClr val="tx1"/>
                </a:solidFill>
                <a:latin typeface="Arial"/>
              </a:rPr>
              <a:t>traced</a:t>
            </a:r>
            <a:r>
              <a:rPr lang="en-GB" sz="2600" spc="-30" dirty="0">
                <a:solidFill>
                  <a:schemeClr val="tx1"/>
                </a:solidFill>
                <a:latin typeface="Arial"/>
              </a:rPr>
              <a:t> </a:t>
            </a:r>
            <a:r>
              <a:rPr lang="en-GB" sz="2600" dirty="0">
                <a:solidFill>
                  <a:schemeClr val="tx1"/>
                </a:solidFill>
                <a:latin typeface="Arial"/>
              </a:rPr>
              <a:t>the</a:t>
            </a:r>
            <a:r>
              <a:rPr lang="en-GB" sz="2600" spc="-15" dirty="0">
                <a:solidFill>
                  <a:schemeClr val="tx1"/>
                </a:solidFill>
                <a:latin typeface="Arial"/>
              </a:rPr>
              <a:t> </a:t>
            </a:r>
            <a:r>
              <a:rPr lang="en-GB" sz="2600" dirty="0">
                <a:solidFill>
                  <a:schemeClr val="tx1"/>
                </a:solidFill>
                <a:latin typeface="Arial"/>
              </a:rPr>
              <a:t>failure</a:t>
            </a:r>
            <a:r>
              <a:rPr lang="en-GB" sz="2600" spc="5" dirty="0">
                <a:solidFill>
                  <a:schemeClr val="tx1"/>
                </a:solidFill>
                <a:latin typeface="Arial"/>
              </a:rPr>
              <a:t> </a:t>
            </a:r>
            <a:r>
              <a:rPr lang="en-GB" sz="2600" dirty="0">
                <a:solidFill>
                  <a:schemeClr val="tx1"/>
                </a:solidFill>
                <a:latin typeface="Arial"/>
              </a:rPr>
              <a:t>of</a:t>
            </a:r>
            <a:r>
              <a:rPr lang="en-GB" sz="2600" spc="-20" dirty="0">
                <a:solidFill>
                  <a:schemeClr val="tx1"/>
                </a:solidFill>
                <a:latin typeface="Arial"/>
              </a:rPr>
              <a:t> </a:t>
            </a:r>
            <a:r>
              <a:rPr lang="en-GB" sz="2600" dirty="0">
                <a:solidFill>
                  <a:schemeClr val="tx1"/>
                </a:solidFill>
                <a:latin typeface="Arial"/>
              </a:rPr>
              <a:t>some</a:t>
            </a:r>
            <a:r>
              <a:rPr lang="en-GB" sz="2600" spc="-10" dirty="0">
                <a:solidFill>
                  <a:schemeClr val="tx1"/>
                </a:solidFill>
                <a:latin typeface="Arial"/>
              </a:rPr>
              <a:t> </a:t>
            </a:r>
            <a:r>
              <a:rPr lang="en-GB" sz="2600" dirty="0">
                <a:solidFill>
                  <a:schemeClr val="tx1"/>
                </a:solidFill>
                <a:latin typeface="Arial"/>
              </a:rPr>
              <a:t>Multi-national</a:t>
            </a:r>
            <a:r>
              <a:rPr lang="en-GB" sz="2600" spc="15" dirty="0">
                <a:solidFill>
                  <a:schemeClr val="tx1"/>
                </a:solidFill>
                <a:latin typeface="Arial"/>
              </a:rPr>
              <a:t> </a:t>
            </a:r>
            <a:r>
              <a:rPr lang="en-GB" sz="2600" spc="-10" dirty="0">
                <a:solidFill>
                  <a:schemeClr val="tx1"/>
                </a:solidFill>
                <a:latin typeface="Arial"/>
              </a:rPr>
              <a:t>business </a:t>
            </a:r>
            <a:r>
              <a:rPr lang="en-GB" sz="2600" dirty="0">
                <a:solidFill>
                  <a:schemeClr val="tx1"/>
                </a:solidFill>
                <a:latin typeface="Arial"/>
              </a:rPr>
              <a:t>ventures</a:t>
            </a:r>
            <a:r>
              <a:rPr lang="en-GB" sz="2600" spc="-15" dirty="0">
                <a:solidFill>
                  <a:schemeClr val="tx1"/>
                </a:solidFill>
                <a:latin typeface="Arial"/>
              </a:rPr>
              <a:t> </a:t>
            </a:r>
            <a:r>
              <a:rPr lang="en-GB" sz="2600" dirty="0">
                <a:solidFill>
                  <a:schemeClr val="tx1"/>
                </a:solidFill>
                <a:latin typeface="Arial"/>
              </a:rPr>
              <a:t>to</a:t>
            </a:r>
            <a:r>
              <a:rPr lang="en-GB" sz="2600" spc="-15" dirty="0">
                <a:solidFill>
                  <a:schemeClr val="tx1"/>
                </a:solidFill>
                <a:latin typeface="Arial"/>
              </a:rPr>
              <a:t> </a:t>
            </a:r>
            <a:r>
              <a:rPr lang="en-GB" sz="2600" dirty="0">
                <a:solidFill>
                  <a:schemeClr val="tx1"/>
                </a:solidFill>
                <a:latin typeface="Arial"/>
              </a:rPr>
              <a:t>three</a:t>
            </a:r>
            <a:r>
              <a:rPr lang="en-GB" sz="2600" spc="-20" dirty="0">
                <a:solidFill>
                  <a:schemeClr val="tx1"/>
                </a:solidFill>
                <a:latin typeface="Arial"/>
              </a:rPr>
              <a:t> </a:t>
            </a:r>
            <a:r>
              <a:rPr lang="en-GB" sz="2600" dirty="0">
                <a:solidFill>
                  <a:schemeClr val="tx1"/>
                </a:solidFill>
                <a:latin typeface="Arial"/>
              </a:rPr>
              <a:t>significant</a:t>
            </a:r>
            <a:r>
              <a:rPr lang="en-GB" sz="2600" spc="20" dirty="0">
                <a:solidFill>
                  <a:schemeClr val="tx1"/>
                </a:solidFill>
                <a:latin typeface="Arial"/>
              </a:rPr>
              <a:t> </a:t>
            </a:r>
            <a:r>
              <a:rPr lang="en-GB" sz="2600" spc="-10" dirty="0">
                <a:solidFill>
                  <a:schemeClr val="tx1"/>
                </a:solidFill>
                <a:latin typeface="Arial"/>
              </a:rPr>
              <a:t>factors:</a:t>
            </a:r>
          </a:p>
          <a:p>
            <a:endParaRPr lang="en-GB" sz="2600" spc="-10" dirty="0">
              <a:solidFill>
                <a:schemeClr val="tx1"/>
              </a:solidFill>
              <a:latin typeface="Arial"/>
            </a:endParaRPr>
          </a:p>
          <a:p>
            <a:pPr marL="756285" indent="-744220">
              <a:spcBef>
                <a:spcPts val="305"/>
              </a:spcBef>
              <a:buAutoNum type="arabicPeriod"/>
              <a:tabLst>
                <a:tab pos="756285" algn="l"/>
                <a:tab pos="756920" algn="l"/>
              </a:tabLst>
            </a:pPr>
            <a:r>
              <a:rPr lang="en-GB" sz="2600" dirty="0">
                <a:latin typeface="Arial"/>
              </a:rPr>
              <a:t>the</a:t>
            </a:r>
            <a:r>
              <a:rPr lang="en-GB" sz="2600" spc="-40" dirty="0">
                <a:latin typeface="Arial"/>
              </a:rPr>
              <a:t> </a:t>
            </a:r>
            <a:r>
              <a:rPr lang="en-GB" sz="2600" dirty="0">
                <a:latin typeface="Arial"/>
              </a:rPr>
              <a:t>lack of</a:t>
            </a:r>
            <a:r>
              <a:rPr lang="en-GB" sz="2600" spc="-25" dirty="0">
                <a:latin typeface="Arial"/>
              </a:rPr>
              <a:t> </a:t>
            </a:r>
            <a:r>
              <a:rPr lang="en-GB" sz="2600" dirty="0">
                <a:latin typeface="Arial"/>
              </a:rPr>
              <a:t>intercultural</a:t>
            </a:r>
            <a:r>
              <a:rPr lang="en-GB" sz="2600" spc="-5" dirty="0">
                <a:latin typeface="Arial"/>
              </a:rPr>
              <a:t> </a:t>
            </a:r>
            <a:r>
              <a:rPr lang="en-GB" sz="2600" dirty="0">
                <a:latin typeface="Arial"/>
              </a:rPr>
              <a:t>skills</a:t>
            </a:r>
            <a:r>
              <a:rPr lang="en-GB" sz="2600" spc="10" dirty="0">
                <a:latin typeface="Arial"/>
              </a:rPr>
              <a:t> </a:t>
            </a:r>
            <a:r>
              <a:rPr lang="en-GB" sz="2600" dirty="0">
                <a:latin typeface="Arial"/>
              </a:rPr>
              <a:t>and</a:t>
            </a:r>
            <a:r>
              <a:rPr lang="en-GB" sz="2600" spc="-10" dirty="0">
                <a:latin typeface="Arial"/>
              </a:rPr>
              <a:t> competence,</a:t>
            </a:r>
            <a:endParaRPr lang="en-GB" sz="2600" dirty="0">
              <a:latin typeface="Arial"/>
            </a:endParaRPr>
          </a:p>
          <a:p>
            <a:pPr marL="756285" indent="-744220">
              <a:spcBef>
                <a:spcPts val="209"/>
              </a:spcBef>
              <a:buAutoNum type="arabicPeriod"/>
              <a:tabLst>
                <a:tab pos="756285" algn="l"/>
                <a:tab pos="756920" algn="l"/>
              </a:tabLst>
            </a:pPr>
            <a:r>
              <a:rPr lang="en-GB" sz="2600" dirty="0">
                <a:latin typeface="Arial"/>
              </a:rPr>
              <a:t>the</a:t>
            </a:r>
            <a:r>
              <a:rPr lang="en-GB" sz="2600" spc="-35" dirty="0">
                <a:latin typeface="Arial"/>
              </a:rPr>
              <a:t> </a:t>
            </a:r>
            <a:r>
              <a:rPr lang="en-GB" sz="2600" dirty="0">
                <a:latin typeface="Arial"/>
              </a:rPr>
              <a:t>inability</a:t>
            </a:r>
            <a:r>
              <a:rPr lang="en-GB" sz="2600" spc="5" dirty="0">
                <a:latin typeface="Arial"/>
              </a:rPr>
              <a:t> </a:t>
            </a:r>
            <a:r>
              <a:rPr lang="en-GB" sz="2600" dirty="0">
                <a:latin typeface="Arial"/>
              </a:rPr>
              <a:t>to</a:t>
            </a:r>
            <a:r>
              <a:rPr lang="en-GB" sz="2600" spc="-25" dirty="0">
                <a:latin typeface="Arial"/>
              </a:rPr>
              <a:t> </a:t>
            </a:r>
            <a:r>
              <a:rPr lang="en-GB" sz="2600" dirty="0">
                <a:latin typeface="Arial"/>
              </a:rPr>
              <a:t>communicate</a:t>
            </a:r>
            <a:r>
              <a:rPr lang="en-GB" sz="2600" spc="-15" dirty="0">
                <a:latin typeface="Arial"/>
              </a:rPr>
              <a:t> </a:t>
            </a:r>
            <a:r>
              <a:rPr lang="en-GB" sz="2600" dirty="0">
                <a:latin typeface="Arial"/>
              </a:rPr>
              <a:t>effectively</a:t>
            </a:r>
            <a:r>
              <a:rPr lang="en-GB" sz="2600" spc="-25" dirty="0">
                <a:latin typeface="Arial"/>
              </a:rPr>
              <a:t> </a:t>
            </a:r>
            <a:r>
              <a:rPr lang="en-GB" sz="2600" dirty="0">
                <a:latin typeface="Arial"/>
              </a:rPr>
              <a:t>in</a:t>
            </a:r>
            <a:r>
              <a:rPr lang="en-GB" sz="2600" spc="-20" dirty="0">
                <a:latin typeface="Arial"/>
              </a:rPr>
              <a:t> </a:t>
            </a:r>
            <a:r>
              <a:rPr lang="en-GB" sz="2600" dirty="0">
                <a:latin typeface="Arial"/>
              </a:rPr>
              <a:t>a</a:t>
            </a:r>
            <a:r>
              <a:rPr lang="en-GB" sz="2600" spc="-35" dirty="0">
                <a:latin typeface="Arial"/>
              </a:rPr>
              <a:t> </a:t>
            </a:r>
            <a:r>
              <a:rPr lang="en-GB" sz="2600" dirty="0">
                <a:latin typeface="Arial"/>
              </a:rPr>
              <a:t>global</a:t>
            </a:r>
            <a:r>
              <a:rPr lang="en-GB" sz="2600" spc="5" dirty="0">
                <a:latin typeface="Arial"/>
              </a:rPr>
              <a:t> </a:t>
            </a:r>
            <a:r>
              <a:rPr lang="en-GB" sz="2600" spc="-10" dirty="0">
                <a:latin typeface="Arial"/>
              </a:rPr>
              <a:t>setting,</a:t>
            </a:r>
            <a:endParaRPr lang="en-GB" sz="2600" dirty="0">
              <a:latin typeface="Arial"/>
            </a:endParaRPr>
          </a:p>
          <a:p>
            <a:pPr marL="756285" indent="-744220">
              <a:spcBef>
                <a:spcPts val="190"/>
              </a:spcBef>
              <a:buAutoNum type="arabicPeriod"/>
              <a:tabLst>
                <a:tab pos="756285" algn="l"/>
                <a:tab pos="756920" algn="l"/>
              </a:tabLst>
            </a:pPr>
            <a:r>
              <a:rPr lang="en-GB" sz="2600" dirty="0">
                <a:latin typeface="Arial"/>
              </a:rPr>
              <a:t>the</a:t>
            </a:r>
            <a:r>
              <a:rPr lang="en-GB" sz="2600" spc="-20" dirty="0">
                <a:latin typeface="Arial"/>
              </a:rPr>
              <a:t> </a:t>
            </a:r>
            <a:r>
              <a:rPr lang="en-GB" sz="2600" dirty="0">
                <a:latin typeface="Arial"/>
              </a:rPr>
              <a:t>failure to</a:t>
            </a:r>
            <a:r>
              <a:rPr lang="en-GB" sz="2600" spc="-20" dirty="0">
                <a:latin typeface="Arial"/>
              </a:rPr>
              <a:t> </a:t>
            </a:r>
            <a:r>
              <a:rPr lang="en-GB" sz="2600" dirty="0">
                <a:latin typeface="Arial"/>
              </a:rPr>
              <a:t>apply</a:t>
            </a:r>
            <a:r>
              <a:rPr lang="en-GB" sz="2600" spc="-5" dirty="0">
                <a:latin typeface="Arial"/>
              </a:rPr>
              <a:t> </a:t>
            </a:r>
            <a:r>
              <a:rPr lang="en-GB" sz="2600" dirty="0">
                <a:latin typeface="Arial"/>
              </a:rPr>
              <a:t>appropriate</a:t>
            </a:r>
            <a:r>
              <a:rPr lang="en-GB" sz="2600" spc="5" dirty="0">
                <a:latin typeface="Arial"/>
              </a:rPr>
              <a:t> </a:t>
            </a:r>
            <a:r>
              <a:rPr lang="en-GB" sz="2600" dirty="0">
                <a:latin typeface="Arial"/>
              </a:rPr>
              <a:t>etiquette</a:t>
            </a:r>
            <a:r>
              <a:rPr lang="en-GB" sz="2600" spc="-20" dirty="0">
                <a:latin typeface="Arial"/>
              </a:rPr>
              <a:t> </a:t>
            </a:r>
            <a:r>
              <a:rPr lang="en-GB" sz="2600" dirty="0">
                <a:latin typeface="Arial"/>
              </a:rPr>
              <a:t>in</a:t>
            </a:r>
            <a:r>
              <a:rPr lang="en-GB" sz="2600" spc="-25" dirty="0">
                <a:latin typeface="Arial"/>
              </a:rPr>
              <a:t> </a:t>
            </a:r>
            <a:r>
              <a:rPr lang="en-GB" sz="2600" dirty="0">
                <a:latin typeface="Arial"/>
              </a:rPr>
              <a:t>business</a:t>
            </a:r>
            <a:r>
              <a:rPr lang="en-GB" sz="2600" spc="5" dirty="0">
                <a:latin typeface="Arial"/>
              </a:rPr>
              <a:t> </a:t>
            </a:r>
            <a:r>
              <a:rPr lang="en-GB" sz="2600" spc="-10" dirty="0">
                <a:latin typeface="Arial"/>
              </a:rPr>
              <a:t>negotiations.</a:t>
            </a:r>
            <a:endParaRPr lang="en-GB" sz="2600" dirty="0">
              <a:latin typeface="Arial"/>
            </a:endParaRPr>
          </a:p>
          <a:p>
            <a:endParaRPr lang="en-GB" sz="2800" dirty="0">
              <a:solidFill>
                <a:schemeClr val="tx1"/>
              </a:solidFill>
            </a:endParaRPr>
          </a:p>
        </p:txBody>
      </p:sp>
    </p:spTree>
    <p:extLst>
      <p:ext uri="{BB962C8B-B14F-4D97-AF65-F5344CB8AC3E}">
        <p14:creationId xmlns:p14="http://schemas.microsoft.com/office/powerpoint/2010/main" val="1229057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F392-A84F-9E1D-D465-2F6E1D0F58D4}"/>
              </a:ext>
            </a:extLst>
          </p:cNvPr>
          <p:cNvSpPr>
            <a:spLocks noGrp="1"/>
          </p:cNvSpPr>
          <p:nvPr>
            <p:ph type="title"/>
          </p:nvPr>
        </p:nvSpPr>
        <p:spPr/>
        <p:txBody>
          <a:bodyPr/>
          <a:lstStyle/>
          <a:p>
            <a:r>
              <a:rPr lang="en-US" sz="4400" i="0" u="none" strike="noStrike" baseline="0" dirty="0"/>
              <a:t>Is miscommunication most likely between:</a:t>
            </a:r>
            <a:endParaRPr lang="en-GB" sz="4400" dirty="0"/>
          </a:p>
        </p:txBody>
      </p:sp>
      <p:sp>
        <p:nvSpPr>
          <p:cNvPr id="3" name="Content Placeholder 2">
            <a:extLst>
              <a:ext uri="{FF2B5EF4-FFF2-40B4-BE49-F238E27FC236}">
                <a16:creationId xmlns:a16="http://schemas.microsoft.com/office/drawing/2014/main" id="{CD5DC820-FBCD-1097-795F-4FFC41561FD3}"/>
              </a:ext>
            </a:extLst>
          </p:cNvPr>
          <p:cNvSpPr>
            <a:spLocks noGrp="1"/>
          </p:cNvSpPr>
          <p:nvPr>
            <p:ph idx="13"/>
          </p:nvPr>
        </p:nvSpPr>
        <p:spPr/>
        <p:txBody>
          <a:bodyPr/>
          <a:lstStyle/>
          <a:p>
            <a:pPr algn="l"/>
            <a:endParaRPr lang="en-US" sz="1800" b="0" i="0" u="none" strike="noStrike" baseline="0" dirty="0">
              <a:latin typeface="ArialNarrow"/>
            </a:endParaRPr>
          </a:p>
          <a:p>
            <a:pPr algn="l"/>
            <a:r>
              <a:rPr lang="en-US" sz="1800" b="0" i="0" u="none" strike="noStrike" baseline="0" dirty="0">
                <a:latin typeface="ArialNarrow"/>
              </a:rPr>
              <a:t>A) A Low Context Culture and another Low Context Culture</a:t>
            </a:r>
          </a:p>
          <a:p>
            <a:pPr algn="l"/>
            <a:r>
              <a:rPr lang="en-US" sz="1800" b="0" i="0" u="none" strike="noStrike" baseline="0" dirty="0">
                <a:latin typeface="ArialNarrow"/>
              </a:rPr>
              <a:t>B) A Low Context Culture and a High Context Culture</a:t>
            </a:r>
          </a:p>
          <a:p>
            <a:pPr algn="l"/>
            <a:r>
              <a:rPr lang="en-US" sz="1800" b="0" i="0" u="none" strike="noStrike" baseline="0" dirty="0">
                <a:latin typeface="ArialNarrow"/>
              </a:rPr>
              <a:t>C) A High Context Culture and another High Context Culture</a:t>
            </a:r>
            <a:endParaRPr lang="en-GB" dirty="0"/>
          </a:p>
        </p:txBody>
      </p:sp>
    </p:spTree>
    <p:extLst>
      <p:ext uri="{BB962C8B-B14F-4D97-AF65-F5344CB8AC3E}">
        <p14:creationId xmlns:p14="http://schemas.microsoft.com/office/powerpoint/2010/main" val="812985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C735-42A6-4542-8913-069E941D4F58}"/>
              </a:ext>
            </a:extLst>
          </p:cNvPr>
          <p:cNvSpPr>
            <a:spLocks noGrp="1"/>
          </p:cNvSpPr>
          <p:nvPr>
            <p:ph type="title"/>
          </p:nvPr>
        </p:nvSpPr>
        <p:spPr/>
        <p:txBody>
          <a:bodyPr>
            <a:normAutofit fontScale="90000"/>
          </a:bodyPr>
          <a:lstStyle/>
          <a:p>
            <a:pPr algn="ctr"/>
            <a:r>
              <a:rPr lang="en-GB" dirty="0"/>
              <a:t>THE ROLE OF LANGUAGE IN GLOBAL BUSINESS </a:t>
            </a:r>
          </a:p>
        </p:txBody>
      </p:sp>
      <p:sp>
        <p:nvSpPr>
          <p:cNvPr id="3" name="Text Placeholder 2">
            <a:extLst>
              <a:ext uri="{FF2B5EF4-FFF2-40B4-BE49-F238E27FC236}">
                <a16:creationId xmlns:a16="http://schemas.microsoft.com/office/drawing/2014/main" id="{1910CADC-AC9A-4143-A0CB-53B24706BED2}"/>
              </a:ext>
            </a:extLst>
          </p:cNvPr>
          <p:cNvSpPr>
            <a:spLocks noGrp="1"/>
          </p:cNvSpPr>
          <p:nvPr>
            <p:ph idx="14"/>
          </p:nvPr>
        </p:nvSpPr>
        <p:spPr/>
        <p:txBody>
          <a:bodyPr>
            <a:normAutofit fontScale="77500" lnSpcReduction="20000"/>
          </a:bodyPr>
          <a:lstStyle/>
          <a:p>
            <a:r>
              <a:rPr lang="en-GB" dirty="0">
                <a:solidFill>
                  <a:schemeClr val="tx1"/>
                </a:solidFill>
              </a:rPr>
              <a:t>Research conducted on Mergers and Alliances has shown:</a:t>
            </a:r>
          </a:p>
          <a:p>
            <a:endParaRPr lang="en-GB" dirty="0">
              <a:solidFill>
                <a:schemeClr val="tx1"/>
              </a:solidFill>
            </a:endParaRPr>
          </a:p>
          <a:p>
            <a:r>
              <a:rPr lang="en-GB" dirty="0"/>
              <a:t>In MNCs informal oral communication prevails</a:t>
            </a:r>
          </a:p>
          <a:p>
            <a:endParaRPr lang="en-GB" dirty="0"/>
          </a:p>
          <a:p>
            <a:r>
              <a:rPr lang="en-GB" dirty="0"/>
              <a:t>Language = power in organisations</a:t>
            </a:r>
          </a:p>
          <a:p>
            <a:endParaRPr lang="en-GB" dirty="0"/>
          </a:p>
          <a:p>
            <a:r>
              <a:rPr lang="en-GB" dirty="0"/>
              <a:t>Language affects perceptions of oneself and others</a:t>
            </a:r>
          </a:p>
          <a:p>
            <a:endParaRPr lang="en-GB" dirty="0"/>
          </a:p>
          <a:p>
            <a:r>
              <a:rPr lang="en-GB" dirty="0"/>
              <a:t>Language unites but can also divide people and organisations</a:t>
            </a:r>
          </a:p>
          <a:p>
            <a:endParaRPr lang="en-GB" dirty="0"/>
          </a:p>
          <a:p>
            <a:r>
              <a:rPr lang="en-GB" dirty="0"/>
              <a:t>Business English as Lingua Franca (BELF) is not a ‘cultureless language’</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TextBox 3">
            <a:extLst>
              <a:ext uri="{FF2B5EF4-FFF2-40B4-BE49-F238E27FC236}">
                <a16:creationId xmlns:a16="http://schemas.microsoft.com/office/drawing/2014/main" id="{CFDBE575-D246-4488-814E-8AE42A3D4186}"/>
              </a:ext>
            </a:extLst>
          </p:cNvPr>
          <p:cNvSpPr txBox="1"/>
          <p:nvPr/>
        </p:nvSpPr>
        <p:spPr>
          <a:xfrm>
            <a:off x="8763000" y="5715000"/>
            <a:ext cx="2906713" cy="369332"/>
          </a:xfrm>
          <a:prstGeom prst="rect">
            <a:avLst/>
          </a:prstGeom>
          <a:noFill/>
        </p:spPr>
        <p:txBody>
          <a:bodyPr wrap="square" rtlCol="0">
            <a:spAutoFit/>
          </a:bodyPr>
          <a:lstStyle/>
          <a:p>
            <a:r>
              <a:rPr lang="en-GB" dirty="0"/>
              <a:t>(Charles, 2007)</a:t>
            </a:r>
          </a:p>
        </p:txBody>
      </p:sp>
    </p:spTree>
    <p:extLst>
      <p:ext uri="{BB962C8B-B14F-4D97-AF65-F5344CB8AC3E}">
        <p14:creationId xmlns:p14="http://schemas.microsoft.com/office/powerpoint/2010/main" val="2018427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7BDE-C703-4621-8D65-7DC21451DC5F}"/>
              </a:ext>
            </a:extLst>
          </p:cNvPr>
          <p:cNvSpPr>
            <a:spLocks noGrp="1"/>
          </p:cNvSpPr>
          <p:nvPr>
            <p:ph type="title"/>
          </p:nvPr>
        </p:nvSpPr>
        <p:spPr/>
        <p:txBody>
          <a:bodyPr>
            <a:normAutofit fontScale="90000"/>
          </a:bodyPr>
          <a:lstStyle/>
          <a:p>
            <a:pPr algn="ctr"/>
            <a:r>
              <a:rPr lang="en-GB" dirty="0"/>
              <a:t>LANGUAGE &amp; RELATIONSHIPS</a:t>
            </a:r>
          </a:p>
        </p:txBody>
      </p:sp>
      <p:sp>
        <p:nvSpPr>
          <p:cNvPr id="3" name="Text Placeholder 2">
            <a:extLst>
              <a:ext uri="{FF2B5EF4-FFF2-40B4-BE49-F238E27FC236}">
                <a16:creationId xmlns:a16="http://schemas.microsoft.com/office/drawing/2014/main" id="{2F5FD47F-3B05-4EDB-B575-4BD9DC51D72B}"/>
              </a:ext>
            </a:extLst>
          </p:cNvPr>
          <p:cNvSpPr>
            <a:spLocks noGrp="1"/>
          </p:cNvSpPr>
          <p:nvPr>
            <p:ph idx="14"/>
          </p:nvPr>
        </p:nvSpPr>
        <p:spPr>
          <a:xfrm>
            <a:off x="574240" y="1645920"/>
            <a:ext cx="10980451" cy="4509220"/>
          </a:xfrm>
        </p:spPr>
        <p:txBody>
          <a:bodyPr>
            <a:normAutofit fontScale="85000" lnSpcReduction="10000"/>
          </a:bodyPr>
          <a:lstStyle/>
          <a:p>
            <a:r>
              <a:rPr lang="en-GB" sz="2600" dirty="0">
                <a:solidFill>
                  <a:schemeClr val="tx1"/>
                </a:solidFill>
              </a:rPr>
              <a:t>The cost of language barriers is damaged relationships and erosion of trust in MNCs</a:t>
            </a:r>
          </a:p>
          <a:p>
            <a:endParaRPr lang="en-GB" sz="2600" dirty="0">
              <a:solidFill>
                <a:schemeClr val="tx1"/>
              </a:solidFill>
            </a:endParaRPr>
          </a:p>
          <a:p>
            <a:r>
              <a:rPr lang="en-GB" sz="2600" dirty="0">
                <a:solidFill>
                  <a:schemeClr val="tx1"/>
                </a:solidFill>
              </a:rPr>
              <a:t>The command of language is a base for ‘clustering’ merely on cultural similarity and language grounds to the detriment of the task at hand. Groups are formed and an attitude of ‘us’ and ‘them’ can be established, which hinders ideas sharing and rapport</a:t>
            </a:r>
          </a:p>
          <a:p>
            <a:endParaRPr lang="en-GB" sz="2600" dirty="0">
              <a:solidFill>
                <a:schemeClr val="tx1"/>
              </a:solidFill>
            </a:endParaRPr>
          </a:p>
          <a:p>
            <a:r>
              <a:rPr lang="en-GB" sz="2600" dirty="0">
                <a:solidFill>
                  <a:schemeClr val="tx1"/>
                </a:solidFill>
              </a:rPr>
              <a:t>Language difficulties hinder socialization, bridging differences and bonding in teams. Building personal relationships in teams is a key to sharing insights, open and honest communication and the building of trust.</a:t>
            </a:r>
          </a:p>
          <a:p>
            <a:endParaRPr lang="en-GB" sz="2600" dirty="0">
              <a:solidFill>
                <a:schemeClr val="tx1"/>
              </a:solidFill>
            </a:endParaRPr>
          </a:p>
          <a:p>
            <a:r>
              <a:rPr lang="en-GB" sz="2600" b="1" dirty="0">
                <a:solidFill>
                  <a:schemeClr val="tx1"/>
                </a:solidFill>
              </a:rPr>
              <a:t>Note: Technical language competence is not enough to guarantee relationship development. Empathy and interpersonal skills are also required.</a:t>
            </a:r>
            <a:endParaRPr lang="en-GB" b="1" dirty="0"/>
          </a:p>
          <a:p>
            <a:endParaRPr lang="en-GB" b="1" dirty="0"/>
          </a:p>
          <a:p>
            <a:pPr algn="r"/>
            <a:r>
              <a:rPr lang="en-GB" dirty="0"/>
              <a:t>(</a:t>
            </a:r>
            <a:r>
              <a:rPr lang="en-GB" dirty="0">
                <a:solidFill>
                  <a:schemeClr val="tx1"/>
                </a:solidFill>
              </a:rPr>
              <a:t>Cohen and Cassis–Henderson, 2012</a:t>
            </a:r>
            <a:r>
              <a:rPr lang="en-GB" dirty="0"/>
              <a:t>)</a:t>
            </a:r>
          </a:p>
          <a:p>
            <a:endParaRPr lang="en-GB" dirty="0"/>
          </a:p>
        </p:txBody>
      </p:sp>
    </p:spTree>
    <p:extLst>
      <p:ext uri="{BB962C8B-B14F-4D97-AF65-F5344CB8AC3E}">
        <p14:creationId xmlns:p14="http://schemas.microsoft.com/office/powerpoint/2010/main" val="183228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63086-8AD9-4515-AB93-694205200F1B}"/>
              </a:ext>
            </a:extLst>
          </p:cNvPr>
          <p:cNvSpPr>
            <a:spLocks noGrp="1"/>
          </p:cNvSpPr>
          <p:nvPr>
            <p:ph type="title"/>
          </p:nvPr>
        </p:nvSpPr>
        <p:spPr/>
        <p:txBody>
          <a:bodyPr>
            <a:normAutofit fontScale="90000"/>
          </a:bodyPr>
          <a:lstStyle/>
          <a:p>
            <a:pPr algn="ctr"/>
            <a:r>
              <a:rPr lang="en-GB" dirty="0"/>
              <a:t>COMMUNICATION CHANNEL &amp; CULTURE</a:t>
            </a:r>
          </a:p>
        </p:txBody>
      </p:sp>
      <p:sp>
        <p:nvSpPr>
          <p:cNvPr id="3" name="Text Placeholder 2">
            <a:extLst>
              <a:ext uri="{FF2B5EF4-FFF2-40B4-BE49-F238E27FC236}">
                <a16:creationId xmlns:a16="http://schemas.microsoft.com/office/drawing/2014/main" id="{572A7311-3A2A-4FC7-B152-B8D73CBAB990}"/>
              </a:ext>
            </a:extLst>
          </p:cNvPr>
          <p:cNvSpPr>
            <a:spLocks noGrp="1"/>
          </p:cNvSpPr>
          <p:nvPr>
            <p:ph idx="14"/>
          </p:nvPr>
        </p:nvSpPr>
        <p:spPr>
          <a:xfrm>
            <a:off x="574240" y="1645920"/>
            <a:ext cx="10980451" cy="4234180"/>
          </a:xfrm>
        </p:spPr>
        <p:txBody>
          <a:bodyPr>
            <a:normAutofit fontScale="40000" lnSpcReduction="20000"/>
          </a:bodyPr>
          <a:lstStyle/>
          <a:p>
            <a:r>
              <a:rPr lang="en-GB" sz="5000" dirty="0">
                <a:solidFill>
                  <a:schemeClr val="tx1"/>
                </a:solidFill>
              </a:rPr>
              <a:t>Culture influences the chosen mode of communication – F2F; email, phone call, videocall(Zoom, Teams, Skype, etc.)</a:t>
            </a:r>
          </a:p>
          <a:p>
            <a:endParaRPr lang="en-GB" sz="5000" dirty="0">
              <a:solidFill>
                <a:schemeClr val="tx1"/>
              </a:solidFill>
            </a:endParaRPr>
          </a:p>
          <a:p>
            <a:r>
              <a:rPr lang="en-GB" sz="5000" dirty="0">
                <a:solidFill>
                  <a:srgbClr val="00B0F0"/>
                </a:solidFill>
              </a:rPr>
              <a:t>US- cold calls are acceptable and CONSIDERED a normal business practice</a:t>
            </a:r>
          </a:p>
          <a:p>
            <a:r>
              <a:rPr lang="en-GB" sz="5000" dirty="0">
                <a:solidFill>
                  <a:srgbClr val="00B0F0"/>
                </a:solidFill>
              </a:rPr>
              <a:t>Japan- cold calls are ‘unthinkable’-not practical for winning business. </a:t>
            </a:r>
          </a:p>
          <a:p>
            <a:endParaRPr lang="en-GB" sz="5000" dirty="0">
              <a:solidFill>
                <a:srgbClr val="00B0F0"/>
              </a:solidFill>
            </a:endParaRPr>
          </a:p>
          <a:p>
            <a:r>
              <a:rPr lang="en-GB" sz="5000" dirty="0">
                <a:solidFill>
                  <a:schemeClr val="tx1"/>
                </a:solidFill>
              </a:rPr>
              <a:t>In </a:t>
            </a:r>
            <a:r>
              <a:rPr lang="en-GB" sz="5000" b="1" dirty="0">
                <a:solidFill>
                  <a:schemeClr val="tx1"/>
                </a:solidFill>
              </a:rPr>
              <a:t>individualistic societies </a:t>
            </a:r>
            <a:r>
              <a:rPr lang="en-GB" sz="5000" dirty="0">
                <a:solidFill>
                  <a:schemeClr val="tx1"/>
                </a:solidFill>
              </a:rPr>
              <a:t>– speed and efficiency are valued higher than trust and as a result written communication suffice.</a:t>
            </a:r>
          </a:p>
          <a:p>
            <a:endParaRPr lang="en-GB" sz="5000" dirty="0">
              <a:solidFill>
                <a:schemeClr val="tx1"/>
              </a:solidFill>
            </a:endParaRPr>
          </a:p>
          <a:p>
            <a:r>
              <a:rPr lang="en-GB" sz="5000" dirty="0">
                <a:solidFill>
                  <a:schemeClr val="tx1"/>
                </a:solidFill>
              </a:rPr>
              <a:t>In </a:t>
            </a:r>
            <a:r>
              <a:rPr lang="en-GB" sz="5000" b="1" dirty="0">
                <a:solidFill>
                  <a:schemeClr val="tx1"/>
                </a:solidFill>
              </a:rPr>
              <a:t>collectivistic societies </a:t>
            </a:r>
            <a:r>
              <a:rPr lang="en-GB" sz="5000" dirty="0">
                <a:solidFill>
                  <a:schemeClr val="tx1"/>
                </a:solidFill>
              </a:rPr>
              <a:t>oral communication is initially preferred to establish trust between the parties before written communication is introduced. </a:t>
            </a:r>
          </a:p>
          <a:p>
            <a:endParaRPr lang="en-GB" sz="5000" dirty="0">
              <a:solidFill>
                <a:schemeClr val="tx1"/>
              </a:solidFill>
            </a:endParaRPr>
          </a:p>
          <a:p>
            <a:r>
              <a:rPr lang="en-GB" sz="5000" dirty="0">
                <a:solidFill>
                  <a:schemeClr val="tx1"/>
                </a:solidFill>
              </a:rPr>
              <a:t>Communication channel depends on the context, on the available technology and on the culture of the sender/receiver of messages.</a:t>
            </a:r>
          </a:p>
          <a:p>
            <a:endParaRPr lang="en-GB" sz="3700" dirty="0">
              <a:solidFill>
                <a:schemeClr val="tx1"/>
              </a:solidFill>
            </a:endParaRPr>
          </a:p>
          <a:p>
            <a:endParaRPr lang="en-GB" dirty="0">
              <a:solidFill>
                <a:schemeClr val="tx1"/>
              </a:solidFill>
            </a:endParaRPr>
          </a:p>
        </p:txBody>
      </p:sp>
    </p:spTree>
    <p:extLst>
      <p:ext uri="{BB962C8B-B14F-4D97-AF65-F5344CB8AC3E}">
        <p14:creationId xmlns:p14="http://schemas.microsoft.com/office/powerpoint/2010/main" val="3148353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19E8-D894-4B4B-9017-478A02C4BD45}"/>
              </a:ext>
            </a:extLst>
          </p:cNvPr>
          <p:cNvSpPr>
            <a:spLocks noGrp="1"/>
          </p:cNvSpPr>
          <p:nvPr>
            <p:ph type="title"/>
          </p:nvPr>
        </p:nvSpPr>
        <p:spPr/>
        <p:txBody>
          <a:bodyPr>
            <a:normAutofit fontScale="90000"/>
          </a:bodyPr>
          <a:lstStyle/>
          <a:p>
            <a:pPr algn="ctr"/>
            <a:r>
              <a:rPr lang="en-GB" dirty="0"/>
              <a:t>COMPUTER MEDIATED COMMUNICATION</a:t>
            </a:r>
          </a:p>
        </p:txBody>
      </p:sp>
      <p:sp>
        <p:nvSpPr>
          <p:cNvPr id="3" name="Text Placeholder 2">
            <a:extLst>
              <a:ext uri="{FF2B5EF4-FFF2-40B4-BE49-F238E27FC236}">
                <a16:creationId xmlns:a16="http://schemas.microsoft.com/office/drawing/2014/main" id="{9619D8B5-7359-4CE3-BC8D-1449309904EF}"/>
              </a:ext>
            </a:extLst>
          </p:cNvPr>
          <p:cNvSpPr>
            <a:spLocks noGrp="1"/>
          </p:cNvSpPr>
          <p:nvPr>
            <p:ph idx="14"/>
          </p:nvPr>
        </p:nvSpPr>
        <p:spPr/>
        <p:txBody>
          <a:bodyPr>
            <a:normAutofit fontScale="85000" lnSpcReduction="20000"/>
          </a:bodyPr>
          <a:lstStyle/>
          <a:p>
            <a:r>
              <a:rPr lang="en-GB" dirty="0">
                <a:solidFill>
                  <a:schemeClr val="tx1"/>
                </a:solidFill>
              </a:rPr>
              <a:t>Lets consider the ubiquitous email - Should it be formal or informal. Is it a letter or a memo or a more conversational form of communication? Should it be explicit? Is language accuracy important?</a:t>
            </a:r>
          </a:p>
          <a:p>
            <a:endParaRPr lang="en-GB" dirty="0">
              <a:solidFill>
                <a:schemeClr val="tx1"/>
              </a:solidFill>
            </a:endParaRPr>
          </a:p>
          <a:p>
            <a:r>
              <a:rPr lang="en-GB" dirty="0">
                <a:solidFill>
                  <a:schemeClr val="tx1"/>
                </a:solidFill>
              </a:rPr>
              <a:t>DISADVANTAGES:</a:t>
            </a:r>
          </a:p>
          <a:p>
            <a:r>
              <a:rPr lang="en-GB" dirty="0">
                <a:solidFill>
                  <a:schemeClr val="tx1"/>
                </a:solidFill>
              </a:rPr>
              <a:t>Electronic mail lacks the non verbal cues like body language , face expression and other non verbal behaviour. It carries the pitfalls of </a:t>
            </a:r>
            <a:r>
              <a:rPr lang="en-GB" dirty="0">
                <a:solidFill>
                  <a:srgbClr val="00B050"/>
                </a:solidFill>
              </a:rPr>
              <a:t>inaccurate language</a:t>
            </a:r>
            <a:r>
              <a:rPr lang="en-GB" dirty="0">
                <a:solidFill>
                  <a:schemeClr val="tx1"/>
                </a:solidFill>
              </a:rPr>
              <a:t>, </a:t>
            </a:r>
            <a:r>
              <a:rPr lang="en-GB" dirty="0">
                <a:solidFill>
                  <a:srgbClr val="FF0000"/>
                </a:solidFill>
              </a:rPr>
              <a:t>poorly structured text</a:t>
            </a:r>
            <a:r>
              <a:rPr lang="en-GB" dirty="0">
                <a:solidFill>
                  <a:schemeClr val="tx1"/>
                </a:solidFill>
              </a:rPr>
              <a:t>, </a:t>
            </a:r>
            <a:r>
              <a:rPr lang="en-GB" dirty="0">
                <a:solidFill>
                  <a:srgbClr val="7030A0"/>
                </a:solidFill>
              </a:rPr>
              <a:t>and wrong writing style</a:t>
            </a:r>
            <a:r>
              <a:rPr lang="en-GB" dirty="0">
                <a:solidFill>
                  <a:schemeClr val="tx1"/>
                </a:solidFill>
              </a:rPr>
              <a:t>. However in theory communicating parties can eradicate mistakes because they have time to reflect and discuss the process in following exchanges.</a:t>
            </a:r>
          </a:p>
          <a:p>
            <a:endParaRPr lang="en-GB" dirty="0">
              <a:solidFill>
                <a:schemeClr val="tx1"/>
              </a:solidFill>
            </a:endParaRPr>
          </a:p>
          <a:p>
            <a:r>
              <a:rPr lang="en-GB" dirty="0">
                <a:solidFill>
                  <a:schemeClr val="tx1"/>
                </a:solidFill>
              </a:rPr>
              <a:t>Apart from culture research has shown that </a:t>
            </a:r>
            <a:r>
              <a:rPr lang="en-GB" dirty="0">
                <a:solidFill>
                  <a:srgbClr val="7030A0"/>
                </a:solidFill>
              </a:rPr>
              <a:t>gender</a:t>
            </a:r>
            <a:r>
              <a:rPr lang="en-GB" dirty="0">
                <a:solidFill>
                  <a:schemeClr val="tx1"/>
                </a:solidFill>
              </a:rPr>
              <a:t> plays a role in electronic communication. Women and men structuring messages differently and women value politeness more.</a:t>
            </a:r>
          </a:p>
          <a:p>
            <a:endParaRPr lang="en-GB" dirty="0"/>
          </a:p>
          <a:p>
            <a:endParaRPr lang="en-GB" dirty="0"/>
          </a:p>
        </p:txBody>
      </p:sp>
    </p:spTree>
    <p:extLst>
      <p:ext uri="{BB962C8B-B14F-4D97-AF65-F5344CB8AC3E}">
        <p14:creationId xmlns:p14="http://schemas.microsoft.com/office/powerpoint/2010/main" val="2381662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445344"/>
            <a:ext cx="12192000" cy="6857998"/>
          </a:xfrm>
          <a:prstGeom prst="rect">
            <a:avLst/>
          </a:prstGeom>
        </p:spPr>
      </p:pic>
      <p:sp>
        <p:nvSpPr>
          <p:cNvPr id="3" name="object 3"/>
          <p:cNvSpPr txBox="1"/>
          <p:nvPr/>
        </p:nvSpPr>
        <p:spPr>
          <a:xfrm>
            <a:off x="11608054" y="6624929"/>
            <a:ext cx="80645" cy="84455"/>
          </a:xfrm>
          <a:prstGeom prst="rect">
            <a:avLst/>
          </a:prstGeom>
        </p:spPr>
        <p:txBody>
          <a:bodyPr vert="horz" wrap="square" lIns="0" tIns="16510" rIns="0" bIns="0" rtlCol="0">
            <a:spAutoFit/>
          </a:bodyPr>
          <a:lstStyle/>
          <a:p>
            <a:pPr marL="12700">
              <a:lnSpc>
                <a:spcPct val="100000"/>
              </a:lnSpc>
              <a:spcBef>
                <a:spcPts val="130"/>
              </a:spcBef>
            </a:pPr>
            <a:r>
              <a:rPr sz="350" spc="-25" dirty="0">
                <a:solidFill>
                  <a:srgbClr val="FFFFFF"/>
                </a:solidFill>
                <a:latin typeface="Arial"/>
                <a:cs typeface="Arial"/>
              </a:rPr>
              <a:t>15</a:t>
            </a:r>
            <a:endParaRPr sz="350">
              <a:latin typeface="Arial"/>
              <a:cs typeface="Arial"/>
            </a:endParaRPr>
          </a:p>
        </p:txBody>
      </p:sp>
      <p:pic>
        <p:nvPicPr>
          <p:cNvPr id="4" name="object 4"/>
          <p:cNvPicPr/>
          <p:nvPr/>
        </p:nvPicPr>
        <p:blipFill>
          <a:blip r:embed="rId4" cstate="print"/>
          <a:stretch>
            <a:fillRect/>
          </a:stretch>
        </p:blipFill>
        <p:spPr>
          <a:xfrm>
            <a:off x="516636" y="6423659"/>
            <a:ext cx="1473708" cy="382522"/>
          </a:xfrm>
          <a:prstGeom prst="rect">
            <a:avLst/>
          </a:prstGeom>
        </p:spPr>
      </p:pic>
      <p:sp>
        <p:nvSpPr>
          <p:cNvPr id="6" name="object 6"/>
          <p:cNvSpPr txBox="1">
            <a:spLocks noGrp="1"/>
          </p:cNvSpPr>
          <p:nvPr>
            <p:ph type="title"/>
          </p:nvPr>
        </p:nvSpPr>
        <p:spPr>
          <a:xfrm>
            <a:off x="574240" y="357188"/>
            <a:ext cx="9716916" cy="987834"/>
          </a:xfrm>
          <a:prstGeom prst="rect">
            <a:avLst/>
          </a:prstGeom>
        </p:spPr>
        <p:txBody>
          <a:bodyPr vert="horz" wrap="square" lIns="0" tIns="307720" rIns="0" bIns="0" rtlCol="0">
            <a:spAutoFit/>
          </a:bodyPr>
          <a:lstStyle/>
          <a:p>
            <a:pPr marL="219075">
              <a:lnSpc>
                <a:spcPct val="100000"/>
              </a:lnSpc>
              <a:spcBef>
                <a:spcPts val="95"/>
              </a:spcBef>
            </a:pPr>
            <a:r>
              <a:rPr lang="en-GB" sz="4400" dirty="0"/>
              <a:t>CAUSES</a:t>
            </a:r>
            <a:r>
              <a:rPr lang="en-GB" sz="4400" spc="-90" dirty="0"/>
              <a:t> </a:t>
            </a:r>
            <a:r>
              <a:rPr lang="en-GB" sz="4400" dirty="0"/>
              <a:t>OF</a:t>
            </a:r>
            <a:r>
              <a:rPr lang="en-GB" sz="4400" spc="-105" dirty="0"/>
              <a:t> </a:t>
            </a:r>
            <a:r>
              <a:rPr lang="en-GB" sz="4400" dirty="0"/>
              <a:t>COMMUNICATION</a:t>
            </a:r>
            <a:r>
              <a:rPr lang="en-GB" sz="4400" spc="-70" dirty="0"/>
              <a:t> </a:t>
            </a:r>
            <a:r>
              <a:rPr lang="en-GB" sz="4400" spc="-10" dirty="0"/>
              <a:t>PROBLEMS</a:t>
            </a:r>
            <a:endParaRPr lang="en-GB" sz="4400" dirty="0"/>
          </a:p>
        </p:txBody>
      </p:sp>
      <p:sp>
        <p:nvSpPr>
          <p:cNvPr id="7" name="object 7"/>
          <p:cNvSpPr txBox="1">
            <a:spLocks noGrp="1"/>
          </p:cNvSpPr>
          <p:nvPr>
            <p:ph idx="14"/>
          </p:nvPr>
        </p:nvSpPr>
        <p:spPr>
          <a:xfrm>
            <a:off x="574240" y="1645920"/>
            <a:ext cx="10980451" cy="5543184"/>
          </a:xfrm>
          <a:prstGeom prst="rect">
            <a:avLst/>
          </a:prstGeom>
        </p:spPr>
        <p:txBody>
          <a:bodyPr vert="horz" wrap="square" lIns="0" tIns="13335" rIns="0" bIns="0" rtlCol="0">
            <a:spAutoFit/>
          </a:bodyPr>
          <a:lstStyle/>
          <a:p>
            <a:pPr marL="12700">
              <a:lnSpc>
                <a:spcPct val="100000"/>
              </a:lnSpc>
              <a:spcBef>
                <a:spcPts val="105"/>
              </a:spcBef>
            </a:pPr>
            <a:r>
              <a:rPr sz="2600" dirty="0"/>
              <a:t>A</a:t>
            </a:r>
            <a:r>
              <a:rPr sz="2600" spc="-145" dirty="0"/>
              <a:t> </a:t>
            </a:r>
            <a:r>
              <a:rPr sz="2600" dirty="0"/>
              <a:t>study</a:t>
            </a:r>
            <a:r>
              <a:rPr sz="2600" spc="-45" dirty="0"/>
              <a:t> </a:t>
            </a:r>
            <a:r>
              <a:rPr sz="2600" dirty="0"/>
              <a:t>of</a:t>
            </a:r>
            <a:r>
              <a:rPr sz="2600" spc="-20" dirty="0"/>
              <a:t> </a:t>
            </a:r>
            <a:r>
              <a:rPr sz="2600" dirty="0"/>
              <a:t>international</a:t>
            </a:r>
            <a:r>
              <a:rPr sz="2600" spc="-65" dirty="0"/>
              <a:t> </a:t>
            </a:r>
            <a:r>
              <a:rPr sz="2600" dirty="0"/>
              <a:t>companies</a:t>
            </a:r>
            <a:r>
              <a:rPr sz="2600" spc="-30" dirty="0"/>
              <a:t> </a:t>
            </a:r>
            <a:r>
              <a:rPr sz="2600" dirty="0"/>
              <a:t>in</a:t>
            </a:r>
            <a:r>
              <a:rPr sz="2600" spc="-25" dirty="0"/>
              <a:t> </a:t>
            </a:r>
            <a:r>
              <a:rPr sz="2600" spc="-10" dirty="0"/>
              <a:t>Poland</a:t>
            </a:r>
            <a:r>
              <a:rPr lang="en-GB" sz="2600" spc="-10" dirty="0"/>
              <a:t> has shown that the underlying causes of communication problems could be based on:</a:t>
            </a:r>
            <a:endParaRPr sz="2600" spc="-10" dirty="0"/>
          </a:p>
          <a:p>
            <a:pPr marL="584200" indent="-571500">
              <a:lnSpc>
                <a:spcPts val="2580"/>
              </a:lnSpc>
              <a:spcBef>
                <a:spcPts val="2060"/>
              </a:spcBef>
              <a:buChar char="•"/>
              <a:tabLst>
                <a:tab pos="583565" algn="l"/>
                <a:tab pos="584200" algn="l"/>
              </a:tabLst>
            </a:pPr>
            <a:r>
              <a:rPr sz="2600" dirty="0"/>
              <a:t>Lack</a:t>
            </a:r>
            <a:r>
              <a:rPr sz="2600" spc="-40" dirty="0"/>
              <a:t> </a:t>
            </a:r>
            <a:r>
              <a:rPr sz="2600" dirty="0"/>
              <a:t>of</a:t>
            </a:r>
            <a:r>
              <a:rPr sz="2600" spc="-15" dirty="0"/>
              <a:t> </a:t>
            </a:r>
            <a:r>
              <a:rPr sz="2600" dirty="0"/>
              <a:t>active</a:t>
            </a:r>
            <a:r>
              <a:rPr sz="2600" spc="-25" dirty="0"/>
              <a:t> </a:t>
            </a:r>
            <a:r>
              <a:rPr sz="2600" spc="-10" dirty="0"/>
              <a:t>listening</a:t>
            </a:r>
          </a:p>
          <a:p>
            <a:pPr marL="584200" indent="-571500">
              <a:lnSpc>
                <a:spcPts val="2405"/>
              </a:lnSpc>
              <a:buChar char="•"/>
              <a:tabLst>
                <a:tab pos="583565" algn="l"/>
                <a:tab pos="584200" algn="l"/>
              </a:tabLst>
            </a:pPr>
            <a:r>
              <a:rPr sz="2600" dirty="0"/>
              <a:t>Misinterpretations</a:t>
            </a:r>
            <a:r>
              <a:rPr sz="2600" spc="-65" dirty="0"/>
              <a:t> </a:t>
            </a:r>
            <a:r>
              <a:rPr sz="2600" dirty="0"/>
              <a:t>of</a:t>
            </a:r>
            <a:r>
              <a:rPr sz="2600" spc="-95" dirty="0"/>
              <a:t> </a:t>
            </a:r>
            <a:r>
              <a:rPr sz="2600" dirty="0"/>
              <a:t>somebody’s</a:t>
            </a:r>
            <a:r>
              <a:rPr sz="2600" spc="-50" dirty="0"/>
              <a:t> </a:t>
            </a:r>
            <a:r>
              <a:rPr sz="2600" spc="-10" dirty="0"/>
              <a:t>words</a:t>
            </a:r>
            <a:endParaRPr lang="en-GB" sz="2600" spc="-10" dirty="0"/>
          </a:p>
          <a:p>
            <a:pPr marL="584200" indent="-571500">
              <a:lnSpc>
                <a:spcPts val="2405"/>
              </a:lnSpc>
              <a:buChar char="•"/>
              <a:tabLst>
                <a:tab pos="583565" algn="l"/>
                <a:tab pos="584200" algn="l"/>
              </a:tabLst>
            </a:pPr>
            <a:endParaRPr sz="2600" spc="-10" dirty="0"/>
          </a:p>
          <a:p>
            <a:pPr marL="584200" indent="-571500">
              <a:lnSpc>
                <a:spcPts val="2310"/>
              </a:lnSpc>
              <a:buChar char="•"/>
              <a:tabLst>
                <a:tab pos="583565" algn="l"/>
                <a:tab pos="584200" algn="l"/>
              </a:tabLst>
            </a:pPr>
            <a:r>
              <a:rPr sz="2600" dirty="0"/>
              <a:t>Cultural</a:t>
            </a:r>
            <a:r>
              <a:rPr sz="2600" spc="-80" dirty="0"/>
              <a:t> </a:t>
            </a:r>
            <a:r>
              <a:rPr sz="2600" dirty="0"/>
              <a:t>differences</a:t>
            </a:r>
            <a:r>
              <a:rPr sz="2600" spc="-40" dirty="0"/>
              <a:t> </a:t>
            </a:r>
            <a:r>
              <a:rPr sz="2600" dirty="0"/>
              <a:t>(different</a:t>
            </a:r>
            <a:r>
              <a:rPr sz="2600" spc="-70" dirty="0"/>
              <a:t> </a:t>
            </a:r>
            <a:r>
              <a:rPr sz="2600" dirty="0"/>
              <a:t>attitude</a:t>
            </a:r>
            <a:r>
              <a:rPr sz="2600" spc="-55" dirty="0"/>
              <a:t> </a:t>
            </a:r>
            <a:r>
              <a:rPr sz="2600" dirty="0"/>
              <a:t>toward</a:t>
            </a:r>
            <a:r>
              <a:rPr sz="2600" spc="-70" dirty="0"/>
              <a:t> </a:t>
            </a:r>
            <a:r>
              <a:rPr sz="2600" dirty="0"/>
              <a:t>the</a:t>
            </a:r>
            <a:r>
              <a:rPr sz="2600" spc="-55" dirty="0"/>
              <a:t> </a:t>
            </a:r>
            <a:r>
              <a:rPr sz="2600" dirty="0"/>
              <a:t>work</a:t>
            </a:r>
            <a:r>
              <a:rPr sz="2600" spc="-45" dirty="0"/>
              <a:t> </a:t>
            </a:r>
            <a:r>
              <a:rPr sz="2600" dirty="0"/>
              <a:t>culture,</a:t>
            </a:r>
            <a:r>
              <a:rPr sz="2600" spc="-70" dirty="0"/>
              <a:t> </a:t>
            </a:r>
            <a:r>
              <a:rPr sz="2600" spc="-10" dirty="0"/>
              <a:t>different</a:t>
            </a:r>
            <a:r>
              <a:rPr lang="en-GB" sz="2600" spc="-10" dirty="0"/>
              <a:t> </a:t>
            </a:r>
            <a:r>
              <a:rPr sz="2600" spc="-10" dirty="0"/>
              <a:t>priorities)</a:t>
            </a:r>
            <a:endParaRPr lang="en-GB" sz="2600" spc="-10" dirty="0"/>
          </a:p>
          <a:p>
            <a:pPr marL="584200" indent="-571500">
              <a:lnSpc>
                <a:spcPts val="2310"/>
              </a:lnSpc>
              <a:buChar char="•"/>
              <a:tabLst>
                <a:tab pos="583565" algn="l"/>
                <a:tab pos="584200" algn="l"/>
              </a:tabLst>
            </a:pPr>
            <a:endParaRPr sz="2600" spc="-10" dirty="0"/>
          </a:p>
          <a:p>
            <a:pPr marL="584200" indent="-571500">
              <a:lnSpc>
                <a:spcPts val="2405"/>
              </a:lnSpc>
              <a:buChar char="•"/>
              <a:tabLst>
                <a:tab pos="583565" algn="l"/>
                <a:tab pos="584200" algn="l"/>
              </a:tabLst>
            </a:pPr>
            <a:r>
              <a:rPr sz="2600" dirty="0"/>
              <a:t>Focusing</a:t>
            </a:r>
            <a:r>
              <a:rPr sz="2600" spc="-60" dirty="0"/>
              <a:t> </a:t>
            </a:r>
            <a:r>
              <a:rPr sz="2600" dirty="0"/>
              <a:t>only</a:t>
            </a:r>
            <a:r>
              <a:rPr sz="2600" spc="-40" dirty="0"/>
              <a:t> </a:t>
            </a:r>
            <a:r>
              <a:rPr sz="2600" dirty="0"/>
              <a:t>on</a:t>
            </a:r>
            <a:r>
              <a:rPr sz="2600" spc="-25" dirty="0"/>
              <a:t> </a:t>
            </a:r>
            <a:r>
              <a:rPr sz="2600" dirty="0"/>
              <a:t>one’s</a:t>
            </a:r>
            <a:r>
              <a:rPr sz="2600" spc="-50" dirty="0"/>
              <a:t> </a:t>
            </a:r>
            <a:r>
              <a:rPr sz="2600" dirty="0"/>
              <a:t>own</a:t>
            </a:r>
            <a:r>
              <a:rPr sz="2600" spc="-35" dirty="0"/>
              <a:t> </a:t>
            </a:r>
            <a:r>
              <a:rPr sz="2600" dirty="0"/>
              <a:t>interpretation</a:t>
            </a:r>
            <a:r>
              <a:rPr sz="2600" spc="-50" dirty="0"/>
              <a:t> </a:t>
            </a:r>
            <a:r>
              <a:rPr sz="2600" dirty="0"/>
              <a:t>of</a:t>
            </a:r>
            <a:r>
              <a:rPr sz="2600" spc="-30" dirty="0"/>
              <a:t> </a:t>
            </a:r>
            <a:r>
              <a:rPr sz="2600" dirty="0"/>
              <a:t>the</a:t>
            </a:r>
            <a:r>
              <a:rPr sz="2600" spc="-30" dirty="0"/>
              <a:t> </a:t>
            </a:r>
            <a:r>
              <a:rPr sz="2600" dirty="0"/>
              <a:t>message</a:t>
            </a:r>
            <a:r>
              <a:rPr sz="2600" spc="-55" dirty="0"/>
              <a:t> </a:t>
            </a:r>
            <a:r>
              <a:rPr sz="2600" spc="-20" dirty="0"/>
              <a:t>sent</a:t>
            </a:r>
            <a:endParaRPr lang="en-GB" sz="2600" spc="-20" dirty="0"/>
          </a:p>
          <a:p>
            <a:pPr marL="584200" indent="-571500">
              <a:lnSpc>
                <a:spcPts val="2405"/>
              </a:lnSpc>
              <a:buChar char="•"/>
              <a:tabLst>
                <a:tab pos="583565" algn="l"/>
                <a:tab pos="584200" algn="l"/>
              </a:tabLst>
            </a:pPr>
            <a:endParaRPr sz="2600" spc="-20" dirty="0"/>
          </a:p>
          <a:p>
            <a:pPr marL="584200" indent="-571500">
              <a:lnSpc>
                <a:spcPts val="2405"/>
              </a:lnSpc>
              <a:buChar char="•"/>
              <a:tabLst>
                <a:tab pos="583565" algn="l"/>
                <a:tab pos="584200" algn="l"/>
              </a:tabLst>
            </a:pPr>
            <a:r>
              <a:rPr sz="2600" dirty="0"/>
              <a:t>Stereotypical</a:t>
            </a:r>
            <a:r>
              <a:rPr sz="2600" spc="-55" dirty="0"/>
              <a:t> </a:t>
            </a:r>
            <a:r>
              <a:rPr sz="2600" dirty="0"/>
              <a:t>way</a:t>
            </a:r>
            <a:r>
              <a:rPr sz="2600" spc="-20" dirty="0"/>
              <a:t> </a:t>
            </a:r>
            <a:r>
              <a:rPr sz="2600" dirty="0"/>
              <a:t>of </a:t>
            </a:r>
            <a:r>
              <a:rPr sz="2600" spc="-10" dirty="0"/>
              <a:t>thinking</a:t>
            </a:r>
          </a:p>
          <a:p>
            <a:pPr>
              <a:lnSpc>
                <a:spcPct val="100000"/>
              </a:lnSpc>
              <a:spcBef>
                <a:spcPts val="30"/>
              </a:spcBef>
            </a:pPr>
            <a:endParaRPr sz="2600" dirty="0"/>
          </a:p>
          <a:p>
            <a:pPr marR="5080" algn="r">
              <a:lnSpc>
                <a:spcPct val="100000"/>
              </a:lnSpc>
            </a:pPr>
            <a:r>
              <a:rPr sz="1800" spc="-10" dirty="0">
                <a:solidFill>
                  <a:srgbClr val="000000"/>
                </a:solidFill>
              </a:rPr>
              <a:t>KIC-</a:t>
            </a:r>
            <a:r>
              <a:rPr sz="1800" dirty="0">
                <a:solidFill>
                  <a:srgbClr val="000000"/>
                </a:solidFill>
              </a:rPr>
              <a:t>DRGAS </a:t>
            </a:r>
            <a:r>
              <a:rPr sz="1800" spc="-10" dirty="0">
                <a:solidFill>
                  <a:srgbClr val="000000"/>
                </a:solidFill>
              </a:rPr>
              <a:t>(2015)</a:t>
            </a:r>
            <a:endParaRPr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C6990-ED51-43FF-9B9F-922FD3C2BA5C}"/>
              </a:ext>
            </a:extLst>
          </p:cNvPr>
          <p:cNvSpPr>
            <a:spLocks noGrp="1"/>
          </p:cNvSpPr>
          <p:nvPr>
            <p:ph type="title"/>
          </p:nvPr>
        </p:nvSpPr>
        <p:spPr/>
        <p:txBody>
          <a:bodyPr/>
          <a:lstStyle/>
          <a:p>
            <a:r>
              <a:rPr lang="en-GB" sz="4800" dirty="0"/>
              <a:t>CAUSES</a:t>
            </a:r>
            <a:r>
              <a:rPr lang="en-GB" sz="4800" spc="-90" dirty="0"/>
              <a:t> </a:t>
            </a:r>
            <a:r>
              <a:rPr lang="en-GB" sz="4800" dirty="0"/>
              <a:t>OF</a:t>
            </a:r>
            <a:r>
              <a:rPr lang="en-GB" sz="4800" spc="-105" dirty="0"/>
              <a:t> </a:t>
            </a:r>
            <a:r>
              <a:rPr lang="en-GB" sz="4800" dirty="0"/>
              <a:t>COMMUNICATION</a:t>
            </a:r>
            <a:r>
              <a:rPr lang="en-GB" sz="4800" spc="-70" dirty="0"/>
              <a:t> </a:t>
            </a:r>
            <a:r>
              <a:rPr lang="en-GB" sz="4800" spc="-10" dirty="0"/>
              <a:t>PROBLEMS</a:t>
            </a:r>
            <a:endParaRPr lang="en-GB" sz="4800" dirty="0"/>
          </a:p>
        </p:txBody>
      </p:sp>
      <p:sp>
        <p:nvSpPr>
          <p:cNvPr id="3" name="Text Placeholder 2">
            <a:extLst>
              <a:ext uri="{FF2B5EF4-FFF2-40B4-BE49-F238E27FC236}">
                <a16:creationId xmlns:a16="http://schemas.microsoft.com/office/drawing/2014/main" id="{C3410CF5-50F1-48CB-9893-62481C708BA4}"/>
              </a:ext>
            </a:extLst>
          </p:cNvPr>
          <p:cNvSpPr>
            <a:spLocks noGrp="1"/>
          </p:cNvSpPr>
          <p:nvPr>
            <p:ph idx="14"/>
          </p:nvPr>
        </p:nvSpPr>
        <p:spPr/>
        <p:txBody>
          <a:bodyPr/>
          <a:lstStyle/>
          <a:p>
            <a:pPr marL="584200" indent="-571500">
              <a:lnSpc>
                <a:spcPts val="2410"/>
              </a:lnSpc>
              <a:buChar char="•"/>
              <a:tabLst>
                <a:tab pos="583565" algn="l"/>
                <a:tab pos="584200" algn="l"/>
              </a:tabLst>
            </a:pPr>
            <a:r>
              <a:rPr lang="en-GB" sz="2600" dirty="0"/>
              <a:t>Emotional</a:t>
            </a:r>
            <a:r>
              <a:rPr lang="en-GB" sz="2600" spc="-45" dirty="0"/>
              <a:t> </a:t>
            </a:r>
            <a:r>
              <a:rPr lang="en-GB" sz="2600" spc="-10" dirty="0"/>
              <a:t>blocks</a:t>
            </a:r>
          </a:p>
          <a:p>
            <a:pPr marL="584200" indent="-571500">
              <a:lnSpc>
                <a:spcPts val="2410"/>
              </a:lnSpc>
              <a:buChar char="•"/>
              <a:tabLst>
                <a:tab pos="583565" algn="l"/>
                <a:tab pos="584200" algn="l"/>
              </a:tabLst>
            </a:pPr>
            <a:endParaRPr lang="en-GB" sz="2600" spc="-10" dirty="0"/>
          </a:p>
          <a:p>
            <a:pPr marL="584200" indent="-571500">
              <a:lnSpc>
                <a:spcPts val="2405"/>
              </a:lnSpc>
              <a:buChar char="•"/>
              <a:tabLst>
                <a:tab pos="583565" algn="l"/>
                <a:tab pos="584200" algn="l"/>
              </a:tabLst>
            </a:pPr>
            <a:r>
              <a:rPr lang="en-GB" sz="2600" dirty="0"/>
              <a:t>Hostile</a:t>
            </a:r>
            <a:r>
              <a:rPr lang="en-GB" sz="2600" spc="-40" dirty="0"/>
              <a:t> </a:t>
            </a:r>
            <a:r>
              <a:rPr lang="en-GB" sz="2600" dirty="0"/>
              <a:t>attitude</a:t>
            </a:r>
            <a:r>
              <a:rPr lang="en-GB" sz="2600" spc="-45" dirty="0"/>
              <a:t> </a:t>
            </a:r>
            <a:r>
              <a:rPr lang="en-GB" sz="2600" dirty="0"/>
              <a:t>towards</a:t>
            </a:r>
            <a:r>
              <a:rPr lang="en-GB" sz="2600" spc="-50" dirty="0"/>
              <a:t> </a:t>
            </a:r>
            <a:r>
              <a:rPr lang="en-GB" sz="2600" dirty="0"/>
              <a:t>the</a:t>
            </a:r>
            <a:r>
              <a:rPr lang="en-GB" sz="2600" spc="-30" dirty="0"/>
              <a:t> </a:t>
            </a:r>
            <a:r>
              <a:rPr lang="en-GB" sz="2600" spc="-10" dirty="0"/>
              <a:t>speaker</a:t>
            </a:r>
          </a:p>
          <a:p>
            <a:pPr marL="584200" indent="-571500">
              <a:lnSpc>
                <a:spcPts val="2405"/>
              </a:lnSpc>
              <a:buChar char="•"/>
              <a:tabLst>
                <a:tab pos="583565" algn="l"/>
                <a:tab pos="584200" algn="l"/>
              </a:tabLst>
            </a:pPr>
            <a:endParaRPr lang="en-GB" sz="2600" spc="-10" dirty="0"/>
          </a:p>
          <a:p>
            <a:pPr marL="584200" indent="-571500">
              <a:lnSpc>
                <a:spcPts val="2405"/>
              </a:lnSpc>
              <a:buChar char="•"/>
              <a:tabLst>
                <a:tab pos="583565" algn="l"/>
                <a:tab pos="584200" algn="l"/>
              </a:tabLst>
            </a:pPr>
            <a:r>
              <a:rPr lang="en-GB" sz="2600" dirty="0"/>
              <a:t>Analysing</a:t>
            </a:r>
            <a:r>
              <a:rPr lang="en-GB" sz="2600" spc="-65" dirty="0"/>
              <a:t> </a:t>
            </a:r>
            <a:r>
              <a:rPr lang="en-GB" sz="2600" dirty="0"/>
              <a:t>the</a:t>
            </a:r>
            <a:r>
              <a:rPr lang="en-GB" sz="2600" spc="-30" dirty="0"/>
              <a:t> </a:t>
            </a:r>
            <a:r>
              <a:rPr lang="en-GB" sz="2600" dirty="0"/>
              <a:t>communication</a:t>
            </a:r>
            <a:r>
              <a:rPr lang="en-GB" sz="2600" spc="-60" dirty="0"/>
              <a:t> </a:t>
            </a:r>
            <a:r>
              <a:rPr lang="en-GB" sz="2600" dirty="0"/>
              <a:t>via</a:t>
            </a:r>
            <a:r>
              <a:rPr lang="en-GB" sz="2600" spc="-10" dirty="0"/>
              <a:t> </a:t>
            </a:r>
            <a:r>
              <a:rPr lang="en-GB" sz="2600" dirty="0"/>
              <a:t>the</a:t>
            </a:r>
            <a:r>
              <a:rPr lang="en-GB" sz="2600" spc="-40" dirty="0"/>
              <a:t> </a:t>
            </a:r>
            <a:r>
              <a:rPr lang="en-GB" sz="2600" dirty="0"/>
              <a:t>outcome</a:t>
            </a:r>
            <a:r>
              <a:rPr lang="en-GB" sz="2600" spc="-50" dirty="0"/>
              <a:t> </a:t>
            </a:r>
            <a:r>
              <a:rPr lang="en-GB" sz="2600" dirty="0"/>
              <a:t>of</a:t>
            </a:r>
            <a:r>
              <a:rPr lang="en-GB" sz="2600" spc="-35" dirty="0"/>
              <a:t> </a:t>
            </a:r>
            <a:r>
              <a:rPr lang="en-GB" sz="2600" dirty="0"/>
              <a:t>past</a:t>
            </a:r>
            <a:r>
              <a:rPr lang="en-GB" sz="2600" spc="-35" dirty="0"/>
              <a:t> </a:t>
            </a:r>
            <a:r>
              <a:rPr lang="en-GB" sz="2600" spc="-10" dirty="0"/>
              <a:t>events</a:t>
            </a:r>
          </a:p>
          <a:p>
            <a:pPr marL="584200" indent="-571500">
              <a:lnSpc>
                <a:spcPts val="2405"/>
              </a:lnSpc>
              <a:buChar char="•"/>
              <a:tabLst>
                <a:tab pos="583565" algn="l"/>
                <a:tab pos="584200" algn="l"/>
              </a:tabLst>
            </a:pPr>
            <a:endParaRPr lang="en-GB" sz="2600" spc="-10" dirty="0"/>
          </a:p>
          <a:p>
            <a:pPr marL="584200" indent="-571500">
              <a:lnSpc>
                <a:spcPts val="2410"/>
              </a:lnSpc>
              <a:buChar char="•"/>
              <a:tabLst>
                <a:tab pos="583565" algn="l"/>
                <a:tab pos="584200" algn="l"/>
              </a:tabLst>
            </a:pPr>
            <a:r>
              <a:rPr lang="en-GB" sz="2600" dirty="0"/>
              <a:t>Lacking</a:t>
            </a:r>
            <a:r>
              <a:rPr lang="en-GB" sz="2600" spc="-50" dirty="0"/>
              <a:t> </a:t>
            </a:r>
            <a:r>
              <a:rPr lang="en-GB" sz="2600" spc="-10" dirty="0"/>
              <a:t>knowledge</a:t>
            </a:r>
          </a:p>
          <a:p>
            <a:pPr marL="584200" indent="-571500">
              <a:lnSpc>
                <a:spcPts val="2410"/>
              </a:lnSpc>
              <a:buChar char="•"/>
              <a:tabLst>
                <a:tab pos="583565" algn="l"/>
                <a:tab pos="584200" algn="l"/>
              </a:tabLst>
            </a:pPr>
            <a:endParaRPr lang="en-GB" sz="2600" spc="-10" dirty="0"/>
          </a:p>
          <a:p>
            <a:pPr marL="584200" indent="-571500">
              <a:lnSpc>
                <a:spcPts val="2585"/>
              </a:lnSpc>
              <a:buChar char="•"/>
              <a:tabLst>
                <a:tab pos="583565" algn="l"/>
                <a:tab pos="584200" algn="l"/>
              </a:tabLst>
            </a:pPr>
            <a:r>
              <a:rPr lang="en-GB" sz="2600" dirty="0"/>
              <a:t>Lacking</a:t>
            </a:r>
            <a:r>
              <a:rPr lang="en-GB" sz="2600" spc="-60" dirty="0"/>
              <a:t> </a:t>
            </a:r>
            <a:r>
              <a:rPr lang="en-GB" sz="2600" dirty="0"/>
              <a:t>willingness</a:t>
            </a:r>
            <a:r>
              <a:rPr lang="en-GB" sz="2600" spc="-50" dirty="0"/>
              <a:t> </a:t>
            </a:r>
            <a:r>
              <a:rPr lang="en-GB" sz="2600" dirty="0"/>
              <a:t>to</a:t>
            </a:r>
            <a:r>
              <a:rPr lang="en-GB" sz="2600" spc="-25" dirty="0"/>
              <a:t> </a:t>
            </a:r>
            <a:r>
              <a:rPr lang="en-GB" sz="2600" dirty="0"/>
              <a:t>find</a:t>
            </a:r>
            <a:r>
              <a:rPr lang="en-GB" sz="2600" spc="-20" dirty="0"/>
              <a:t> </a:t>
            </a:r>
            <a:r>
              <a:rPr lang="en-GB" sz="2600" dirty="0"/>
              <a:t>meaning</a:t>
            </a:r>
            <a:r>
              <a:rPr lang="en-GB" sz="2600" spc="-55" dirty="0"/>
              <a:t> </a:t>
            </a:r>
            <a:r>
              <a:rPr lang="en-GB" sz="2600" dirty="0"/>
              <a:t>in</a:t>
            </a:r>
            <a:r>
              <a:rPr lang="en-GB" sz="2600" spc="-20" dirty="0"/>
              <a:t> </a:t>
            </a:r>
            <a:r>
              <a:rPr lang="en-GB" sz="2600" spc="-10" dirty="0"/>
              <a:t>discussion</a:t>
            </a:r>
          </a:p>
          <a:p>
            <a:endParaRPr lang="en-GB" dirty="0"/>
          </a:p>
        </p:txBody>
      </p:sp>
      <p:sp>
        <p:nvSpPr>
          <p:cNvPr id="4" name="TextBox 3">
            <a:extLst>
              <a:ext uri="{FF2B5EF4-FFF2-40B4-BE49-F238E27FC236}">
                <a16:creationId xmlns:a16="http://schemas.microsoft.com/office/drawing/2014/main" id="{BA89DEF0-4116-4727-8245-48FCC4A97DA4}"/>
              </a:ext>
            </a:extLst>
          </p:cNvPr>
          <p:cNvSpPr txBox="1"/>
          <p:nvPr/>
        </p:nvSpPr>
        <p:spPr>
          <a:xfrm>
            <a:off x="8610600" y="5715000"/>
            <a:ext cx="2895600" cy="381000"/>
          </a:xfrm>
          <a:prstGeom prst="rect">
            <a:avLst/>
          </a:prstGeom>
          <a:noFill/>
        </p:spPr>
        <p:txBody>
          <a:bodyPr wrap="square" rtlCol="0">
            <a:spAutoFit/>
          </a:bodyPr>
          <a:lstStyle/>
          <a:p>
            <a:r>
              <a:rPr lang="en-GB" sz="1800" spc="-10" dirty="0">
                <a:solidFill>
                  <a:srgbClr val="000000"/>
                </a:solidFill>
              </a:rPr>
              <a:t>KIC-</a:t>
            </a:r>
            <a:r>
              <a:rPr lang="en-GB" sz="1800" dirty="0">
                <a:solidFill>
                  <a:srgbClr val="000000"/>
                </a:solidFill>
              </a:rPr>
              <a:t>DRGAS </a:t>
            </a:r>
            <a:r>
              <a:rPr lang="en-GB" sz="1800" spc="-10" dirty="0">
                <a:solidFill>
                  <a:srgbClr val="000000"/>
                </a:solidFill>
              </a:rPr>
              <a:t>(2015)</a:t>
            </a:r>
            <a:endParaRPr lang="en-GB" dirty="0"/>
          </a:p>
        </p:txBody>
      </p:sp>
    </p:spTree>
    <p:extLst>
      <p:ext uri="{BB962C8B-B14F-4D97-AF65-F5344CB8AC3E}">
        <p14:creationId xmlns:p14="http://schemas.microsoft.com/office/powerpoint/2010/main" val="4162886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0A448-A2BB-4EF7-8568-C1CF68FE0D56}"/>
              </a:ext>
            </a:extLst>
          </p:cNvPr>
          <p:cNvSpPr>
            <a:spLocks noGrp="1"/>
          </p:cNvSpPr>
          <p:nvPr>
            <p:ph type="title"/>
          </p:nvPr>
        </p:nvSpPr>
        <p:spPr>
          <a:xfrm>
            <a:off x="574239" y="357188"/>
            <a:ext cx="10098309" cy="756718"/>
          </a:xfrm>
        </p:spPr>
        <p:txBody>
          <a:bodyPr>
            <a:noAutofit/>
          </a:bodyPr>
          <a:lstStyle/>
          <a:p>
            <a:r>
              <a:rPr lang="en-GB" sz="4000" dirty="0"/>
              <a:t>The Role of Silence in Verbal Communication</a:t>
            </a:r>
          </a:p>
        </p:txBody>
      </p:sp>
      <p:sp>
        <p:nvSpPr>
          <p:cNvPr id="3" name="Text Placeholder 2">
            <a:extLst>
              <a:ext uri="{FF2B5EF4-FFF2-40B4-BE49-F238E27FC236}">
                <a16:creationId xmlns:a16="http://schemas.microsoft.com/office/drawing/2014/main" id="{6D6C2A50-A14F-4707-B7CE-7B2D130CF718}"/>
              </a:ext>
            </a:extLst>
          </p:cNvPr>
          <p:cNvSpPr>
            <a:spLocks noGrp="1"/>
          </p:cNvSpPr>
          <p:nvPr>
            <p:ph idx="14"/>
          </p:nvPr>
        </p:nvSpPr>
        <p:spPr/>
        <p:txBody>
          <a:bodyPr>
            <a:normAutofit fontScale="92500" lnSpcReduction="10000"/>
          </a:bodyPr>
          <a:lstStyle/>
          <a:p>
            <a:r>
              <a:rPr lang="en-GB" sz="2800" dirty="0">
                <a:solidFill>
                  <a:schemeClr val="tx1"/>
                </a:solidFill>
              </a:rPr>
              <a:t>Dependent on culture what is said is not always what is meant. Silence also has different meaning in different cultures. </a:t>
            </a:r>
          </a:p>
          <a:p>
            <a:endParaRPr lang="en-GB" sz="2800" dirty="0">
              <a:solidFill>
                <a:schemeClr val="tx1"/>
              </a:solidFill>
            </a:endParaRPr>
          </a:p>
          <a:p>
            <a:r>
              <a:rPr lang="en-GB" sz="2800" dirty="0">
                <a:solidFill>
                  <a:schemeClr val="tx1"/>
                </a:solidFill>
              </a:rPr>
              <a:t>For example in Japan people will often reply with ‘yes’ as a sign of respect and acknowledgement that they have heard the message rather than that they agree.</a:t>
            </a:r>
          </a:p>
          <a:p>
            <a:endParaRPr lang="en-GB" sz="2800" dirty="0">
              <a:solidFill>
                <a:schemeClr val="tx1"/>
              </a:solidFill>
            </a:endParaRPr>
          </a:p>
          <a:p>
            <a:r>
              <a:rPr lang="en-GB" sz="2800" dirty="0">
                <a:solidFill>
                  <a:schemeClr val="tx1"/>
                </a:solidFill>
              </a:rPr>
              <a:t>Developing effective verbal communication depends also on trust. Building trust will help cultural misunderstandings to be considered less rude and more acceptable. </a:t>
            </a:r>
          </a:p>
          <a:p>
            <a:endParaRPr lang="en-GB" dirty="0"/>
          </a:p>
        </p:txBody>
      </p:sp>
    </p:spTree>
    <p:extLst>
      <p:ext uri="{BB962C8B-B14F-4D97-AF65-F5344CB8AC3E}">
        <p14:creationId xmlns:p14="http://schemas.microsoft.com/office/powerpoint/2010/main" val="1571013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73039-CCB0-4357-AB66-F78D4525E04F}"/>
              </a:ext>
            </a:extLst>
          </p:cNvPr>
          <p:cNvSpPr>
            <a:spLocks noGrp="1"/>
          </p:cNvSpPr>
          <p:nvPr>
            <p:ph type="title"/>
          </p:nvPr>
        </p:nvSpPr>
        <p:spPr/>
        <p:txBody>
          <a:bodyPr>
            <a:noAutofit/>
          </a:bodyPr>
          <a:lstStyle/>
          <a:p>
            <a:r>
              <a:rPr lang="en-GB" sz="4400" dirty="0"/>
              <a:t>GUIDELINES FOR BUILDING TRUST GLOBALLY</a:t>
            </a:r>
          </a:p>
        </p:txBody>
      </p:sp>
      <p:sp>
        <p:nvSpPr>
          <p:cNvPr id="3" name="Text Placeholder 2">
            <a:extLst>
              <a:ext uri="{FF2B5EF4-FFF2-40B4-BE49-F238E27FC236}">
                <a16:creationId xmlns:a16="http://schemas.microsoft.com/office/drawing/2014/main" id="{8D64213C-472B-4AFB-B867-64E01E4584CF}"/>
              </a:ext>
            </a:extLst>
          </p:cNvPr>
          <p:cNvSpPr>
            <a:spLocks noGrp="1"/>
          </p:cNvSpPr>
          <p:nvPr>
            <p:ph idx="14"/>
          </p:nvPr>
        </p:nvSpPr>
        <p:spPr/>
        <p:txBody>
          <a:bodyPr>
            <a:normAutofit fontScale="92500" lnSpcReduction="10000"/>
          </a:bodyPr>
          <a:lstStyle/>
          <a:p>
            <a:r>
              <a:rPr lang="en-GB" sz="2600" dirty="0">
                <a:solidFill>
                  <a:schemeClr val="tx1"/>
                </a:solidFill>
              </a:rPr>
              <a:t>Create clear and calculated basis for mutual benefit</a:t>
            </a:r>
          </a:p>
          <a:p>
            <a:endParaRPr lang="en-GB" sz="2600" dirty="0">
              <a:solidFill>
                <a:schemeClr val="tx1"/>
              </a:solidFill>
            </a:endParaRPr>
          </a:p>
          <a:p>
            <a:r>
              <a:rPr lang="en-GB" sz="2600" dirty="0">
                <a:solidFill>
                  <a:schemeClr val="tx1"/>
                </a:solidFill>
              </a:rPr>
              <a:t>Establish realistic commitments and good intentions to honour them</a:t>
            </a:r>
          </a:p>
          <a:p>
            <a:endParaRPr lang="en-GB" sz="2600" dirty="0">
              <a:solidFill>
                <a:schemeClr val="tx1"/>
              </a:solidFill>
            </a:endParaRPr>
          </a:p>
          <a:p>
            <a:r>
              <a:rPr lang="en-GB" sz="2600" dirty="0">
                <a:solidFill>
                  <a:schemeClr val="tx1"/>
                </a:solidFill>
              </a:rPr>
              <a:t>Improve predictability</a:t>
            </a:r>
          </a:p>
          <a:p>
            <a:endParaRPr lang="en-GB" sz="2600" dirty="0">
              <a:solidFill>
                <a:schemeClr val="tx1"/>
              </a:solidFill>
            </a:endParaRPr>
          </a:p>
          <a:p>
            <a:r>
              <a:rPr lang="en-GB" sz="2600" dirty="0">
                <a:solidFill>
                  <a:schemeClr val="tx1"/>
                </a:solidFill>
              </a:rPr>
              <a:t>Strive to resolve conflicts and keep communication open</a:t>
            </a:r>
          </a:p>
          <a:p>
            <a:endParaRPr lang="en-GB" sz="2600" dirty="0">
              <a:solidFill>
                <a:schemeClr val="tx1"/>
              </a:solidFill>
            </a:endParaRPr>
          </a:p>
          <a:p>
            <a:r>
              <a:rPr lang="en-GB" sz="2600" dirty="0">
                <a:solidFill>
                  <a:schemeClr val="tx1"/>
                </a:solidFill>
              </a:rPr>
              <a:t>Develop mutual bonding through regular socialising and friendly contact</a:t>
            </a:r>
          </a:p>
        </p:txBody>
      </p:sp>
      <p:sp>
        <p:nvSpPr>
          <p:cNvPr id="4" name="TextBox 3">
            <a:extLst>
              <a:ext uri="{FF2B5EF4-FFF2-40B4-BE49-F238E27FC236}">
                <a16:creationId xmlns:a16="http://schemas.microsoft.com/office/drawing/2014/main" id="{E596B9C7-7B36-4E12-BC71-1BAAAED5569E}"/>
              </a:ext>
            </a:extLst>
          </p:cNvPr>
          <p:cNvSpPr txBox="1"/>
          <p:nvPr/>
        </p:nvSpPr>
        <p:spPr>
          <a:xfrm>
            <a:off x="8763000" y="5715000"/>
            <a:ext cx="2895600" cy="369332"/>
          </a:xfrm>
          <a:prstGeom prst="rect">
            <a:avLst/>
          </a:prstGeom>
          <a:noFill/>
        </p:spPr>
        <p:txBody>
          <a:bodyPr wrap="square" rtlCol="0">
            <a:spAutoFit/>
          </a:bodyPr>
          <a:lstStyle/>
          <a:p>
            <a:r>
              <a:rPr lang="en-GB" dirty="0"/>
              <a:t>(</a:t>
            </a:r>
            <a:r>
              <a:rPr lang="en-GB" dirty="0" err="1"/>
              <a:t>Deresky</a:t>
            </a:r>
            <a:r>
              <a:rPr lang="en-GB" dirty="0"/>
              <a:t>, 2017)</a:t>
            </a:r>
          </a:p>
        </p:txBody>
      </p:sp>
    </p:spTree>
    <p:extLst>
      <p:ext uri="{BB962C8B-B14F-4D97-AF65-F5344CB8AC3E}">
        <p14:creationId xmlns:p14="http://schemas.microsoft.com/office/powerpoint/2010/main" val="93439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388F-E137-4010-B66D-4B112A8284B0}"/>
              </a:ext>
            </a:extLst>
          </p:cNvPr>
          <p:cNvSpPr>
            <a:spLocks noGrp="1"/>
          </p:cNvSpPr>
          <p:nvPr>
            <p:ph type="title"/>
          </p:nvPr>
        </p:nvSpPr>
        <p:spPr/>
        <p:txBody>
          <a:bodyPr>
            <a:normAutofit fontScale="90000"/>
          </a:bodyPr>
          <a:lstStyle/>
          <a:p>
            <a:pPr algn="ctr"/>
            <a:r>
              <a:rPr lang="en-GB" dirty="0"/>
              <a:t>INTERCULTURAL BUSINESS COMMUNICATION (IBC)</a:t>
            </a:r>
          </a:p>
        </p:txBody>
      </p:sp>
      <p:sp>
        <p:nvSpPr>
          <p:cNvPr id="3" name="Text Placeholder 2">
            <a:extLst>
              <a:ext uri="{FF2B5EF4-FFF2-40B4-BE49-F238E27FC236}">
                <a16:creationId xmlns:a16="http://schemas.microsoft.com/office/drawing/2014/main" id="{D22BCFA3-9EF7-4D5E-B6B8-2A68A3CBF771}"/>
              </a:ext>
            </a:extLst>
          </p:cNvPr>
          <p:cNvSpPr>
            <a:spLocks noGrp="1"/>
          </p:cNvSpPr>
          <p:nvPr>
            <p:ph idx="14"/>
          </p:nvPr>
        </p:nvSpPr>
        <p:spPr/>
        <p:txBody>
          <a:bodyPr>
            <a:normAutofit fontScale="85000" lnSpcReduction="20000"/>
          </a:bodyPr>
          <a:lstStyle/>
          <a:p>
            <a:r>
              <a:rPr lang="en-GB" dirty="0">
                <a:solidFill>
                  <a:schemeClr val="tx1"/>
                </a:solidFill>
              </a:rPr>
              <a:t>What is it?- the communication among individuals or groups from different cultural backgrounds in a business environment. It will deal with intercultural issues in business and may require specific knowledge about culture, communication and business. </a:t>
            </a:r>
          </a:p>
          <a:p>
            <a:endParaRPr lang="en-GB" dirty="0">
              <a:solidFill>
                <a:schemeClr val="tx1"/>
              </a:solidFill>
            </a:endParaRPr>
          </a:p>
          <a:p>
            <a:r>
              <a:rPr lang="en-GB" dirty="0">
                <a:solidFill>
                  <a:schemeClr val="tx1"/>
                </a:solidFill>
              </a:rPr>
              <a:t>IBC is not a static fabric or comparison between cultures (</a:t>
            </a:r>
            <a:r>
              <a:rPr lang="en-GB" dirty="0" err="1">
                <a:solidFill>
                  <a:schemeClr val="tx1"/>
                </a:solidFill>
              </a:rPr>
              <a:t>Ladmiral</a:t>
            </a:r>
            <a:r>
              <a:rPr lang="en-GB" dirty="0">
                <a:solidFill>
                  <a:schemeClr val="tx1"/>
                </a:solidFill>
              </a:rPr>
              <a:t> and </a:t>
            </a:r>
            <a:r>
              <a:rPr lang="en-GB" dirty="0" err="1">
                <a:solidFill>
                  <a:schemeClr val="tx1"/>
                </a:solidFill>
              </a:rPr>
              <a:t>Lapiansky</a:t>
            </a:r>
            <a:r>
              <a:rPr lang="en-GB" dirty="0">
                <a:solidFill>
                  <a:schemeClr val="tx1"/>
                </a:solidFill>
              </a:rPr>
              <a:t>, 1989) but an interactive phenomena that is systemic but is also dynamic and is subject to changes brought by the interactions. (</a:t>
            </a:r>
            <a:r>
              <a:rPr lang="en-GB" dirty="0" err="1">
                <a:solidFill>
                  <a:schemeClr val="tx1"/>
                </a:solidFill>
              </a:rPr>
              <a:t>Browaeys</a:t>
            </a:r>
            <a:r>
              <a:rPr lang="en-GB" dirty="0">
                <a:solidFill>
                  <a:schemeClr val="tx1"/>
                </a:solidFill>
              </a:rPr>
              <a:t>, 2015)</a:t>
            </a:r>
          </a:p>
          <a:p>
            <a:endParaRPr lang="en-GB" dirty="0">
              <a:solidFill>
                <a:schemeClr val="tx1"/>
              </a:solidFill>
            </a:endParaRPr>
          </a:p>
          <a:p>
            <a:endParaRPr lang="en-GB" dirty="0">
              <a:solidFill>
                <a:schemeClr val="tx1"/>
              </a:solidFill>
            </a:endParaRPr>
          </a:p>
          <a:p>
            <a:r>
              <a:rPr lang="en-GB" dirty="0">
                <a:solidFill>
                  <a:schemeClr val="tx1"/>
                </a:solidFill>
              </a:rPr>
              <a:t>When business people from different cultures interact, they bring their own backgrounds with them to create ‘transactional culture’. They also step out of their own cultural and business environment and create a new context.</a:t>
            </a:r>
          </a:p>
          <a:p>
            <a:r>
              <a:rPr lang="en-GB" dirty="0">
                <a:solidFill>
                  <a:schemeClr val="tx1"/>
                </a:solidFill>
              </a:rPr>
              <a:t>                                                                                          (Varner, 2000)</a:t>
            </a:r>
          </a:p>
        </p:txBody>
      </p:sp>
    </p:spTree>
    <p:extLst>
      <p:ext uri="{BB962C8B-B14F-4D97-AF65-F5344CB8AC3E}">
        <p14:creationId xmlns:p14="http://schemas.microsoft.com/office/powerpoint/2010/main" val="3108446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1295400"/>
            <a:ext cx="11277600" cy="4696157"/>
          </a:xfrm>
          <a:prstGeom prst="rect">
            <a:avLst/>
          </a:prstGeom>
        </p:spPr>
        <p:txBody>
          <a:bodyPr vert="horz" wrap="square" lIns="0" tIns="78740" rIns="0" bIns="0" rtlCol="0">
            <a:spAutoFit/>
          </a:bodyPr>
          <a:lstStyle/>
          <a:p>
            <a:pPr>
              <a:lnSpc>
                <a:spcPct val="100000"/>
              </a:lnSpc>
              <a:spcBef>
                <a:spcPts val="50"/>
              </a:spcBef>
            </a:pPr>
            <a:endParaRPr sz="2800" dirty="0">
              <a:latin typeface="Arial"/>
              <a:cs typeface="Arial"/>
            </a:endParaRPr>
          </a:p>
          <a:p>
            <a:pPr marL="12700" marR="5080">
              <a:lnSpc>
                <a:spcPct val="80000"/>
              </a:lnSpc>
            </a:pPr>
            <a:r>
              <a:rPr sz="2800" dirty="0">
                <a:latin typeface="Arial"/>
                <a:cs typeface="Arial"/>
              </a:rPr>
              <a:t>In</a:t>
            </a:r>
            <a:r>
              <a:rPr sz="2800" spc="-95" dirty="0">
                <a:latin typeface="Arial"/>
                <a:cs typeface="Arial"/>
              </a:rPr>
              <a:t> </a:t>
            </a:r>
            <a:r>
              <a:rPr sz="2800" dirty="0">
                <a:latin typeface="Arial"/>
                <a:cs typeface="Arial"/>
              </a:rPr>
              <a:t>intercultural</a:t>
            </a:r>
            <a:r>
              <a:rPr sz="2800" spc="-90" dirty="0">
                <a:latin typeface="Arial"/>
                <a:cs typeface="Arial"/>
              </a:rPr>
              <a:t> </a:t>
            </a:r>
            <a:r>
              <a:rPr sz="2800" dirty="0">
                <a:latin typeface="Arial"/>
                <a:cs typeface="Arial"/>
              </a:rPr>
              <a:t>business</a:t>
            </a:r>
            <a:r>
              <a:rPr sz="2800" spc="-95" dirty="0">
                <a:latin typeface="Arial"/>
                <a:cs typeface="Arial"/>
              </a:rPr>
              <a:t> </a:t>
            </a:r>
            <a:r>
              <a:rPr sz="2800" dirty="0">
                <a:latin typeface="Arial"/>
                <a:cs typeface="Arial"/>
              </a:rPr>
              <a:t>communication,</a:t>
            </a:r>
            <a:r>
              <a:rPr sz="2800" spc="-65" dirty="0">
                <a:latin typeface="Arial"/>
                <a:cs typeface="Arial"/>
              </a:rPr>
              <a:t> </a:t>
            </a:r>
            <a:r>
              <a:rPr sz="2800" dirty="0">
                <a:latin typeface="Arial"/>
                <a:cs typeface="Arial"/>
              </a:rPr>
              <a:t>the</a:t>
            </a:r>
            <a:r>
              <a:rPr sz="2800" spc="-90" dirty="0">
                <a:latin typeface="Arial"/>
                <a:cs typeface="Arial"/>
              </a:rPr>
              <a:t> </a:t>
            </a:r>
            <a:r>
              <a:rPr sz="2800" b="1" dirty="0">
                <a:latin typeface="Arial"/>
                <a:cs typeface="Arial"/>
              </a:rPr>
              <a:t>business</a:t>
            </a:r>
            <a:r>
              <a:rPr sz="2800" b="1" spc="-90" dirty="0">
                <a:latin typeface="Arial"/>
                <a:cs typeface="Arial"/>
              </a:rPr>
              <a:t> </a:t>
            </a:r>
            <a:r>
              <a:rPr sz="2800" b="1" dirty="0">
                <a:latin typeface="Arial"/>
                <a:cs typeface="Arial"/>
              </a:rPr>
              <a:t>strategies,</a:t>
            </a:r>
            <a:r>
              <a:rPr sz="2800" b="1" spc="-90" dirty="0">
                <a:latin typeface="Arial"/>
                <a:cs typeface="Arial"/>
              </a:rPr>
              <a:t> </a:t>
            </a:r>
            <a:r>
              <a:rPr sz="2800" b="1" spc="-10" dirty="0">
                <a:latin typeface="Arial"/>
                <a:cs typeface="Arial"/>
              </a:rPr>
              <a:t>goals, </a:t>
            </a:r>
            <a:r>
              <a:rPr sz="2800" b="1" dirty="0">
                <a:latin typeface="Arial"/>
                <a:cs typeface="Arial"/>
              </a:rPr>
              <a:t>objectives</a:t>
            </a:r>
            <a:r>
              <a:rPr sz="2800" dirty="0">
                <a:latin typeface="Arial"/>
                <a:cs typeface="Arial"/>
              </a:rPr>
              <a:t>,</a:t>
            </a:r>
            <a:r>
              <a:rPr sz="2800" spc="-75" dirty="0">
                <a:latin typeface="Arial"/>
                <a:cs typeface="Arial"/>
              </a:rPr>
              <a:t> </a:t>
            </a:r>
            <a:r>
              <a:rPr sz="2800" dirty="0">
                <a:latin typeface="Arial"/>
                <a:cs typeface="Arial"/>
              </a:rPr>
              <a:t>and</a:t>
            </a:r>
            <a:r>
              <a:rPr sz="2800" spc="-70" dirty="0">
                <a:latin typeface="Arial"/>
                <a:cs typeface="Arial"/>
              </a:rPr>
              <a:t> </a:t>
            </a:r>
            <a:r>
              <a:rPr sz="2800" b="1" dirty="0">
                <a:latin typeface="Arial"/>
                <a:cs typeface="Arial"/>
              </a:rPr>
              <a:t>practices</a:t>
            </a:r>
            <a:r>
              <a:rPr sz="2800" spc="-80" dirty="0">
                <a:latin typeface="Arial"/>
                <a:cs typeface="Arial"/>
              </a:rPr>
              <a:t> </a:t>
            </a:r>
            <a:r>
              <a:rPr sz="2800" dirty="0">
                <a:latin typeface="Arial"/>
                <a:cs typeface="Arial"/>
              </a:rPr>
              <a:t>become</a:t>
            </a:r>
            <a:r>
              <a:rPr sz="2800" spc="-50" dirty="0">
                <a:latin typeface="Arial"/>
                <a:cs typeface="Arial"/>
              </a:rPr>
              <a:t> </a:t>
            </a:r>
            <a:r>
              <a:rPr sz="2800" dirty="0">
                <a:latin typeface="Arial"/>
                <a:cs typeface="Arial"/>
              </a:rPr>
              <a:t>an</a:t>
            </a:r>
            <a:r>
              <a:rPr sz="2800" spc="-65" dirty="0">
                <a:latin typeface="Arial"/>
                <a:cs typeface="Arial"/>
              </a:rPr>
              <a:t> </a:t>
            </a:r>
            <a:r>
              <a:rPr sz="2800" dirty="0">
                <a:latin typeface="Arial"/>
                <a:cs typeface="Arial"/>
              </a:rPr>
              <a:t>integral</a:t>
            </a:r>
            <a:r>
              <a:rPr sz="2800" spc="-65" dirty="0">
                <a:latin typeface="Arial"/>
                <a:cs typeface="Arial"/>
              </a:rPr>
              <a:t> </a:t>
            </a:r>
            <a:r>
              <a:rPr sz="2800" dirty="0">
                <a:latin typeface="Arial"/>
                <a:cs typeface="Arial"/>
              </a:rPr>
              <a:t>part</a:t>
            </a:r>
            <a:r>
              <a:rPr sz="2800" spc="-55" dirty="0">
                <a:latin typeface="Arial"/>
                <a:cs typeface="Arial"/>
              </a:rPr>
              <a:t> </a:t>
            </a:r>
            <a:r>
              <a:rPr sz="2800" dirty="0">
                <a:latin typeface="Arial"/>
                <a:cs typeface="Arial"/>
              </a:rPr>
              <a:t>of</a:t>
            </a:r>
            <a:r>
              <a:rPr sz="2800" spc="-75" dirty="0">
                <a:latin typeface="Arial"/>
                <a:cs typeface="Arial"/>
              </a:rPr>
              <a:t> </a:t>
            </a:r>
            <a:r>
              <a:rPr sz="2800" dirty="0">
                <a:latin typeface="Arial"/>
                <a:cs typeface="Arial"/>
              </a:rPr>
              <a:t>the</a:t>
            </a:r>
            <a:r>
              <a:rPr sz="2800" spc="-65" dirty="0">
                <a:latin typeface="Arial"/>
                <a:cs typeface="Arial"/>
              </a:rPr>
              <a:t> </a:t>
            </a:r>
            <a:r>
              <a:rPr sz="2800" dirty="0">
                <a:latin typeface="Arial"/>
                <a:cs typeface="Arial"/>
              </a:rPr>
              <a:t>communication</a:t>
            </a:r>
            <a:r>
              <a:rPr sz="2800" spc="-60" dirty="0">
                <a:latin typeface="Arial"/>
                <a:cs typeface="Arial"/>
              </a:rPr>
              <a:t> </a:t>
            </a:r>
            <a:r>
              <a:rPr sz="2800" spc="-10" dirty="0">
                <a:latin typeface="Arial"/>
                <a:cs typeface="Arial"/>
              </a:rPr>
              <a:t>process </a:t>
            </a:r>
            <a:r>
              <a:rPr sz="2800" dirty="0">
                <a:latin typeface="Arial"/>
                <a:cs typeface="Arial"/>
              </a:rPr>
              <a:t>and</a:t>
            </a:r>
            <a:r>
              <a:rPr sz="2800" spc="-45" dirty="0">
                <a:latin typeface="Arial"/>
                <a:cs typeface="Arial"/>
              </a:rPr>
              <a:t> </a:t>
            </a:r>
            <a:r>
              <a:rPr sz="2800" dirty="0">
                <a:latin typeface="Arial"/>
                <a:cs typeface="Arial"/>
              </a:rPr>
              <a:t>help</a:t>
            </a:r>
            <a:r>
              <a:rPr sz="2800" spc="-50" dirty="0">
                <a:latin typeface="Arial"/>
                <a:cs typeface="Arial"/>
              </a:rPr>
              <a:t> </a:t>
            </a:r>
            <a:r>
              <a:rPr sz="2800" dirty="0">
                <a:latin typeface="Arial"/>
                <a:cs typeface="Arial"/>
              </a:rPr>
              <a:t>create</a:t>
            </a:r>
            <a:r>
              <a:rPr sz="2800" spc="-40" dirty="0">
                <a:latin typeface="Arial"/>
                <a:cs typeface="Arial"/>
              </a:rPr>
              <a:t> </a:t>
            </a:r>
            <a:r>
              <a:rPr sz="2800" dirty="0">
                <a:latin typeface="Arial"/>
                <a:cs typeface="Arial"/>
              </a:rPr>
              <a:t>a</a:t>
            </a:r>
            <a:r>
              <a:rPr sz="2800" spc="-50" dirty="0">
                <a:latin typeface="Arial"/>
                <a:cs typeface="Arial"/>
              </a:rPr>
              <a:t> </a:t>
            </a:r>
            <a:r>
              <a:rPr sz="2800" dirty="0">
                <a:latin typeface="Arial"/>
                <a:cs typeface="Arial"/>
              </a:rPr>
              <a:t>new</a:t>
            </a:r>
            <a:r>
              <a:rPr sz="2800" spc="-55" dirty="0">
                <a:latin typeface="Arial"/>
                <a:cs typeface="Arial"/>
              </a:rPr>
              <a:t> </a:t>
            </a:r>
            <a:r>
              <a:rPr sz="2800" dirty="0">
                <a:latin typeface="Arial"/>
                <a:cs typeface="Arial"/>
              </a:rPr>
              <a:t>environment</a:t>
            </a:r>
            <a:r>
              <a:rPr sz="2800" spc="-20" dirty="0">
                <a:latin typeface="Arial"/>
                <a:cs typeface="Arial"/>
              </a:rPr>
              <a:t> </a:t>
            </a:r>
            <a:r>
              <a:rPr sz="2800" dirty="0">
                <a:latin typeface="Arial"/>
                <a:cs typeface="Arial"/>
              </a:rPr>
              <a:t>out</a:t>
            </a:r>
            <a:r>
              <a:rPr sz="2800" spc="-50" dirty="0">
                <a:latin typeface="Arial"/>
                <a:cs typeface="Arial"/>
              </a:rPr>
              <a:t> </a:t>
            </a:r>
            <a:r>
              <a:rPr sz="2800" dirty="0">
                <a:latin typeface="Arial"/>
                <a:cs typeface="Arial"/>
              </a:rPr>
              <a:t>of</a:t>
            </a:r>
            <a:r>
              <a:rPr sz="2800" spc="-50" dirty="0">
                <a:latin typeface="Arial"/>
                <a:cs typeface="Arial"/>
              </a:rPr>
              <a:t> </a:t>
            </a:r>
            <a:r>
              <a:rPr sz="2800" dirty="0">
                <a:latin typeface="Arial"/>
                <a:cs typeface="Arial"/>
              </a:rPr>
              <a:t>the</a:t>
            </a:r>
            <a:r>
              <a:rPr sz="2800" spc="-50" dirty="0">
                <a:latin typeface="Arial"/>
                <a:cs typeface="Arial"/>
              </a:rPr>
              <a:t> </a:t>
            </a:r>
            <a:r>
              <a:rPr sz="2800" dirty="0">
                <a:latin typeface="Arial"/>
                <a:cs typeface="Arial"/>
              </a:rPr>
              <a:t>synergy</a:t>
            </a:r>
            <a:r>
              <a:rPr sz="2800" spc="-30" dirty="0">
                <a:latin typeface="Arial"/>
                <a:cs typeface="Arial"/>
              </a:rPr>
              <a:t> </a:t>
            </a:r>
            <a:r>
              <a:rPr sz="2800" dirty="0">
                <a:latin typeface="Arial"/>
                <a:cs typeface="Arial"/>
              </a:rPr>
              <a:t>of</a:t>
            </a:r>
            <a:r>
              <a:rPr sz="2800" spc="-55" dirty="0">
                <a:latin typeface="Arial"/>
                <a:cs typeface="Arial"/>
              </a:rPr>
              <a:t> </a:t>
            </a:r>
            <a:r>
              <a:rPr sz="2800" dirty="0">
                <a:latin typeface="Arial"/>
                <a:cs typeface="Arial"/>
              </a:rPr>
              <a:t>culture,</a:t>
            </a:r>
            <a:r>
              <a:rPr sz="2800" spc="-55" dirty="0">
                <a:latin typeface="Arial"/>
                <a:cs typeface="Arial"/>
              </a:rPr>
              <a:t> </a:t>
            </a:r>
            <a:r>
              <a:rPr sz="2800" spc="-10" dirty="0">
                <a:latin typeface="Arial"/>
                <a:cs typeface="Arial"/>
              </a:rPr>
              <a:t>communication, </a:t>
            </a:r>
            <a:r>
              <a:rPr sz="2800" dirty="0">
                <a:latin typeface="Arial"/>
                <a:cs typeface="Arial"/>
              </a:rPr>
              <a:t>and</a:t>
            </a:r>
            <a:r>
              <a:rPr sz="2800" spc="-45" dirty="0">
                <a:latin typeface="Arial"/>
                <a:cs typeface="Arial"/>
              </a:rPr>
              <a:t> </a:t>
            </a:r>
            <a:r>
              <a:rPr sz="2800" spc="-10" dirty="0">
                <a:latin typeface="Arial"/>
                <a:cs typeface="Arial"/>
              </a:rPr>
              <a:t>business.</a:t>
            </a:r>
            <a:endParaRPr sz="2800" dirty="0">
              <a:latin typeface="Arial"/>
              <a:cs typeface="Arial"/>
            </a:endParaRPr>
          </a:p>
          <a:p>
            <a:pPr>
              <a:lnSpc>
                <a:spcPct val="100000"/>
              </a:lnSpc>
              <a:spcBef>
                <a:spcPts val="35"/>
              </a:spcBef>
            </a:pPr>
            <a:endParaRPr sz="2800" dirty="0">
              <a:latin typeface="Arial"/>
              <a:cs typeface="Arial"/>
            </a:endParaRPr>
          </a:p>
          <a:p>
            <a:pPr marL="12700" marR="517525">
              <a:lnSpc>
                <a:spcPct val="80000"/>
              </a:lnSpc>
            </a:pPr>
            <a:r>
              <a:rPr sz="2800" dirty="0">
                <a:latin typeface="Arial"/>
                <a:cs typeface="Arial"/>
              </a:rPr>
              <a:t>Business</a:t>
            </a:r>
            <a:r>
              <a:rPr sz="2800" spc="-65" dirty="0">
                <a:latin typeface="Arial"/>
                <a:cs typeface="Arial"/>
              </a:rPr>
              <a:t> </a:t>
            </a:r>
            <a:r>
              <a:rPr sz="2800" dirty="0">
                <a:latin typeface="Arial"/>
                <a:cs typeface="Arial"/>
              </a:rPr>
              <a:t>people</a:t>
            </a:r>
            <a:r>
              <a:rPr sz="2800" spc="-60" dirty="0">
                <a:latin typeface="Arial"/>
                <a:cs typeface="Arial"/>
              </a:rPr>
              <a:t> </a:t>
            </a:r>
            <a:r>
              <a:rPr sz="2800" dirty="0">
                <a:latin typeface="Arial"/>
                <a:cs typeface="Arial"/>
              </a:rPr>
              <a:t>need</a:t>
            </a:r>
            <a:r>
              <a:rPr sz="2800" spc="-55" dirty="0">
                <a:latin typeface="Arial"/>
                <a:cs typeface="Arial"/>
              </a:rPr>
              <a:t> </a:t>
            </a:r>
            <a:r>
              <a:rPr sz="2800" dirty="0">
                <a:latin typeface="Arial"/>
                <a:cs typeface="Arial"/>
              </a:rPr>
              <a:t>to</a:t>
            </a:r>
            <a:r>
              <a:rPr sz="2800" spc="-60" dirty="0">
                <a:latin typeface="Arial"/>
                <a:cs typeface="Arial"/>
              </a:rPr>
              <a:t> </a:t>
            </a:r>
            <a:r>
              <a:rPr sz="2800" dirty="0">
                <a:latin typeface="Arial"/>
                <a:cs typeface="Arial"/>
              </a:rPr>
              <a:t>take</a:t>
            </a:r>
            <a:r>
              <a:rPr sz="2800" spc="-60" dirty="0">
                <a:latin typeface="Arial"/>
                <a:cs typeface="Arial"/>
              </a:rPr>
              <a:t> </a:t>
            </a:r>
            <a:r>
              <a:rPr sz="2800" dirty="0">
                <a:latin typeface="Arial"/>
                <a:cs typeface="Arial"/>
              </a:rPr>
              <a:t>into</a:t>
            </a:r>
            <a:r>
              <a:rPr sz="2800" spc="-60" dirty="0">
                <a:latin typeface="Arial"/>
                <a:cs typeface="Arial"/>
              </a:rPr>
              <a:t> </a:t>
            </a:r>
            <a:r>
              <a:rPr sz="2800" dirty="0">
                <a:latin typeface="Arial"/>
                <a:cs typeface="Arial"/>
              </a:rPr>
              <a:t>account</a:t>
            </a:r>
            <a:r>
              <a:rPr sz="2800" spc="-60" dirty="0">
                <a:latin typeface="Arial"/>
                <a:cs typeface="Arial"/>
              </a:rPr>
              <a:t> </a:t>
            </a:r>
            <a:r>
              <a:rPr sz="2800" dirty="0">
                <a:latin typeface="Arial"/>
                <a:cs typeface="Arial"/>
              </a:rPr>
              <a:t>the</a:t>
            </a:r>
            <a:r>
              <a:rPr sz="2800" spc="-50" dirty="0">
                <a:latin typeface="Arial"/>
                <a:cs typeface="Arial"/>
              </a:rPr>
              <a:t> </a:t>
            </a:r>
            <a:r>
              <a:rPr sz="2800" dirty="0">
                <a:latin typeface="Arial"/>
                <a:cs typeface="Arial"/>
              </a:rPr>
              <a:t>national</a:t>
            </a:r>
            <a:r>
              <a:rPr sz="2800" spc="-55" dirty="0">
                <a:latin typeface="Arial"/>
                <a:cs typeface="Arial"/>
              </a:rPr>
              <a:t> </a:t>
            </a:r>
            <a:r>
              <a:rPr sz="2800" dirty="0">
                <a:latin typeface="Arial"/>
                <a:cs typeface="Arial"/>
              </a:rPr>
              <a:t>culture,</a:t>
            </a:r>
            <a:r>
              <a:rPr sz="2800" spc="-60" dirty="0">
                <a:latin typeface="Arial"/>
                <a:cs typeface="Arial"/>
              </a:rPr>
              <a:t> </a:t>
            </a:r>
            <a:r>
              <a:rPr sz="2800" dirty="0">
                <a:latin typeface="Arial"/>
                <a:cs typeface="Arial"/>
              </a:rPr>
              <a:t>the</a:t>
            </a:r>
            <a:r>
              <a:rPr sz="2800" spc="-65" dirty="0">
                <a:latin typeface="Arial"/>
                <a:cs typeface="Arial"/>
              </a:rPr>
              <a:t> </a:t>
            </a:r>
            <a:r>
              <a:rPr sz="2800" spc="-10" dirty="0">
                <a:latin typeface="Arial"/>
                <a:cs typeface="Arial"/>
              </a:rPr>
              <a:t>general </a:t>
            </a:r>
            <a:r>
              <a:rPr sz="2800" dirty="0">
                <a:latin typeface="Arial"/>
                <a:cs typeface="Arial"/>
              </a:rPr>
              <a:t>business</a:t>
            </a:r>
            <a:r>
              <a:rPr sz="2800" spc="-65" dirty="0">
                <a:latin typeface="Arial"/>
                <a:cs typeface="Arial"/>
              </a:rPr>
              <a:t> </a:t>
            </a:r>
            <a:r>
              <a:rPr sz="2800" dirty="0">
                <a:latin typeface="Arial"/>
                <a:cs typeface="Arial"/>
              </a:rPr>
              <a:t>culture,</a:t>
            </a:r>
            <a:r>
              <a:rPr sz="2800" spc="-65" dirty="0">
                <a:latin typeface="Arial"/>
                <a:cs typeface="Arial"/>
              </a:rPr>
              <a:t> </a:t>
            </a:r>
            <a:r>
              <a:rPr sz="2800" dirty="0">
                <a:latin typeface="Arial"/>
                <a:cs typeface="Arial"/>
              </a:rPr>
              <a:t>and</a:t>
            </a:r>
            <a:r>
              <a:rPr sz="2800" spc="-65" dirty="0">
                <a:latin typeface="Arial"/>
                <a:cs typeface="Arial"/>
              </a:rPr>
              <a:t> </a:t>
            </a:r>
            <a:r>
              <a:rPr sz="2800" dirty="0">
                <a:latin typeface="Arial"/>
                <a:cs typeface="Arial"/>
              </a:rPr>
              <a:t>the</a:t>
            </a:r>
            <a:r>
              <a:rPr sz="2800" spc="-55" dirty="0">
                <a:latin typeface="Arial"/>
                <a:cs typeface="Arial"/>
              </a:rPr>
              <a:t> </a:t>
            </a:r>
            <a:r>
              <a:rPr sz="2800" dirty="0">
                <a:latin typeface="Arial"/>
                <a:cs typeface="Arial"/>
              </a:rPr>
              <a:t>specific</a:t>
            </a:r>
            <a:r>
              <a:rPr sz="2800" spc="-75" dirty="0">
                <a:latin typeface="Arial"/>
                <a:cs typeface="Arial"/>
              </a:rPr>
              <a:t> </a:t>
            </a:r>
            <a:r>
              <a:rPr sz="2800" dirty="0">
                <a:latin typeface="Arial"/>
                <a:cs typeface="Arial"/>
              </a:rPr>
              <a:t>corporate</a:t>
            </a:r>
            <a:r>
              <a:rPr sz="2800" spc="-50" dirty="0">
                <a:latin typeface="Arial"/>
                <a:cs typeface="Arial"/>
              </a:rPr>
              <a:t> </a:t>
            </a:r>
            <a:r>
              <a:rPr sz="2800" dirty="0">
                <a:latin typeface="Arial"/>
                <a:cs typeface="Arial"/>
              </a:rPr>
              <a:t>culture.</a:t>
            </a:r>
            <a:r>
              <a:rPr sz="2800" spc="-60" dirty="0">
                <a:latin typeface="Arial"/>
                <a:cs typeface="Arial"/>
              </a:rPr>
              <a:t> </a:t>
            </a:r>
            <a:r>
              <a:rPr sz="2800" dirty="0">
                <a:latin typeface="Arial"/>
                <a:cs typeface="Arial"/>
              </a:rPr>
              <a:t>In</a:t>
            </a:r>
            <a:r>
              <a:rPr sz="2800" spc="-50" dirty="0">
                <a:latin typeface="Arial"/>
                <a:cs typeface="Arial"/>
              </a:rPr>
              <a:t> </a:t>
            </a:r>
            <a:r>
              <a:rPr sz="2800" dirty="0">
                <a:latin typeface="Arial"/>
                <a:cs typeface="Arial"/>
              </a:rPr>
              <a:t>addition,</a:t>
            </a:r>
            <a:r>
              <a:rPr sz="2800" spc="-70" dirty="0">
                <a:latin typeface="Arial"/>
                <a:cs typeface="Arial"/>
              </a:rPr>
              <a:t> </a:t>
            </a:r>
            <a:r>
              <a:rPr sz="2800" dirty="0">
                <a:latin typeface="Arial"/>
                <a:cs typeface="Arial"/>
              </a:rPr>
              <a:t>they</a:t>
            </a:r>
            <a:r>
              <a:rPr sz="2800" spc="-60" dirty="0">
                <a:latin typeface="Arial"/>
                <a:cs typeface="Arial"/>
              </a:rPr>
              <a:t> </a:t>
            </a:r>
            <a:r>
              <a:rPr sz="2800" dirty="0">
                <a:latin typeface="Arial"/>
                <a:cs typeface="Arial"/>
              </a:rPr>
              <a:t>must</a:t>
            </a:r>
            <a:r>
              <a:rPr sz="2800" spc="-50" dirty="0">
                <a:latin typeface="Arial"/>
                <a:cs typeface="Arial"/>
              </a:rPr>
              <a:t> </a:t>
            </a:r>
            <a:r>
              <a:rPr sz="2800" spc="-25" dirty="0">
                <a:latin typeface="Arial"/>
                <a:cs typeface="Arial"/>
              </a:rPr>
              <a:t>be </a:t>
            </a:r>
            <a:r>
              <a:rPr sz="2800" dirty="0">
                <a:latin typeface="Arial"/>
                <a:cs typeface="Arial"/>
              </a:rPr>
              <a:t>aware</a:t>
            </a:r>
            <a:r>
              <a:rPr sz="2800" spc="-65" dirty="0">
                <a:latin typeface="Arial"/>
                <a:cs typeface="Arial"/>
              </a:rPr>
              <a:t> </a:t>
            </a:r>
            <a:r>
              <a:rPr sz="2800" dirty="0">
                <a:latin typeface="Arial"/>
                <a:cs typeface="Arial"/>
              </a:rPr>
              <a:t>of</a:t>
            </a:r>
            <a:r>
              <a:rPr sz="2800" spc="-75" dirty="0">
                <a:latin typeface="Arial"/>
                <a:cs typeface="Arial"/>
              </a:rPr>
              <a:t> </a:t>
            </a:r>
            <a:r>
              <a:rPr sz="2800" dirty="0">
                <a:latin typeface="Arial"/>
                <a:cs typeface="Arial"/>
              </a:rPr>
              <a:t>individual</a:t>
            </a:r>
            <a:r>
              <a:rPr sz="2800" spc="-80" dirty="0">
                <a:latin typeface="Arial"/>
                <a:cs typeface="Arial"/>
              </a:rPr>
              <a:t> </a:t>
            </a:r>
            <a:r>
              <a:rPr sz="2800" spc="-10" dirty="0">
                <a:latin typeface="Arial"/>
                <a:cs typeface="Arial"/>
              </a:rPr>
              <a:t>communication</a:t>
            </a:r>
            <a:r>
              <a:rPr sz="2800" spc="-60" dirty="0">
                <a:latin typeface="Arial"/>
                <a:cs typeface="Arial"/>
              </a:rPr>
              <a:t> </a:t>
            </a:r>
            <a:r>
              <a:rPr sz="2800" spc="-10" dirty="0">
                <a:latin typeface="Arial"/>
                <a:cs typeface="Arial"/>
              </a:rPr>
              <a:t>styles.</a:t>
            </a:r>
            <a:endParaRPr lang="en-GB" sz="2800" spc="-10" dirty="0">
              <a:latin typeface="Arial"/>
              <a:cs typeface="Arial"/>
            </a:endParaRPr>
          </a:p>
          <a:p>
            <a:pPr marL="12700" marR="517525">
              <a:lnSpc>
                <a:spcPct val="80000"/>
              </a:lnSpc>
            </a:pPr>
            <a:endParaRPr lang="en-GB" sz="2800" spc="-10" dirty="0">
              <a:latin typeface="Arial"/>
              <a:cs typeface="Arial"/>
            </a:endParaRPr>
          </a:p>
          <a:p>
            <a:pPr marL="12700" marR="517525">
              <a:lnSpc>
                <a:spcPct val="80000"/>
              </a:lnSpc>
            </a:pPr>
            <a:r>
              <a:rPr lang="en-GB" sz="2800" dirty="0">
                <a:latin typeface="Arial"/>
                <a:cs typeface="Arial"/>
              </a:rPr>
              <a:t>Managers</a:t>
            </a:r>
            <a:r>
              <a:rPr lang="en-GB" sz="2800" spc="-40" dirty="0">
                <a:latin typeface="Arial"/>
                <a:cs typeface="Arial"/>
              </a:rPr>
              <a:t> </a:t>
            </a:r>
            <a:r>
              <a:rPr lang="en-GB" sz="2800" dirty="0">
                <a:latin typeface="Arial"/>
                <a:cs typeface="Arial"/>
              </a:rPr>
              <a:t>will</a:t>
            </a:r>
            <a:r>
              <a:rPr lang="en-GB" sz="2800" spc="-60" dirty="0">
                <a:latin typeface="Arial"/>
                <a:cs typeface="Arial"/>
              </a:rPr>
              <a:t> </a:t>
            </a:r>
            <a:r>
              <a:rPr lang="en-GB" sz="2800" dirty="0">
                <a:latin typeface="Arial"/>
                <a:cs typeface="Arial"/>
              </a:rPr>
              <a:t>be</a:t>
            </a:r>
            <a:r>
              <a:rPr lang="en-GB" sz="2800" spc="-65" dirty="0">
                <a:latin typeface="Arial"/>
                <a:cs typeface="Arial"/>
              </a:rPr>
              <a:t> </a:t>
            </a:r>
            <a:r>
              <a:rPr lang="en-GB" sz="2800" dirty="0">
                <a:latin typeface="Arial"/>
                <a:cs typeface="Arial"/>
              </a:rPr>
              <a:t>more</a:t>
            </a:r>
            <a:r>
              <a:rPr lang="en-GB" sz="2800" spc="-35" dirty="0">
                <a:latin typeface="Arial"/>
                <a:cs typeface="Arial"/>
              </a:rPr>
              <a:t> </a:t>
            </a:r>
            <a:r>
              <a:rPr lang="en-GB" sz="2800" dirty="0">
                <a:latin typeface="Arial"/>
                <a:cs typeface="Arial"/>
              </a:rPr>
              <a:t>successful</a:t>
            </a:r>
            <a:r>
              <a:rPr lang="en-GB" sz="2800" spc="-75" dirty="0">
                <a:latin typeface="Arial"/>
                <a:cs typeface="Arial"/>
              </a:rPr>
              <a:t> </a:t>
            </a:r>
            <a:r>
              <a:rPr lang="en-GB" sz="2800" dirty="0">
                <a:latin typeface="Arial"/>
                <a:cs typeface="Arial"/>
              </a:rPr>
              <a:t>if</a:t>
            </a:r>
            <a:r>
              <a:rPr lang="en-GB" sz="2800" spc="-60" dirty="0">
                <a:latin typeface="Arial"/>
                <a:cs typeface="Arial"/>
              </a:rPr>
              <a:t> </a:t>
            </a:r>
            <a:r>
              <a:rPr lang="en-GB" sz="2800" dirty="0">
                <a:latin typeface="Arial"/>
                <a:cs typeface="Arial"/>
              </a:rPr>
              <a:t>they</a:t>
            </a:r>
            <a:r>
              <a:rPr lang="en-GB" sz="2800" spc="-55" dirty="0">
                <a:latin typeface="Arial"/>
                <a:cs typeface="Arial"/>
              </a:rPr>
              <a:t> </a:t>
            </a:r>
            <a:r>
              <a:rPr lang="en-GB" sz="2800" dirty="0">
                <a:latin typeface="Arial"/>
                <a:cs typeface="Arial"/>
              </a:rPr>
              <a:t>have</a:t>
            </a:r>
            <a:r>
              <a:rPr lang="en-GB" sz="2800" spc="-50" dirty="0">
                <a:latin typeface="Arial"/>
                <a:cs typeface="Arial"/>
              </a:rPr>
              <a:t> </a:t>
            </a:r>
            <a:r>
              <a:rPr lang="en-GB" sz="2800" dirty="0">
                <a:latin typeface="Arial"/>
                <a:cs typeface="Arial"/>
              </a:rPr>
              <a:t>an</a:t>
            </a:r>
            <a:r>
              <a:rPr lang="en-GB" sz="2800" spc="-60" dirty="0">
                <a:latin typeface="Arial"/>
                <a:cs typeface="Arial"/>
              </a:rPr>
              <a:t> </a:t>
            </a:r>
            <a:r>
              <a:rPr lang="en-GB" sz="2800" dirty="0">
                <a:latin typeface="Arial"/>
                <a:cs typeface="Arial"/>
              </a:rPr>
              <a:t>understanding</a:t>
            </a:r>
            <a:r>
              <a:rPr lang="en-GB" sz="2800" spc="-45" dirty="0">
                <a:latin typeface="Arial"/>
                <a:cs typeface="Arial"/>
              </a:rPr>
              <a:t> </a:t>
            </a:r>
            <a:r>
              <a:rPr lang="en-GB" sz="2800" dirty="0">
                <a:latin typeface="Arial"/>
                <a:cs typeface="Arial"/>
              </a:rPr>
              <a:t>of</a:t>
            </a:r>
            <a:r>
              <a:rPr lang="en-GB" sz="2800" spc="-60" dirty="0">
                <a:latin typeface="Arial"/>
                <a:cs typeface="Arial"/>
              </a:rPr>
              <a:t> </a:t>
            </a:r>
            <a:r>
              <a:rPr lang="en-GB" sz="2800" dirty="0">
                <a:latin typeface="Arial"/>
                <a:cs typeface="Arial"/>
              </a:rPr>
              <a:t>each</a:t>
            </a:r>
            <a:r>
              <a:rPr lang="en-GB" sz="2800" spc="-65" dirty="0">
                <a:latin typeface="Arial"/>
                <a:cs typeface="Arial"/>
              </a:rPr>
              <a:t> </a:t>
            </a:r>
            <a:r>
              <a:rPr lang="en-GB" sz="2800" spc="-10" dirty="0">
                <a:latin typeface="Arial"/>
                <a:cs typeface="Arial"/>
              </a:rPr>
              <a:t>other's </a:t>
            </a:r>
            <a:r>
              <a:rPr lang="en-GB" sz="2800" dirty="0">
                <a:latin typeface="Arial"/>
                <a:cs typeface="Arial"/>
              </a:rPr>
              <a:t>cultural</a:t>
            </a:r>
            <a:r>
              <a:rPr lang="en-GB" sz="2800" spc="-65" dirty="0">
                <a:latin typeface="Arial"/>
                <a:cs typeface="Arial"/>
              </a:rPr>
              <a:t> </a:t>
            </a:r>
            <a:r>
              <a:rPr lang="en-GB" sz="2800" dirty="0">
                <a:latin typeface="Arial"/>
                <a:cs typeface="Arial"/>
              </a:rPr>
              <a:t>and</a:t>
            </a:r>
            <a:r>
              <a:rPr lang="en-GB" sz="2800" spc="-75" dirty="0">
                <a:latin typeface="Arial"/>
                <a:cs typeface="Arial"/>
              </a:rPr>
              <a:t> </a:t>
            </a:r>
            <a:r>
              <a:rPr lang="en-GB" sz="2800" dirty="0">
                <a:latin typeface="Arial"/>
                <a:cs typeface="Arial"/>
              </a:rPr>
              <a:t>business</a:t>
            </a:r>
            <a:r>
              <a:rPr lang="en-GB" sz="2800" spc="-70" dirty="0">
                <a:latin typeface="Arial"/>
                <a:cs typeface="Arial"/>
              </a:rPr>
              <a:t> </a:t>
            </a:r>
            <a:r>
              <a:rPr lang="en-GB" sz="2800" spc="-10" dirty="0">
                <a:latin typeface="Arial"/>
                <a:cs typeface="Arial"/>
              </a:rPr>
              <a:t>backgrounds.</a:t>
            </a:r>
            <a:endParaRPr lang="en-GB" sz="2800" dirty="0">
              <a:latin typeface="Arial"/>
              <a:cs typeface="Arial"/>
            </a:endParaRPr>
          </a:p>
          <a:p>
            <a:pPr marR="15875" algn="r">
              <a:lnSpc>
                <a:spcPct val="100000"/>
              </a:lnSpc>
            </a:pPr>
            <a:r>
              <a:rPr sz="2000" spc="-20" dirty="0">
                <a:latin typeface="Arial"/>
                <a:cs typeface="Arial"/>
              </a:rPr>
              <a:t>Varner</a:t>
            </a:r>
            <a:r>
              <a:rPr sz="2000" spc="-90" dirty="0">
                <a:latin typeface="Arial"/>
                <a:cs typeface="Arial"/>
              </a:rPr>
              <a:t> </a:t>
            </a:r>
            <a:r>
              <a:rPr sz="2000" spc="-10" dirty="0">
                <a:latin typeface="Arial"/>
                <a:cs typeface="Arial"/>
              </a:rPr>
              <a:t>(2000)</a:t>
            </a:r>
            <a:endParaRPr sz="2000" dirty="0">
              <a:latin typeface="Arial"/>
              <a:cs typeface="Arial"/>
            </a:endParaRPr>
          </a:p>
        </p:txBody>
      </p:sp>
      <p:sp>
        <p:nvSpPr>
          <p:cNvPr id="3" name="object 3"/>
          <p:cNvSpPr txBox="1">
            <a:spLocks noGrp="1"/>
          </p:cNvSpPr>
          <p:nvPr>
            <p:ph type="title"/>
          </p:nvPr>
        </p:nvSpPr>
        <p:spPr>
          <a:xfrm>
            <a:off x="574240" y="357188"/>
            <a:ext cx="9716916" cy="1129154"/>
          </a:xfrm>
          <a:prstGeom prst="rect">
            <a:avLst/>
          </a:prstGeom>
        </p:spPr>
        <p:txBody>
          <a:bodyPr vert="horz" wrap="square" lIns="0" tIns="142874" rIns="0" bIns="0" rtlCol="0">
            <a:spAutoFit/>
          </a:bodyPr>
          <a:lstStyle/>
          <a:p>
            <a:pPr marL="392430" algn="ctr">
              <a:lnSpc>
                <a:spcPct val="100000"/>
              </a:lnSpc>
              <a:spcBef>
                <a:spcPts val="105"/>
              </a:spcBef>
            </a:pPr>
            <a:r>
              <a:rPr lang="en-GB" sz="3200" dirty="0"/>
              <a:t>INTERCULTURAL</a:t>
            </a:r>
            <a:r>
              <a:rPr lang="en-GB" sz="3200" spc="-65" dirty="0"/>
              <a:t> </a:t>
            </a:r>
            <a:r>
              <a:rPr lang="en-GB" sz="3200" dirty="0"/>
              <a:t>BUSINESS</a:t>
            </a:r>
            <a:r>
              <a:rPr lang="en-GB" sz="3200" spc="-55" dirty="0"/>
              <a:t> </a:t>
            </a:r>
            <a:r>
              <a:rPr lang="en-GB" sz="3200" spc="-10" dirty="0"/>
              <a:t>COMMUNICATION IS A DYNAMIC PROCESS </a:t>
            </a:r>
            <a:endParaRPr lang="en-GB"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a:spLocks noGrp="1"/>
          </p:cNvSpPr>
          <p:nvPr>
            <p:ph type="title"/>
          </p:nvPr>
        </p:nvSpPr>
        <p:spPr>
          <a:xfrm>
            <a:off x="1028700" y="1967266"/>
            <a:ext cx="2628900" cy="2547257"/>
          </a:xfrm>
          <a:prstGeom prst="rect">
            <a:avLst/>
          </a:prstGeom>
          <a:noFill/>
        </p:spPr>
        <p:txBody>
          <a:bodyPr vert="horz" lIns="91440" tIns="45720" rIns="91440" bIns="45720" rtlCol="0" anchor="ctr">
            <a:normAutofit/>
          </a:bodyPr>
          <a:lstStyle/>
          <a:p>
            <a:pPr marL="12700" algn="ctr">
              <a:lnSpc>
                <a:spcPct val="90000"/>
              </a:lnSpc>
            </a:pPr>
            <a:r>
              <a:rPr lang="en-US" sz="2000" kern="1200" dirty="0">
                <a:solidFill>
                  <a:srgbClr val="FFFFFF"/>
                </a:solidFill>
              </a:rPr>
              <a:t>INTERCULTURAL</a:t>
            </a:r>
            <a:r>
              <a:rPr lang="en-US" sz="2000" kern="1200" spc="-125" dirty="0">
                <a:solidFill>
                  <a:srgbClr val="FFFFFF"/>
                </a:solidFill>
              </a:rPr>
              <a:t> </a:t>
            </a:r>
            <a:r>
              <a:rPr lang="en-US" sz="2000" kern="1200" dirty="0">
                <a:solidFill>
                  <a:srgbClr val="FFFFFF"/>
                </a:solidFill>
              </a:rPr>
              <a:t>BUSINESS</a:t>
            </a:r>
            <a:r>
              <a:rPr lang="en-US" sz="2000" kern="1200" spc="-105" dirty="0">
                <a:solidFill>
                  <a:srgbClr val="FFFFFF"/>
                </a:solidFill>
              </a:rPr>
              <a:t> </a:t>
            </a:r>
            <a:r>
              <a:rPr lang="en-US" sz="2000" kern="1200" spc="-10" dirty="0">
                <a:solidFill>
                  <a:srgbClr val="FFFFFF"/>
                </a:solidFill>
              </a:rPr>
              <a:t>COMMUNICATION</a:t>
            </a:r>
            <a:r>
              <a:rPr lang="en-US" sz="2000" kern="1200" spc="-110" dirty="0">
                <a:solidFill>
                  <a:srgbClr val="FFFFFF"/>
                </a:solidFill>
              </a:rPr>
              <a:t> </a:t>
            </a:r>
            <a:r>
              <a:rPr lang="en-US" sz="2000" kern="1200" spc="-10" dirty="0">
                <a:solidFill>
                  <a:srgbClr val="FFFFFF"/>
                </a:solidFill>
              </a:rPr>
              <a:t>MODEL</a:t>
            </a:r>
            <a:endParaRPr lang="en-US" sz="2000" kern="1200" dirty="0">
              <a:solidFill>
                <a:srgbClr val="FFFFFF"/>
              </a:solidFill>
            </a:endParaRPr>
          </a:p>
        </p:txBody>
      </p:sp>
      <p:pic>
        <p:nvPicPr>
          <p:cNvPr id="2" name="object 2"/>
          <p:cNvPicPr>
            <a:picLocks noGrp="1"/>
          </p:cNvPicPr>
          <p:nvPr>
            <p:ph idx="14"/>
          </p:nvPr>
        </p:nvPicPr>
        <p:blipFill>
          <a:blip r:embed="rId3" cstate="print"/>
          <a:stretch>
            <a:fillRect/>
          </a:stretch>
        </p:blipFill>
        <p:spPr>
          <a:xfrm>
            <a:off x="4133726" y="1270000"/>
            <a:ext cx="7683500" cy="5003800"/>
          </a:xfrm>
          <a:prstGeom prst="rect">
            <a:avLst/>
          </a:prstGeom>
        </p:spPr>
      </p:pic>
      <p:sp>
        <p:nvSpPr>
          <p:cNvPr id="4" name="object 4"/>
          <p:cNvSpPr txBox="1"/>
          <p:nvPr/>
        </p:nvSpPr>
        <p:spPr>
          <a:xfrm>
            <a:off x="8933180" y="6266891"/>
            <a:ext cx="2063750" cy="330835"/>
          </a:xfrm>
          <a:prstGeom prst="rect">
            <a:avLst/>
          </a:prstGeom>
        </p:spPr>
        <p:txBody>
          <a:bodyPr vert="horz" wrap="square" lIns="0" tIns="12700" rIns="0" bIns="0" rtlCol="0">
            <a:spAutoFit/>
          </a:bodyPr>
          <a:lstStyle/>
          <a:p>
            <a:pPr marL="12700">
              <a:spcBef>
                <a:spcPts val="100"/>
              </a:spcBef>
            </a:pPr>
            <a:r>
              <a:rPr lang="en-GB" sz="2000" spc="-20" dirty="0">
                <a:latin typeface="Arial"/>
                <a:cs typeface="Arial"/>
              </a:rPr>
              <a:t>Varner</a:t>
            </a:r>
            <a:r>
              <a:rPr lang="en-GB" sz="2000" spc="-60" dirty="0">
                <a:latin typeface="Arial"/>
                <a:cs typeface="Arial"/>
              </a:rPr>
              <a:t> </a:t>
            </a:r>
            <a:r>
              <a:rPr lang="en-GB" sz="2000" dirty="0">
                <a:latin typeface="Arial"/>
                <a:cs typeface="Arial"/>
              </a:rPr>
              <a:t>(2000),</a:t>
            </a:r>
            <a:r>
              <a:rPr lang="en-GB" sz="2000" spc="-60" dirty="0">
                <a:latin typeface="Arial"/>
                <a:cs typeface="Arial"/>
              </a:rPr>
              <a:t> </a:t>
            </a:r>
            <a:r>
              <a:rPr lang="en-GB" sz="2000" spc="-25" dirty="0">
                <a:latin typeface="Arial"/>
                <a:cs typeface="Arial"/>
              </a:rPr>
              <a:t>p.4</a:t>
            </a:r>
            <a:endParaRPr lang="en-GB" sz="2000" dirty="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8683" y="1402461"/>
            <a:ext cx="11028045" cy="4860048"/>
          </a:xfrm>
          <a:prstGeom prst="rect">
            <a:avLst/>
          </a:prstGeom>
        </p:spPr>
        <p:txBody>
          <a:bodyPr vert="horz" wrap="square" lIns="0" tIns="49530" rIns="0" bIns="0" rtlCol="0">
            <a:spAutoFit/>
          </a:bodyPr>
          <a:lstStyle/>
          <a:p>
            <a:pPr marL="12700" marR="616585">
              <a:lnSpc>
                <a:spcPts val="2380"/>
              </a:lnSpc>
              <a:spcBef>
                <a:spcPts val="390"/>
              </a:spcBef>
            </a:pPr>
            <a:r>
              <a:rPr sz="2200" dirty="0">
                <a:latin typeface="Arial"/>
                <a:cs typeface="Arial"/>
              </a:rPr>
              <a:t>People</a:t>
            </a:r>
            <a:r>
              <a:rPr sz="2200" spc="-90" dirty="0">
                <a:latin typeface="Arial"/>
                <a:cs typeface="Arial"/>
              </a:rPr>
              <a:t> </a:t>
            </a:r>
            <a:r>
              <a:rPr sz="2200" dirty="0">
                <a:latin typeface="Arial"/>
                <a:cs typeface="Arial"/>
              </a:rPr>
              <a:t>who</a:t>
            </a:r>
            <a:r>
              <a:rPr sz="2200" spc="-85" dirty="0">
                <a:latin typeface="Arial"/>
                <a:cs typeface="Arial"/>
              </a:rPr>
              <a:t> </a:t>
            </a:r>
            <a:r>
              <a:rPr sz="2200" dirty="0">
                <a:latin typeface="Arial"/>
                <a:cs typeface="Arial"/>
              </a:rPr>
              <a:t>communicate</a:t>
            </a:r>
            <a:r>
              <a:rPr sz="2200" spc="-65" dirty="0">
                <a:latin typeface="Arial"/>
                <a:cs typeface="Arial"/>
              </a:rPr>
              <a:t> </a:t>
            </a:r>
            <a:r>
              <a:rPr sz="2200" dirty="0">
                <a:latin typeface="Arial"/>
                <a:cs typeface="Arial"/>
              </a:rPr>
              <a:t>successfully</a:t>
            </a:r>
            <a:r>
              <a:rPr sz="2200" spc="-100" dirty="0">
                <a:latin typeface="Arial"/>
                <a:cs typeface="Arial"/>
              </a:rPr>
              <a:t> </a:t>
            </a:r>
            <a:r>
              <a:rPr sz="2200" dirty="0">
                <a:latin typeface="Arial"/>
                <a:cs typeface="Arial"/>
              </a:rPr>
              <a:t>in</a:t>
            </a:r>
            <a:r>
              <a:rPr sz="2200" spc="-95" dirty="0">
                <a:latin typeface="Arial"/>
                <a:cs typeface="Arial"/>
              </a:rPr>
              <a:t> </a:t>
            </a:r>
            <a:r>
              <a:rPr sz="2200" dirty="0">
                <a:latin typeface="Arial"/>
                <a:cs typeface="Arial"/>
              </a:rPr>
              <a:t>an</a:t>
            </a:r>
            <a:r>
              <a:rPr sz="2200" spc="-75" dirty="0">
                <a:latin typeface="Arial"/>
                <a:cs typeface="Arial"/>
              </a:rPr>
              <a:t> </a:t>
            </a:r>
            <a:r>
              <a:rPr sz="2200" dirty="0">
                <a:latin typeface="Arial"/>
                <a:cs typeface="Arial"/>
              </a:rPr>
              <a:t>intercultural</a:t>
            </a:r>
            <a:r>
              <a:rPr sz="2200" spc="-90" dirty="0">
                <a:latin typeface="Arial"/>
                <a:cs typeface="Arial"/>
              </a:rPr>
              <a:t> </a:t>
            </a:r>
            <a:r>
              <a:rPr sz="2200" dirty="0">
                <a:latin typeface="Arial"/>
                <a:cs typeface="Arial"/>
              </a:rPr>
              <a:t>business</a:t>
            </a:r>
            <a:r>
              <a:rPr sz="2200" spc="-90" dirty="0">
                <a:latin typeface="Arial"/>
                <a:cs typeface="Arial"/>
              </a:rPr>
              <a:t> </a:t>
            </a:r>
            <a:r>
              <a:rPr sz="2200" dirty="0">
                <a:latin typeface="Arial"/>
                <a:cs typeface="Arial"/>
              </a:rPr>
              <a:t>environment</a:t>
            </a:r>
            <a:r>
              <a:rPr sz="2200" spc="-65" dirty="0">
                <a:latin typeface="Arial"/>
                <a:cs typeface="Arial"/>
              </a:rPr>
              <a:t> </a:t>
            </a:r>
            <a:r>
              <a:rPr sz="2200" spc="-25" dirty="0">
                <a:latin typeface="Arial"/>
                <a:cs typeface="Arial"/>
              </a:rPr>
              <a:t>are </a:t>
            </a:r>
            <a:r>
              <a:rPr sz="2200" dirty="0">
                <a:latin typeface="Arial"/>
                <a:cs typeface="Arial"/>
              </a:rPr>
              <a:t>able</a:t>
            </a:r>
            <a:r>
              <a:rPr sz="2200" spc="-55" dirty="0">
                <a:latin typeface="Arial"/>
                <a:cs typeface="Arial"/>
              </a:rPr>
              <a:t> </a:t>
            </a:r>
            <a:r>
              <a:rPr sz="2200" dirty="0">
                <a:latin typeface="Arial"/>
                <a:cs typeface="Arial"/>
              </a:rPr>
              <a:t>to</a:t>
            </a:r>
            <a:r>
              <a:rPr sz="2200" spc="-40" dirty="0">
                <a:latin typeface="Arial"/>
                <a:cs typeface="Arial"/>
              </a:rPr>
              <a:t> </a:t>
            </a:r>
            <a:r>
              <a:rPr sz="2200" dirty="0">
                <a:latin typeface="Arial"/>
                <a:cs typeface="Arial"/>
              </a:rPr>
              <a:t>recognise</a:t>
            </a:r>
            <a:r>
              <a:rPr sz="2200" spc="-40" dirty="0">
                <a:latin typeface="Arial"/>
                <a:cs typeface="Arial"/>
              </a:rPr>
              <a:t> </a:t>
            </a:r>
            <a:r>
              <a:rPr sz="2200" dirty="0">
                <a:latin typeface="Arial"/>
                <a:cs typeface="Arial"/>
              </a:rPr>
              <a:t>their</a:t>
            </a:r>
            <a:r>
              <a:rPr sz="2200" spc="-50" dirty="0">
                <a:latin typeface="Arial"/>
                <a:cs typeface="Arial"/>
              </a:rPr>
              <a:t> </a:t>
            </a:r>
            <a:r>
              <a:rPr sz="2200" dirty="0">
                <a:latin typeface="Arial"/>
                <a:cs typeface="Arial"/>
              </a:rPr>
              <a:t>own</a:t>
            </a:r>
            <a:r>
              <a:rPr sz="2200" spc="-40" dirty="0">
                <a:latin typeface="Arial"/>
                <a:cs typeface="Arial"/>
              </a:rPr>
              <a:t> </a:t>
            </a:r>
            <a:r>
              <a:rPr sz="2200" spc="-10" dirty="0">
                <a:latin typeface="Arial"/>
                <a:cs typeface="Arial"/>
              </a:rPr>
              <a:t>self-</a:t>
            </a:r>
            <a:r>
              <a:rPr sz="2200" dirty="0">
                <a:latin typeface="Arial"/>
                <a:cs typeface="Arial"/>
              </a:rPr>
              <a:t>reference</a:t>
            </a:r>
            <a:r>
              <a:rPr sz="2200" spc="-40" dirty="0">
                <a:latin typeface="Arial"/>
                <a:cs typeface="Arial"/>
              </a:rPr>
              <a:t> </a:t>
            </a:r>
            <a:r>
              <a:rPr sz="2200" dirty="0">
                <a:latin typeface="Arial"/>
                <a:cs typeface="Arial"/>
              </a:rPr>
              <a:t>criterion</a:t>
            </a:r>
            <a:r>
              <a:rPr sz="2200" spc="-30" dirty="0">
                <a:latin typeface="Arial"/>
                <a:cs typeface="Arial"/>
              </a:rPr>
              <a:t> </a:t>
            </a:r>
            <a:r>
              <a:rPr sz="2200" dirty="0">
                <a:latin typeface="Arial"/>
                <a:cs typeface="Arial"/>
              </a:rPr>
              <a:t>-</a:t>
            </a:r>
            <a:r>
              <a:rPr sz="2200" spc="-50" dirty="0">
                <a:latin typeface="Arial"/>
                <a:cs typeface="Arial"/>
              </a:rPr>
              <a:t> </a:t>
            </a:r>
            <a:r>
              <a:rPr sz="2200" dirty="0">
                <a:latin typeface="Arial"/>
                <a:cs typeface="Arial"/>
              </a:rPr>
              <a:t>the</a:t>
            </a:r>
            <a:r>
              <a:rPr sz="2200" spc="-35" dirty="0">
                <a:latin typeface="Arial"/>
                <a:cs typeface="Arial"/>
              </a:rPr>
              <a:t> </a:t>
            </a:r>
            <a:r>
              <a:rPr sz="2200" dirty="0">
                <a:latin typeface="Arial"/>
                <a:cs typeface="Arial"/>
              </a:rPr>
              <a:t>tendency</a:t>
            </a:r>
            <a:r>
              <a:rPr sz="2200" spc="-40" dirty="0">
                <a:latin typeface="Arial"/>
                <a:cs typeface="Arial"/>
              </a:rPr>
              <a:t> </a:t>
            </a:r>
            <a:r>
              <a:rPr sz="2200" dirty="0">
                <a:latin typeface="Arial"/>
                <a:cs typeface="Arial"/>
              </a:rPr>
              <a:t>to</a:t>
            </a:r>
            <a:r>
              <a:rPr sz="2200" spc="-50" dirty="0">
                <a:latin typeface="Arial"/>
                <a:cs typeface="Arial"/>
              </a:rPr>
              <a:t> </a:t>
            </a:r>
            <a:r>
              <a:rPr sz="2200" spc="-10" dirty="0">
                <a:latin typeface="Arial"/>
                <a:cs typeface="Arial"/>
              </a:rPr>
              <a:t>evaluate </a:t>
            </a:r>
            <a:r>
              <a:rPr sz="2200" dirty="0">
                <a:latin typeface="Arial"/>
                <a:cs typeface="Arial"/>
              </a:rPr>
              <a:t>everything</a:t>
            </a:r>
            <a:r>
              <a:rPr sz="2200" spc="-40" dirty="0">
                <a:latin typeface="Arial"/>
                <a:cs typeface="Arial"/>
              </a:rPr>
              <a:t> </a:t>
            </a:r>
            <a:r>
              <a:rPr sz="2200" dirty="0">
                <a:latin typeface="Arial"/>
                <a:cs typeface="Arial"/>
              </a:rPr>
              <a:t>on</a:t>
            </a:r>
            <a:r>
              <a:rPr sz="2200" spc="-60" dirty="0">
                <a:latin typeface="Arial"/>
                <a:cs typeface="Arial"/>
              </a:rPr>
              <a:t> </a:t>
            </a:r>
            <a:r>
              <a:rPr sz="2200" dirty="0">
                <a:latin typeface="Arial"/>
                <a:cs typeface="Arial"/>
              </a:rPr>
              <a:t>one's</a:t>
            </a:r>
            <a:r>
              <a:rPr sz="2200" spc="-45" dirty="0">
                <a:latin typeface="Arial"/>
                <a:cs typeface="Arial"/>
              </a:rPr>
              <a:t> </a:t>
            </a:r>
            <a:r>
              <a:rPr sz="2200" dirty="0">
                <a:latin typeface="Arial"/>
                <a:cs typeface="Arial"/>
              </a:rPr>
              <a:t>own</a:t>
            </a:r>
            <a:r>
              <a:rPr sz="2200" spc="-60" dirty="0">
                <a:latin typeface="Arial"/>
                <a:cs typeface="Arial"/>
              </a:rPr>
              <a:t> </a:t>
            </a:r>
            <a:r>
              <a:rPr sz="2200" dirty="0">
                <a:latin typeface="Arial"/>
                <a:cs typeface="Arial"/>
              </a:rPr>
              <a:t>cultural</a:t>
            </a:r>
            <a:r>
              <a:rPr sz="2200" spc="-60" dirty="0">
                <a:latin typeface="Arial"/>
                <a:cs typeface="Arial"/>
              </a:rPr>
              <a:t> </a:t>
            </a:r>
            <a:r>
              <a:rPr sz="2200" dirty="0">
                <a:latin typeface="Arial"/>
                <a:cs typeface="Arial"/>
              </a:rPr>
              <a:t>background</a:t>
            </a:r>
            <a:r>
              <a:rPr sz="2200" spc="-20" dirty="0">
                <a:latin typeface="Arial"/>
                <a:cs typeface="Arial"/>
              </a:rPr>
              <a:t> </a:t>
            </a:r>
            <a:r>
              <a:rPr sz="2200" dirty="0">
                <a:latin typeface="Arial"/>
                <a:cs typeface="Arial"/>
              </a:rPr>
              <a:t>-</a:t>
            </a:r>
            <a:r>
              <a:rPr sz="2200" spc="-50" dirty="0">
                <a:latin typeface="Arial"/>
                <a:cs typeface="Arial"/>
              </a:rPr>
              <a:t> </a:t>
            </a:r>
            <a:r>
              <a:rPr sz="2200" dirty="0">
                <a:latin typeface="Arial"/>
                <a:cs typeface="Arial"/>
              </a:rPr>
              <a:t>and</a:t>
            </a:r>
            <a:r>
              <a:rPr sz="2200" spc="-50" dirty="0">
                <a:latin typeface="Arial"/>
                <a:cs typeface="Arial"/>
              </a:rPr>
              <a:t> </a:t>
            </a:r>
            <a:r>
              <a:rPr sz="2200" dirty="0">
                <a:latin typeface="Arial"/>
                <a:cs typeface="Arial"/>
              </a:rPr>
              <a:t>are</a:t>
            </a:r>
            <a:r>
              <a:rPr sz="2200" spc="-45" dirty="0">
                <a:latin typeface="Arial"/>
                <a:cs typeface="Arial"/>
              </a:rPr>
              <a:t> </a:t>
            </a:r>
            <a:r>
              <a:rPr sz="2200" dirty="0">
                <a:latin typeface="Arial"/>
                <a:cs typeface="Arial"/>
              </a:rPr>
              <a:t>willing</a:t>
            </a:r>
            <a:r>
              <a:rPr sz="2200" spc="-60" dirty="0">
                <a:latin typeface="Arial"/>
                <a:cs typeface="Arial"/>
              </a:rPr>
              <a:t> </a:t>
            </a:r>
            <a:r>
              <a:rPr sz="2200" dirty="0">
                <a:latin typeface="Arial"/>
                <a:cs typeface="Arial"/>
              </a:rPr>
              <a:t>to</a:t>
            </a:r>
            <a:r>
              <a:rPr sz="2200" spc="-60" dirty="0">
                <a:latin typeface="Arial"/>
                <a:cs typeface="Arial"/>
              </a:rPr>
              <a:t> </a:t>
            </a:r>
            <a:r>
              <a:rPr sz="2200" dirty="0">
                <a:latin typeface="Arial"/>
                <a:cs typeface="Arial"/>
              </a:rPr>
              <a:t>adjust</a:t>
            </a:r>
            <a:r>
              <a:rPr sz="2200" spc="-65" dirty="0">
                <a:latin typeface="Arial"/>
                <a:cs typeface="Arial"/>
              </a:rPr>
              <a:t> </a:t>
            </a:r>
            <a:r>
              <a:rPr sz="2200" dirty="0">
                <a:latin typeface="Arial"/>
                <a:cs typeface="Arial"/>
              </a:rPr>
              <a:t>their</a:t>
            </a:r>
            <a:r>
              <a:rPr sz="2200" spc="-45" dirty="0">
                <a:latin typeface="Arial"/>
                <a:cs typeface="Arial"/>
              </a:rPr>
              <a:t> </a:t>
            </a:r>
            <a:r>
              <a:rPr sz="2200" dirty="0">
                <a:latin typeface="Arial"/>
                <a:cs typeface="Arial"/>
              </a:rPr>
              <a:t>views</a:t>
            </a:r>
            <a:r>
              <a:rPr sz="2200" spc="-55" dirty="0">
                <a:latin typeface="Arial"/>
                <a:cs typeface="Arial"/>
              </a:rPr>
              <a:t> </a:t>
            </a:r>
            <a:r>
              <a:rPr sz="2200" spc="-25" dirty="0">
                <a:latin typeface="Arial"/>
                <a:cs typeface="Arial"/>
              </a:rPr>
              <a:t>in </a:t>
            </a:r>
            <a:r>
              <a:rPr sz="2200" dirty="0">
                <a:latin typeface="Arial"/>
                <a:cs typeface="Arial"/>
              </a:rPr>
              <a:t>light</a:t>
            </a:r>
            <a:r>
              <a:rPr sz="2200" spc="-55" dirty="0">
                <a:latin typeface="Arial"/>
                <a:cs typeface="Arial"/>
              </a:rPr>
              <a:t> </a:t>
            </a:r>
            <a:r>
              <a:rPr sz="2200" dirty="0">
                <a:latin typeface="Arial"/>
                <a:cs typeface="Arial"/>
              </a:rPr>
              <a:t>of</a:t>
            </a:r>
            <a:r>
              <a:rPr sz="2200" spc="-30" dirty="0">
                <a:latin typeface="Arial"/>
                <a:cs typeface="Arial"/>
              </a:rPr>
              <a:t> </a:t>
            </a:r>
            <a:r>
              <a:rPr sz="2200" dirty="0">
                <a:latin typeface="Arial"/>
                <a:cs typeface="Arial"/>
              </a:rPr>
              <a:t>new</a:t>
            </a:r>
            <a:r>
              <a:rPr sz="2200" spc="-45" dirty="0">
                <a:latin typeface="Arial"/>
                <a:cs typeface="Arial"/>
              </a:rPr>
              <a:t> </a:t>
            </a:r>
            <a:r>
              <a:rPr sz="2200" spc="-10" dirty="0">
                <a:latin typeface="Arial"/>
                <a:cs typeface="Arial"/>
              </a:rPr>
              <a:t>evidence.</a:t>
            </a:r>
            <a:endParaRPr sz="2200" dirty="0">
              <a:latin typeface="Arial"/>
              <a:cs typeface="Arial"/>
            </a:endParaRPr>
          </a:p>
          <a:p>
            <a:pPr>
              <a:lnSpc>
                <a:spcPct val="100000"/>
              </a:lnSpc>
              <a:spcBef>
                <a:spcPts val="10"/>
              </a:spcBef>
            </a:pPr>
            <a:endParaRPr sz="2400" dirty="0">
              <a:latin typeface="Arial"/>
              <a:cs typeface="Arial"/>
            </a:endParaRPr>
          </a:p>
          <a:p>
            <a:pPr marL="12700" marR="1511935">
              <a:lnSpc>
                <a:spcPts val="2380"/>
              </a:lnSpc>
            </a:pPr>
            <a:r>
              <a:rPr sz="2200" dirty="0">
                <a:latin typeface="Arial"/>
                <a:cs typeface="Arial"/>
              </a:rPr>
              <a:t>Strong</a:t>
            </a:r>
            <a:r>
              <a:rPr sz="2200" spc="-50" dirty="0">
                <a:latin typeface="Arial"/>
                <a:cs typeface="Arial"/>
              </a:rPr>
              <a:t> </a:t>
            </a:r>
            <a:r>
              <a:rPr sz="2200" dirty="0">
                <a:latin typeface="Arial"/>
                <a:cs typeface="Arial"/>
              </a:rPr>
              <a:t>corporate</a:t>
            </a:r>
            <a:r>
              <a:rPr sz="2200" spc="-45" dirty="0">
                <a:latin typeface="Arial"/>
                <a:cs typeface="Arial"/>
              </a:rPr>
              <a:t> </a:t>
            </a:r>
            <a:r>
              <a:rPr sz="2200" dirty="0">
                <a:latin typeface="Arial"/>
                <a:cs typeface="Arial"/>
              </a:rPr>
              <a:t>culture</a:t>
            </a:r>
            <a:r>
              <a:rPr sz="2200" spc="-60" dirty="0">
                <a:latin typeface="Arial"/>
                <a:cs typeface="Arial"/>
              </a:rPr>
              <a:t> </a:t>
            </a:r>
            <a:r>
              <a:rPr sz="2200" dirty="0">
                <a:latin typeface="Arial"/>
                <a:cs typeface="Arial"/>
              </a:rPr>
              <a:t>of</a:t>
            </a:r>
            <a:r>
              <a:rPr sz="2200" spc="-60" dirty="0">
                <a:latin typeface="Arial"/>
                <a:cs typeface="Arial"/>
              </a:rPr>
              <a:t> </a:t>
            </a:r>
            <a:r>
              <a:rPr sz="2200" dirty="0">
                <a:latin typeface="Arial"/>
                <a:cs typeface="Arial"/>
              </a:rPr>
              <a:t>MN</a:t>
            </a:r>
            <a:r>
              <a:rPr lang="en-GB" sz="2200" dirty="0">
                <a:latin typeface="Arial"/>
                <a:cs typeface="Arial"/>
              </a:rPr>
              <a:t>C</a:t>
            </a:r>
            <a:r>
              <a:rPr sz="2200" dirty="0">
                <a:latin typeface="Arial"/>
                <a:cs typeface="Arial"/>
              </a:rPr>
              <a:t>s</a:t>
            </a:r>
            <a:r>
              <a:rPr sz="2200" spc="-50" dirty="0">
                <a:latin typeface="Arial"/>
                <a:cs typeface="Arial"/>
              </a:rPr>
              <a:t> </a:t>
            </a:r>
            <a:r>
              <a:rPr sz="2200" dirty="0">
                <a:latin typeface="Arial"/>
                <a:cs typeface="Arial"/>
              </a:rPr>
              <a:t>may</a:t>
            </a:r>
            <a:r>
              <a:rPr sz="2200" spc="-45" dirty="0">
                <a:latin typeface="Arial"/>
                <a:cs typeface="Arial"/>
              </a:rPr>
              <a:t> </a:t>
            </a:r>
            <a:r>
              <a:rPr sz="2200" dirty="0">
                <a:latin typeface="Arial"/>
                <a:cs typeface="Arial"/>
              </a:rPr>
              <a:t>negate</a:t>
            </a:r>
            <a:r>
              <a:rPr sz="2200" spc="-60" dirty="0">
                <a:latin typeface="Arial"/>
                <a:cs typeface="Arial"/>
              </a:rPr>
              <a:t> </a:t>
            </a:r>
            <a:r>
              <a:rPr sz="2200" dirty="0">
                <a:latin typeface="Arial"/>
                <a:cs typeface="Arial"/>
              </a:rPr>
              <a:t>some</a:t>
            </a:r>
            <a:r>
              <a:rPr sz="2200" spc="-45" dirty="0">
                <a:latin typeface="Arial"/>
                <a:cs typeface="Arial"/>
              </a:rPr>
              <a:t> </a:t>
            </a:r>
            <a:r>
              <a:rPr sz="2200" dirty="0">
                <a:latin typeface="Arial"/>
                <a:cs typeface="Arial"/>
              </a:rPr>
              <a:t>of</a:t>
            </a:r>
            <a:r>
              <a:rPr sz="2200" spc="-50" dirty="0">
                <a:latin typeface="Arial"/>
                <a:cs typeface="Arial"/>
              </a:rPr>
              <a:t> </a:t>
            </a:r>
            <a:r>
              <a:rPr sz="2200" dirty="0">
                <a:latin typeface="Arial"/>
                <a:cs typeface="Arial"/>
              </a:rPr>
              <a:t>the</a:t>
            </a:r>
            <a:r>
              <a:rPr sz="2200" spc="-60" dirty="0">
                <a:latin typeface="Arial"/>
                <a:cs typeface="Arial"/>
              </a:rPr>
              <a:t> </a:t>
            </a:r>
            <a:r>
              <a:rPr sz="2200" dirty="0">
                <a:latin typeface="Arial"/>
                <a:cs typeface="Arial"/>
              </a:rPr>
              <a:t>traditional</a:t>
            </a:r>
            <a:r>
              <a:rPr sz="2200" spc="-50" dirty="0">
                <a:latin typeface="Arial"/>
                <a:cs typeface="Arial"/>
              </a:rPr>
              <a:t> </a:t>
            </a:r>
            <a:r>
              <a:rPr sz="2200" spc="-10" dirty="0">
                <a:latin typeface="Arial"/>
                <a:cs typeface="Arial"/>
              </a:rPr>
              <a:t>cultural characteristics</a:t>
            </a:r>
            <a:r>
              <a:rPr sz="2200" spc="-45" dirty="0">
                <a:latin typeface="Arial"/>
                <a:cs typeface="Arial"/>
              </a:rPr>
              <a:t> </a:t>
            </a:r>
            <a:r>
              <a:rPr sz="2200" dirty="0">
                <a:latin typeface="Arial"/>
                <a:cs typeface="Arial"/>
              </a:rPr>
              <a:t>of</a:t>
            </a:r>
            <a:r>
              <a:rPr sz="2200" spc="-40" dirty="0">
                <a:latin typeface="Arial"/>
                <a:cs typeface="Arial"/>
              </a:rPr>
              <a:t> </a:t>
            </a:r>
            <a:r>
              <a:rPr sz="2200" dirty="0">
                <a:latin typeface="Arial"/>
                <a:cs typeface="Arial"/>
              </a:rPr>
              <a:t>a</a:t>
            </a:r>
            <a:r>
              <a:rPr sz="2200" spc="-40" dirty="0">
                <a:latin typeface="Arial"/>
                <a:cs typeface="Arial"/>
              </a:rPr>
              <a:t> </a:t>
            </a:r>
            <a:r>
              <a:rPr sz="2200" dirty="0">
                <a:latin typeface="Arial"/>
                <a:cs typeface="Arial"/>
              </a:rPr>
              <a:t>subsidiary</a:t>
            </a:r>
            <a:r>
              <a:rPr sz="2200" spc="-40" dirty="0">
                <a:latin typeface="Arial"/>
                <a:cs typeface="Arial"/>
              </a:rPr>
              <a:t> </a:t>
            </a:r>
            <a:r>
              <a:rPr sz="2200" spc="-10" dirty="0">
                <a:latin typeface="Arial"/>
                <a:cs typeface="Arial"/>
              </a:rPr>
              <a:t>country.</a:t>
            </a:r>
            <a:endParaRPr sz="2200" dirty="0">
              <a:latin typeface="Arial"/>
              <a:cs typeface="Arial"/>
            </a:endParaRPr>
          </a:p>
          <a:p>
            <a:pPr>
              <a:lnSpc>
                <a:spcPct val="100000"/>
              </a:lnSpc>
              <a:spcBef>
                <a:spcPts val="30"/>
              </a:spcBef>
            </a:pPr>
            <a:endParaRPr sz="2350" dirty="0">
              <a:latin typeface="Arial"/>
              <a:cs typeface="Arial"/>
            </a:endParaRPr>
          </a:p>
          <a:p>
            <a:pPr marL="355600" marR="505459" indent="-342900">
              <a:lnSpc>
                <a:spcPct val="90000"/>
              </a:lnSpc>
              <a:buChar char="•"/>
              <a:tabLst>
                <a:tab pos="354965" algn="l"/>
                <a:tab pos="355600" algn="l"/>
              </a:tabLst>
            </a:pPr>
            <a:r>
              <a:rPr sz="2200" dirty="0">
                <a:latin typeface="Arial"/>
                <a:cs typeface="Arial"/>
              </a:rPr>
              <a:t>For</a:t>
            </a:r>
            <a:r>
              <a:rPr sz="2200" spc="-60" dirty="0">
                <a:latin typeface="Arial"/>
                <a:cs typeface="Arial"/>
              </a:rPr>
              <a:t> </a:t>
            </a:r>
            <a:r>
              <a:rPr sz="2200" dirty="0">
                <a:latin typeface="Arial"/>
                <a:cs typeface="Arial"/>
              </a:rPr>
              <a:t>example,</a:t>
            </a:r>
            <a:r>
              <a:rPr sz="2200" spc="-45" dirty="0">
                <a:latin typeface="Arial"/>
                <a:cs typeface="Arial"/>
              </a:rPr>
              <a:t> </a:t>
            </a:r>
            <a:r>
              <a:rPr sz="2200" dirty="0">
                <a:latin typeface="Arial"/>
                <a:cs typeface="Arial"/>
              </a:rPr>
              <a:t>an</a:t>
            </a:r>
            <a:r>
              <a:rPr sz="2200" spc="-70" dirty="0">
                <a:latin typeface="Arial"/>
                <a:cs typeface="Arial"/>
              </a:rPr>
              <a:t> </a:t>
            </a:r>
            <a:r>
              <a:rPr sz="2200" dirty="0">
                <a:latin typeface="Arial"/>
                <a:cs typeface="Arial"/>
              </a:rPr>
              <a:t>Indian</a:t>
            </a:r>
            <a:r>
              <a:rPr sz="2200" spc="-70" dirty="0">
                <a:latin typeface="Arial"/>
                <a:cs typeface="Arial"/>
              </a:rPr>
              <a:t> </a:t>
            </a:r>
            <a:r>
              <a:rPr sz="2200" dirty="0">
                <a:latin typeface="Arial"/>
                <a:cs typeface="Arial"/>
              </a:rPr>
              <a:t>employee</a:t>
            </a:r>
            <a:r>
              <a:rPr sz="2200" spc="-50" dirty="0">
                <a:latin typeface="Arial"/>
                <a:cs typeface="Arial"/>
              </a:rPr>
              <a:t> </a:t>
            </a:r>
            <a:r>
              <a:rPr sz="2200" dirty="0">
                <a:latin typeface="Arial"/>
                <a:cs typeface="Arial"/>
              </a:rPr>
              <a:t>of</a:t>
            </a:r>
            <a:r>
              <a:rPr sz="2200" spc="-70" dirty="0">
                <a:latin typeface="Arial"/>
                <a:cs typeface="Arial"/>
              </a:rPr>
              <a:t> </a:t>
            </a:r>
            <a:r>
              <a:rPr sz="2200" dirty="0">
                <a:latin typeface="Arial"/>
                <a:cs typeface="Arial"/>
              </a:rPr>
              <a:t>Procter</a:t>
            </a:r>
            <a:r>
              <a:rPr sz="2200" spc="-55" dirty="0">
                <a:latin typeface="Arial"/>
                <a:cs typeface="Arial"/>
              </a:rPr>
              <a:t> </a:t>
            </a:r>
            <a:r>
              <a:rPr sz="2200" dirty="0">
                <a:latin typeface="Arial"/>
                <a:cs typeface="Arial"/>
              </a:rPr>
              <a:t>&amp;</a:t>
            </a:r>
            <a:r>
              <a:rPr sz="2200" spc="-70" dirty="0">
                <a:latin typeface="Arial"/>
                <a:cs typeface="Arial"/>
              </a:rPr>
              <a:t> </a:t>
            </a:r>
            <a:r>
              <a:rPr sz="2200" dirty="0">
                <a:latin typeface="Arial"/>
                <a:cs typeface="Arial"/>
              </a:rPr>
              <a:t>Gamble</a:t>
            </a:r>
            <a:r>
              <a:rPr sz="2200" spc="-50" dirty="0">
                <a:latin typeface="Arial"/>
                <a:cs typeface="Arial"/>
              </a:rPr>
              <a:t> </a:t>
            </a:r>
            <a:r>
              <a:rPr sz="2200" dirty="0">
                <a:latin typeface="Arial"/>
                <a:cs typeface="Arial"/>
              </a:rPr>
              <a:t>may</a:t>
            </a:r>
            <a:r>
              <a:rPr sz="2200" spc="-50" dirty="0">
                <a:latin typeface="Arial"/>
                <a:cs typeface="Arial"/>
              </a:rPr>
              <a:t> </a:t>
            </a:r>
            <a:r>
              <a:rPr sz="2200" dirty="0">
                <a:latin typeface="Arial"/>
                <a:cs typeface="Arial"/>
              </a:rPr>
              <a:t>have</a:t>
            </a:r>
            <a:r>
              <a:rPr sz="2200" spc="-70" dirty="0">
                <a:latin typeface="Arial"/>
                <a:cs typeface="Arial"/>
              </a:rPr>
              <a:t> </a:t>
            </a:r>
            <a:r>
              <a:rPr sz="2200" spc="-10" dirty="0">
                <a:latin typeface="Arial"/>
                <a:cs typeface="Arial"/>
              </a:rPr>
              <a:t>completely </a:t>
            </a:r>
            <a:r>
              <a:rPr sz="2200" dirty="0">
                <a:latin typeface="Arial"/>
                <a:cs typeface="Arial"/>
              </a:rPr>
              <a:t>accepted</a:t>
            </a:r>
            <a:r>
              <a:rPr sz="2200" spc="-60" dirty="0">
                <a:latin typeface="Arial"/>
                <a:cs typeface="Arial"/>
              </a:rPr>
              <a:t> </a:t>
            </a:r>
            <a:r>
              <a:rPr sz="2200" dirty="0">
                <a:latin typeface="Arial"/>
                <a:cs typeface="Arial"/>
              </a:rPr>
              <a:t>a</a:t>
            </a:r>
            <a:r>
              <a:rPr sz="2200" spc="-55" dirty="0">
                <a:latin typeface="Arial"/>
                <a:cs typeface="Arial"/>
              </a:rPr>
              <a:t> </a:t>
            </a:r>
            <a:r>
              <a:rPr sz="2200" dirty="0">
                <a:latin typeface="Arial"/>
                <a:cs typeface="Arial"/>
              </a:rPr>
              <a:t>corporate</a:t>
            </a:r>
            <a:r>
              <a:rPr sz="2200" spc="-45" dirty="0">
                <a:latin typeface="Arial"/>
                <a:cs typeface="Arial"/>
              </a:rPr>
              <a:t> </a:t>
            </a:r>
            <a:r>
              <a:rPr sz="2200" dirty="0">
                <a:latin typeface="Arial"/>
                <a:cs typeface="Arial"/>
              </a:rPr>
              <a:t>culture</a:t>
            </a:r>
            <a:r>
              <a:rPr sz="2200" spc="-60" dirty="0">
                <a:latin typeface="Arial"/>
                <a:cs typeface="Arial"/>
              </a:rPr>
              <a:t> </a:t>
            </a:r>
            <a:r>
              <a:rPr sz="2200" dirty="0">
                <a:latin typeface="Arial"/>
                <a:cs typeface="Arial"/>
              </a:rPr>
              <a:t>of</a:t>
            </a:r>
            <a:r>
              <a:rPr sz="2200" spc="-55" dirty="0">
                <a:latin typeface="Arial"/>
                <a:cs typeface="Arial"/>
              </a:rPr>
              <a:t> </a:t>
            </a:r>
            <a:r>
              <a:rPr sz="2200" dirty="0">
                <a:latin typeface="Arial"/>
                <a:cs typeface="Arial"/>
              </a:rPr>
              <a:t>timeliness</a:t>
            </a:r>
            <a:r>
              <a:rPr sz="2200" spc="-55" dirty="0">
                <a:latin typeface="Arial"/>
                <a:cs typeface="Arial"/>
              </a:rPr>
              <a:t> </a:t>
            </a:r>
            <a:r>
              <a:rPr sz="2200" dirty="0">
                <a:latin typeface="Arial"/>
                <a:cs typeface="Arial"/>
              </a:rPr>
              <a:t>and</a:t>
            </a:r>
            <a:r>
              <a:rPr sz="2200" spc="-50" dirty="0">
                <a:latin typeface="Arial"/>
                <a:cs typeface="Arial"/>
              </a:rPr>
              <a:t> </a:t>
            </a:r>
            <a:r>
              <a:rPr sz="2200" dirty="0">
                <a:latin typeface="Arial"/>
                <a:cs typeface="Arial"/>
              </a:rPr>
              <a:t>punctuality</a:t>
            </a:r>
            <a:r>
              <a:rPr sz="2200" spc="-55" dirty="0">
                <a:latin typeface="Arial"/>
                <a:cs typeface="Arial"/>
              </a:rPr>
              <a:t> </a:t>
            </a:r>
            <a:r>
              <a:rPr sz="2200" dirty="0">
                <a:latin typeface="Arial"/>
                <a:cs typeface="Arial"/>
              </a:rPr>
              <a:t>that,</a:t>
            </a:r>
            <a:r>
              <a:rPr sz="2200" spc="-40" dirty="0">
                <a:latin typeface="Arial"/>
                <a:cs typeface="Arial"/>
              </a:rPr>
              <a:t> </a:t>
            </a:r>
            <a:r>
              <a:rPr sz="2200" dirty="0">
                <a:latin typeface="Arial"/>
                <a:cs typeface="Arial"/>
              </a:rPr>
              <a:t>at</a:t>
            </a:r>
            <a:r>
              <a:rPr sz="2200" spc="-60" dirty="0">
                <a:latin typeface="Arial"/>
                <a:cs typeface="Arial"/>
              </a:rPr>
              <a:t> </a:t>
            </a:r>
            <a:r>
              <a:rPr sz="2200" dirty="0">
                <a:latin typeface="Arial"/>
                <a:cs typeface="Arial"/>
              </a:rPr>
              <a:t>least</a:t>
            </a:r>
            <a:r>
              <a:rPr sz="2200" spc="-65" dirty="0">
                <a:latin typeface="Arial"/>
                <a:cs typeface="Arial"/>
              </a:rPr>
              <a:t> </a:t>
            </a:r>
            <a:r>
              <a:rPr sz="2200" dirty="0">
                <a:latin typeface="Arial"/>
                <a:cs typeface="Arial"/>
              </a:rPr>
              <a:t>in</a:t>
            </a:r>
            <a:r>
              <a:rPr sz="2200" spc="-55" dirty="0">
                <a:latin typeface="Arial"/>
                <a:cs typeface="Arial"/>
              </a:rPr>
              <a:t> </a:t>
            </a:r>
            <a:r>
              <a:rPr sz="2200" dirty="0">
                <a:latin typeface="Arial"/>
                <a:cs typeface="Arial"/>
              </a:rPr>
              <a:t>the</a:t>
            </a:r>
            <a:r>
              <a:rPr sz="2200" spc="-50" dirty="0">
                <a:latin typeface="Arial"/>
                <a:cs typeface="Arial"/>
              </a:rPr>
              <a:t> </a:t>
            </a:r>
            <a:r>
              <a:rPr sz="2200" spc="-20" dirty="0">
                <a:latin typeface="Arial"/>
                <a:cs typeface="Arial"/>
              </a:rPr>
              <a:t>work </a:t>
            </a:r>
            <a:r>
              <a:rPr sz="2200" dirty="0">
                <a:latin typeface="Arial"/>
                <a:cs typeface="Arial"/>
              </a:rPr>
              <a:t>setting,</a:t>
            </a:r>
            <a:r>
              <a:rPr sz="2200" spc="-75" dirty="0">
                <a:latin typeface="Arial"/>
                <a:cs typeface="Arial"/>
              </a:rPr>
              <a:t> </a:t>
            </a:r>
            <a:r>
              <a:rPr sz="2200" dirty="0">
                <a:latin typeface="Arial"/>
                <a:cs typeface="Arial"/>
              </a:rPr>
              <a:t>is</a:t>
            </a:r>
            <a:r>
              <a:rPr sz="2200" spc="-75" dirty="0">
                <a:latin typeface="Arial"/>
                <a:cs typeface="Arial"/>
              </a:rPr>
              <a:t> </a:t>
            </a:r>
            <a:r>
              <a:rPr sz="2200" dirty="0">
                <a:latin typeface="Arial"/>
                <a:cs typeface="Arial"/>
              </a:rPr>
              <a:t>replacing</a:t>
            </a:r>
            <a:r>
              <a:rPr sz="2200" spc="-75" dirty="0">
                <a:latin typeface="Arial"/>
                <a:cs typeface="Arial"/>
              </a:rPr>
              <a:t> </a:t>
            </a:r>
            <a:r>
              <a:rPr sz="2200" dirty="0">
                <a:latin typeface="Arial"/>
                <a:cs typeface="Arial"/>
              </a:rPr>
              <a:t>the</a:t>
            </a:r>
            <a:r>
              <a:rPr sz="2200" spc="-70" dirty="0">
                <a:latin typeface="Arial"/>
                <a:cs typeface="Arial"/>
              </a:rPr>
              <a:t> </a:t>
            </a:r>
            <a:r>
              <a:rPr sz="2200" dirty="0">
                <a:latin typeface="Arial"/>
                <a:cs typeface="Arial"/>
              </a:rPr>
              <a:t>traditional</a:t>
            </a:r>
            <a:r>
              <a:rPr sz="2200" spc="-65" dirty="0">
                <a:latin typeface="Arial"/>
                <a:cs typeface="Arial"/>
              </a:rPr>
              <a:t> </a:t>
            </a:r>
            <a:r>
              <a:rPr sz="2200" dirty="0">
                <a:latin typeface="Arial"/>
                <a:cs typeface="Arial"/>
              </a:rPr>
              <a:t>polychronic</a:t>
            </a:r>
            <a:r>
              <a:rPr sz="2200" spc="-70" dirty="0">
                <a:latin typeface="Arial"/>
                <a:cs typeface="Arial"/>
              </a:rPr>
              <a:t> </a:t>
            </a:r>
            <a:r>
              <a:rPr sz="2200" dirty="0">
                <a:latin typeface="Arial"/>
                <a:cs typeface="Arial"/>
              </a:rPr>
              <a:t>time</a:t>
            </a:r>
            <a:r>
              <a:rPr sz="2200" spc="-65" dirty="0">
                <a:latin typeface="Arial"/>
                <a:cs typeface="Arial"/>
              </a:rPr>
              <a:t> </a:t>
            </a:r>
            <a:r>
              <a:rPr sz="2200" dirty="0">
                <a:latin typeface="Arial"/>
                <a:cs typeface="Arial"/>
              </a:rPr>
              <a:t>orientation</a:t>
            </a:r>
            <a:r>
              <a:rPr sz="2200" spc="-75" dirty="0">
                <a:latin typeface="Arial"/>
                <a:cs typeface="Arial"/>
              </a:rPr>
              <a:t> </a:t>
            </a:r>
            <a:r>
              <a:rPr sz="2200" dirty="0">
                <a:latin typeface="Arial"/>
                <a:cs typeface="Arial"/>
              </a:rPr>
              <a:t>of</a:t>
            </a:r>
            <a:r>
              <a:rPr sz="2200" spc="-60" dirty="0">
                <a:latin typeface="Arial"/>
                <a:cs typeface="Arial"/>
              </a:rPr>
              <a:t> </a:t>
            </a:r>
            <a:r>
              <a:rPr sz="2200" dirty="0">
                <a:latin typeface="Arial"/>
                <a:cs typeface="Arial"/>
              </a:rPr>
              <a:t>Indian</a:t>
            </a:r>
            <a:r>
              <a:rPr sz="2200" spc="-80" dirty="0">
                <a:latin typeface="Arial"/>
                <a:cs typeface="Arial"/>
              </a:rPr>
              <a:t> </a:t>
            </a:r>
            <a:r>
              <a:rPr sz="2200" spc="-10" dirty="0">
                <a:latin typeface="Arial"/>
                <a:cs typeface="Arial"/>
              </a:rPr>
              <a:t>culture.</a:t>
            </a:r>
            <a:endParaRPr sz="2200" dirty="0">
              <a:latin typeface="Arial"/>
              <a:cs typeface="Arial"/>
            </a:endParaRPr>
          </a:p>
          <a:p>
            <a:pPr>
              <a:lnSpc>
                <a:spcPct val="100000"/>
              </a:lnSpc>
              <a:spcBef>
                <a:spcPts val="35"/>
              </a:spcBef>
            </a:pPr>
            <a:endParaRPr sz="2150" dirty="0">
              <a:latin typeface="Arial"/>
              <a:cs typeface="Arial"/>
            </a:endParaRPr>
          </a:p>
          <a:p>
            <a:pPr marL="12700">
              <a:lnSpc>
                <a:spcPts val="2510"/>
              </a:lnSpc>
            </a:pPr>
            <a:r>
              <a:rPr sz="2200" dirty="0">
                <a:latin typeface="Arial"/>
                <a:cs typeface="Arial"/>
              </a:rPr>
              <a:t>When</a:t>
            </a:r>
            <a:r>
              <a:rPr sz="2200" spc="-60" dirty="0">
                <a:latin typeface="Arial"/>
                <a:cs typeface="Arial"/>
              </a:rPr>
              <a:t> </a:t>
            </a:r>
            <a:r>
              <a:rPr sz="2200" dirty="0">
                <a:latin typeface="Arial"/>
                <a:cs typeface="Arial"/>
              </a:rPr>
              <a:t>a</a:t>
            </a:r>
            <a:r>
              <a:rPr sz="2200" spc="-55" dirty="0">
                <a:latin typeface="Arial"/>
                <a:cs typeface="Arial"/>
              </a:rPr>
              <a:t> </a:t>
            </a:r>
            <a:r>
              <a:rPr sz="2200" dirty="0">
                <a:latin typeface="Arial"/>
                <a:cs typeface="Arial"/>
              </a:rPr>
              <a:t>company</a:t>
            </a:r>
            <a:r>
              <a:rPr sz="2200" spc="-40" dirty="0">
                <a:latin typeface="Arial"/>
                <a:cs typeface="Arial"/>
              </a:rPr>
              <a:t> </a:t>
            </a:r>
            <a:r>
              <a:rPr sz="2200" dirty="0">
                <a:latin typeface="Arial"/>
                <a:cs typeface="Arial"/>
              </a:rPr>
              <a:t>goes</a:t>
            </a:r>
            <a:r>
              <a:rPr sz="2200" spc="-50" dirty="0">
                <a:latin typeface="Arial"/>
                <a:cs typeface="Arial"/>
              </a:rPr>
              <a:t> </a:t>
            </a:r>
            <a:r>
              <a:rPr sz="2200" dirty="0">
                <a:latin typeface="Arial"/>
                <a:cs typeface="Arial"/>
              </a:rPr>
              <a:t>from</a:t>
            </a:r>
            <a:r>
              <a:rPr sz="2200" spc="-35" dirty="0">
                <a:latin typeface="Arial"/>
                <a:cs typeface="Arial"/>
              </a:rPr>
              <a:t> </a:t>
            </a:r>
            <a:r>
              <a:rPr sz="2200" dirty="0">
                <a:latin typeface="Arial"/>
                <a:cs typeface="Arial"/>
              </a:rPr>
              <a:t>an</a:t>
            </a:r>
            <a:r>
              <a:rPr sz="2200" spc="-55" dirty="0">
                <a:latin typeface="Arial"/>
                <a:cs typeface="Arial"/>
              </a:rPr>
              <a:t> </a:t>
            </a:r>
            <a:r>
              <a:rPr sz="2200" dirty="0">
                <a:latin typeface="Arial"/>
                <a:cs typeface="Arial"/>
              </a:rPr>
              <a:t>export</a:t>
            </a:r>
            <a:r>
              <a:rPr sz="2200" spc="-30" dirty="0">
                <a:latin typeface="Arial"/>
                <a:cs typeface="Arial"/>
              </a:rPr>
              <a:t> </a:t>
            </a:r>
            <a:r>
              <a:rPr sz="2200" dirty="0">
                <a:latin typeface="Arial"/>
                <a:cs typeface="Arial"/>
              </a:rPr>
              <a:t>stage</a:t>
            </a:r>
            <a:r>
              <a:rPr sz="2200" spc="-45" dirty="0">
                <a:latin typeface="Arial"/>
                <a:cs typeface="Arial"/>
              </a:rPr>
              <a:t> </a:t>
            </a:r>
            <a:r>
              <a:rPr sz="2200" dirty="0">
                <a:latin typeface="Arial"/>
                <a:cs typeface="Arial"/>
              </a:rPr>
              <a:t>to</a:t>
            </a:r>
            <a:r>
              <a:rPr sz="2200" spc="-55" dirty="0">
                <a:latin typeface="Arial"/>
                <a:cs typeface="Arial"/>
              </a:rPr>
              <a:t> </a:t>
            </a:r>
            <a:r>
              <a:rPr sz="2200" dirty="0">
                <a:latin typeface="Arial"/>
                <a:cs typeface="Arial"/>
              </a:rPr>
              <a:t>a</a:t>
            </a:r>
            <a:r>
              <a:rPr sz="2200" spc="-60" dirty="0">
                <a:latin typeface="Arial"/>
                <a:cs typeface="Arial"/>
              </a:rPr>
              <a:t> </a:t>
            </a:r>
            <a:r>
              <a:rPr sz="2200" dirty="0">
                <a:latin typeface="Arial"/>
                <a:cs typeface="Arial"/>
              </a:rPr>
              <a:t>foreign</a:t>
            </a:r>
            <a:r>
              <a:rPr sz="2200" spc="-50" dirty="0">
                <a:latin typeface="Arial"/>
                <a:cs typeface="Arial"/>
              </a:rPr>
              <a:t> </a:t>
            </a:r>
            <a:r>
              <a:rPr sz="2200" dirty="0">
                <a:latin typeface="Arial"/>
                <a:cs typeface="Arial"/>
              </a:rPr>
              <a:t>subsidiary</a:t>
            </a:r>
            <a:r>
              <a:rPr sz="2200" spc="-60" dirty="0">
                <a:latin typeface="Arial"/>
                <a:cs typeface="Arial"/>
              </a:rPr>
              <a:t> </a:t>
            </a:r>
            <a:r>
              <a:rPr sz="2200" dirty="0">
                <a:latin typeface="Arial"/>
                <a:cs typeface="Arial"/>
              </a:rPr>
              <a:t>stage,</a:t>
            </a:r>
            <a:r>
              <a:rPr sz="2200" spc="-50" dirty="0">
                <a:latin typeface="Arial"/>
                <a:cs typeface="Arial"/>
              </a:rPr>
              <a:t> </a:t>
            </a:r>
            <a:r>
              <a:rPr sz="2200" dirty="0">
                <a:latin typeface="Arial"/>
                <a:cs typeface="Arial"/>
              </a:rPr>
              <a:t>the</a:t>
            </a:r>
            <a:r>
              <a:rPr sz="2200" spc="-40" dirty="0">
                <a:latin typeface="Arial"/>
                <a:cs typeface="Arial"/>
              </a:rPr>
              <a:t> </a:t>
            </a:r>
            <a:r>
              <a:rPr sz="2200" dirty="0">
                <a:latin typeface="Arial"/>
                <a:cs typeface="Arial"/>
              </a:rPr>
              <a:t>need</a:t>
            </a:r>
            <a:r>
              <a:rPr sz="2200" spc="-60" dirty="0">
                <a:latin typeface="Arial"/>
                <a:cs typeface="Arial"/>
              </a:rPr>
              <a:t> </a:t>
            </a:r>
            <a:r>
              <a:rPr sz="2200" spc="-25" dirty="0">
                <a:latin typeface="Arial"/>
                <a:cs typeface="Arial"/>
              </a:rPr>
              <a:t>for</a:t>
            </a:r>
            <a:endParaRPr sz="2200" dirty="0">
              <a:latin typeface="Arial"/>
              <a:cs typeface="Arial"/>
            </a:endParaRPr>
          </a:p>
          <a:p>
            <a:pPr marL="12700">
              <a:lnSpc>
                <a:spcPts val="2510"/>
              </a:lnSpc>
            </a:pPr>
            <a:r>
              <a:rPr sz="2200" dirty="0">
                <a:latin typeface="Arial"/>
                <a:cs typeface="Arial"/>
              </a:rPr>
              <a:t>both</a:t>
            </a:r>
            <a:r>
              <a:rPr sz="2200" spc="-95" dirty="0">
                <a:latin typeface="Arial"/>
                <a:cs typeface="Arial"/>
              </a:rPr>
              <a:t> </a:t>
            </a:r>
            <a:r>
              <a:rPr sz="2200" dirty="0">
                <a:latin typeface="Arial"/>
                <a:cs typeface="Arial"/>
              </a:rPr>
              <a:t>cultural</a:t>
            </a:r>
            <a:r>
              <a:rPr sz="2200" spc="-85" dirty="0">
                <a:latin typeface="Arial"/>
                <a:cs typeface="Arial"/>
              </a:rPr>
              <a:t> </a:t>
            </a:r>
            <a:r>
              <a:rPr sz="2200" dirty="0">
                <a:latin typeface="Arial"/>
                <a:cs typeface="Arial"/>
              </a:rPr>
              <a:t>awareness</a:t>
            </a:r>
            <a:r>
              <a:rPr sz="2200" spc="-80" dirty="0">
                <a:latin typeface="Arial"/>
                <a:cs typeface="Arial"/>
              </a:rPr>
              <a:t> </a:t>
            </a:r>
            <a:r>
              <a:rPr sz="2200" dirty="0">
                <a:latin typeface="Arial"/>
                <a:cs typeface="Arial"/>
              </a:rPr>
              <a:t>and</a:t>
            </a:r>
            <a:r>
              <a:rPr sz="2200" spc="-100" dirty="0">
                <a:latin typeface="Arial"/>
                <a:cs typeface="Arial"/>
              </a:rPr>
              <a:t> </a:t>
            </a:r>
            <a:r>
              <a:rPr sz="2200" dirty="0">
                <a:latin typeface="Arial"/>
                <a:cs typeface="Arial"/>
              </a:rPr>
              <a:t>international</a:t>
            </a:r>
            <a:r>
              <a:rPr sz="2200" spc="-95" dirty="0">
                <a:latin typeface="Arial"/>
                <a:cs typeface="Arial"/>
              </a:rPr>
              <a:t> </a:t>
            </a:r>
            <a:r>
              <a:rPr sz="2200" dirty="0">
                <a:latin typeface="Arial"/>
                <a:cs typeface="Arial"/>
              </a:rPr>
              <a:t>business</a:t>
            </a:r>
            <a:r>
              <a:rPr sz="2200" spc="-95" dirty="0">
                <a:latin typeface="Arial"/>
                <a:cs typeface="Arial"/>
              </a:rPr>
              <a:t> </a:t>
            </a:r>
            <a:r>
              <a:rPr sz="2200" dirty="0">
                <a:latin typeface="Arial"/>
                <a:cs typeface="Arial"/>
              </a:rPr>
              <a:t>knowledge</a:t>
            </a:r>
            <a:r>
              <a:rPr sz="2200" spc="-95" dirty="0">
                <a:latin typeface="Arial"/>
                <a:cs typeface="Arial"/>
              </a:rPr>
              <a:t> </a:t>
            </a:r>
            <a:r>
              <a:rPr sz="2200" spc="-10" dirty="0">
                <a:latin typeface="Arial"/>
                <a:cs typeface="Arial"/>
              </a:rPr>
              <a:t>changes.</a:t>
            </a:r>
            <a:endParaRPr sz="2200" dirty="0">
              <a:latin typeface="Arial"/>
              <a:cs typeface="Arial"/>
            </a:endParaRPr>
          </a:p>
          <a:p>
            <a:pPr marL="9465945">
              <a:lnSpc>
                <a:spcPct val="100000"/>
              </a:lnSpc>
              <a:spcBef>
                <a:spcPts val="280"/>
              </a:spcBef>
            </a:pPr>
            <a:r>
              <a:rPr sz="2000" spc="-20" dirty="0">
                <a:latin typeface="Arial"/>
                <a:cs typeface="Arial"/>
              </a:rPr>
              <a:t>Varner</a:t>
            </a:r>
            <a:r>
              <a:rPr sz="2000" spc="-90" dirty="0">
                <a:latin typeface="Arial"/>
                <a:cs typeface="Arial"/>
              </a:rPr>
              <a:t> </a:t>
            </a:r>
            <a:r>
              <a:rPr sz="2000" spc="-10" dirty="0">
                <a:latin typeface="Arial"/>
                <a:cs typeface="Arial"/>
              </a:rPr>
              <a:t>(2000)</a:t>
            </a:r>
            <a:endParaRPr sz="2000" dirty="0">
              <a:latin typeface="Arial"/>
              <a:cs typeface="Arial"/>
            </a:endParaRPr>
          </a:p>
        </p:txBody>
      </p:sp>
      <p:sp>
        <p:nvSpPr>
          <p:cNvPr id="3" name="object 3"/>
          <p:cNvSpPr txBox="1">
            <a:spLocks noGrp="1"/>
          </p:cNvSpPr>
          <p:nvPr>
            <p:ph type="title"/>
          </p:nvPr>
        </p:nvSpPr>
        <p:spPr>
          <a:xfrm>
            <a:off x="574240" y="357188"/>
            <a:ext cx="9716916" cy="640687"/>
          </a:xfrm>
          <a:prstGeom prst="rect">
            <a:avLst/>
          </a:prstGeom>
        </p:spPr>
        <p:txBody>
          <a:bodyPr vert="horz" wrap="square" lIns="0" tIns="146811" rIns="0" bIns="0" rtlCol="0">
            <a:spAutoFit/>
          </a:bodyPr>
          <a:lstStyle/>
          <a:p>
            <a:pPr marL="248285" algn="ctr">
              <a:lnSpc>
                <a:spcPct val="100000"/>
              </a:lnSpc>
              <a:spcBef>
                <a:spcPts val="105"/>
              </a:spcBef>
            </a:pPr>
            <a:r>
              <a:rPr lang="en-GB" sz="3200" dirty="0"/>
              <a:t>INTERCULTURAL</a:t>
            </a:r>
            <a:r>
              <a:rPr lang="en-GB" sz="3200" spc="-65" dirty="0"/>
              <a:t> </a:t>
            </a:r>
            <a:r>
              <a:rPr lang="en-GB" sz="3200" dirty="0"/>
              <a:t>BUSINESS</a:t>
            </a:r>
            <a:r>
              <a:rPr lang="en-GB" sz="3200" spc="-55" dirty="0"/>
              <a:t> </a:t>
            </a:r>
            <a:r>
              <a:rPr lang="en-GB" sz="3200" spc="-10" dirty="0"/>
              <a:t>COMMUNICATION</a:t>
            </a:r>
            <a:endParaRPr lang="en-GB"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0" y="1112520"/>
            <a:ext cx="10441305" cy="4632960"/>
          </a:xfrm>
          <a:prstGeom prst="rect">
            <a:avLst/>
          </a:prstGeom>
        </p:spPr>
        <p:txBody>
          <a:bodyPr vert="horz" wrap="square" lIns="0" tIns="50165" rIns="0" bIns="0" rtlCol="0">
            <a:spAutoFit/>
          </a:bodyPr>
          <a:lstStyle/>
          <a:p>
            <a:pPr marL="12700" marR="524510">
              <a:lnSpc>
                <a:spcPts val="2380"/>
              </a:lnSpc>
              <a:spcBef>
                <a:spcPts val="395"/>
              </a:spcBef>
            </a:pPr>
            <a:r>
              <a:rPr sz="2200" dirty="0">
                <a:latin typeface="Arial"/>
                <a:cs typeface="Arial"/>
              </a:rPr>
              <a:t>Many</a:t>
            </a:r>
            <a:r>
              <a:rPr sz="2200" spc="-65" dirty="0">
                <a:latin typeface="Arial"/>
                <a:cs typeface="Arial"/>
              </a:rPr>
              <a:t> </a:t>
            </a:r>
            <a:r>
              <a:rPr sz="2200" dirty="0">
                <a:latin typeface="Arial"/>
                <a:cs typeface="Arial"/>
              </a:rPr>
              <a:t>cultures</a:t>
            </a:r>
            <a:r>
              <a:rPr sz="2200" spc="-75" dirty="0">
                <a:latin typeface="Arial"/>
                <a:cs typeface="Arial"/>
              </a:rPr>
              <a:t> </a:t>
            </a:r>
            <a:r>
              <a:rPr sz="2200" dirty="0">
                <a:latin typeface="Arial"/>
                <a:cs typeface="Arial"/>
              </a:rPr>
              <a:t>have</a:t>
            </a:r>
            <a:r>
              <a:rPr sz="2200" spc="-70" dirty="0">
                <a:latin typeface="Arial"/>
                <a:cs typeface="Arial"/>
              </a:rPr>
              <a:t> </a:t>
            </a:r>
            <a:r>
              <a:rPr sz="2200" dirty="0">
                <a:latin typeface="Arial"/>
                <a:cs typeface="Arial"/>
              </a:rPr>
              <a:t>their</a:t>
            </a:r>
            <a:r>
              <a:rPr sz="2200" spc="-80" dirty="0">
                <a:latin typeface="Arial"/>
                <a:cs typeface="Arial"/>
              </a:rPr>
              <a:t> </a:t>
            </a:r>
            <a:r>
              <a:rPr sz="2200" dirty="0">
                <a:latin typeface="Arial"/>
                <a:cs typeface="Arial"/>
              </a:rPr>
              <a:t>own</a:t>
            </a:r>
            <a:r>
              <a:rPr sz="2200" spc="-70" dirty="0">
                <a:latin typeface="Arial"/>
                <a:cs typeface="Arial"/>
              </a:rPr>
              <a:t> </a:t>
            </a:r>
            <a:r>
              <a:rPr sz="2200" dirty="0">
                <a:latin typeface="Arial"/>
                <a:cs typeface="Arial"/>
              </a:rPr>
              <a:t>different</a:t>
            </a:r>
            <a:r>
              <a:rPr sz="2200" spc="-75" dirty="0">
                <a:latin typeface="Arial"/>
                <a:cs typeface="Arial"/>
              </a:rPr>
              <a:t> </a:t>
            </a:r>
            <a:r>
              <a:rPr sz="2200" dirty="0">
                <a:latin typeface="Arial"/>
                <a:cs typeface="Arial"/>
              </a:rPr>
              <a:t>cognitive</a:t>
            </a:r>
            <a:r>
              <a:rPr sz="2200" spc="-75" dirty="0">
                <a:latin typeface="Arial"/>
                <a:cs typeface="Arial"/>
              </a:rPr>
              <a:t> </a:t>
            </a:r>
            <a:r>
              <a:rPr sz="2200" dirty="0">
                <a:latin typeface="Arial"/>
                <a:cs typeface="Arial"/>
              </a:rPr>
              <a:t>frames</a:t>
            </a:r>
            <a:r>
              <a:rPr sz="2200" spc="-70" dirty="0">
                <a:latin typeface="Arial"/>
                <a:cs typeface="Arial"/>
              </a:rPr>
              <a:t> </a:t>
            </a:r>
            <a:r>
              <a:rPr sz="2200" dirty="0">
                <a:latin typeface="Arial"/>
                <a:cs typeface="Arial"/>
              </a:rPr>
              <a:t>which</a:t>
            </a:r>
            <a:r>
              <a:rPr sz="2200" spc="-80" dirty="0">
                <a:latin typeface="Arial"/>
                <a:cs typeface="Arial"/>
              </a:rPr>
              <a:t> </a:t>
            </a:r>
            <a:r>
              <a:rPr sz="2200" dirty="0">
                <a:latin typeface="Arial"/>
                <a:cs typeface="Arial"/>
              </a:rPr>
              <a:t>determine</a:t>
            </a:r>
            <a:r>
              <a:rPr sz="2200" spc="-60" dirty="0">
                <a:latin typeface="Arial"/>
                <a:cs typeface="Arial"/>
              </a:rPr>
              <a:t> </a:t>
            </a:r>
            <a:r>
              <a:rPr sz="2200" dirty="0">
                <a:latin typeface="Arial"/>
                <a:cs typeface="Arial"/>
              </a:rPr>
              <a:t>what</a:t>
            </a:r>
            <a:r>
              <a:rPr sz="2200" spc="-80" dirty="0">
                <a:latin typeface="Arial"/>
                <a:cs typeface="Arial"/>
              </a:rPr>
              <a:t> </a:t>
            </a:r>
            <a:r>
              <a:rPr sz="2200" spc="-25" dirty="0">
                <a:latin typeface="Arial"/>
                <a:cs typeface="Arial"/>
              </a:rPr>
              <a:t>is </a:t>
            </a:r>
            <a:r>
              <a:rPr sz="2200" dirty="0">
                <a:latin typeface="Arial"/>
                <a:cs typeface="Arial"/>
              </a:rPr>
              <a:t>considered</a:t>
            </a:r>
            <a:r>
              <a:rPr sz="2200" spc="-70" dirty="0">
                <a:latin typeface="Arial"/>
                <a:cs typeface="Arial"/>
              </a:rPr>
              <a:t> </a:t>
            </a:r>
            <a:r>
              <a:rPr sz="2200" dirty="0">
                <a:latin typeface="Arial"/>
                <a:cs typeface="Arial"/>
              </a:rPr>
              <a:t>logical</a:t>
            </a:r>
            <a:r>
              <a:rPr sz="2200" spc="-65" dirty="0">
                <a:latin typeface="Arial"/>
                <a:cs typeface="Arial"/>
              </a:rPr>
              <a:t> </a:t>
            </a:r>
            <a:r>
              <a:rPr sz="2200" dirty="0">
                <a:latin typeface="Arial"/>
                <a:cs typeface="Arial"/>
              </a:rPr>
              <a:t>and</a:t>
            </a:r>
            <a:r>
              <a:rPr sz="2200" spc="-65" dirty="0">
                <a:latin typeface="Arial"/>
                <a:cs typeface="Arial"/>
              </a:rPr>
              <a:t> </a:t>
            </a:r>
            <a:r>
              <a:rPr sz="2200" dirty="0">
                <a:latin typeface="Arial"/>
                <a:cs typeface="Arial"/>
              </a:rPr>
              <a:t>rational</a:t>
            </a:r>
            <a:r>
              <a:rPr sz="2200" spc="-60" dirty="0">
                <a:latin typeface="Arial"/>
                <a:cs typeface="Arial"/>
              </a:rPr>
              <a:t> </a:t>
            </a:r>
            <a:r>
              <a:rPr sz="2200" dirty="0">
                <a:latin typeface="Arial"/>
                <a:cs typeface="Arial"/>
              </a:rPr>
              <a:t>in</a:t>
            </a:r>
            <a:r>
              <a:rPr sz="2200" spc="-60" dirty="0">
                <a:latin typeface="Arial"/>
                <a:cs typeface="Arial"/>
              </a:rPr>
              <a:t> </a:t>
            </a:r>
            <a:r>
              <a:rPr sz="2200" dirty="0">
                <a:latin typeface="Arial"/>
                <a:cs typeface="Arial"/>
              </a:rPr>
              <a:t>their</a:t>
            </a:r>
            <a:r>
              <a:rPr sz="2200" spc="-60" dirty="0">
                <a:latin typeface="Arial"/>
                <a:cs typeface="Arial"/>
              </a:rPr>
              <a:t> </a:t>
            </a:r>
            <a:r>
              <a:rPr sz="2200" dirty="0">
                <a:latin typeface="Arial"/>
                <a:cs typeface="Arial"/>
              </a:rPr>
              <a:t>cultures.</a:t>
            </a:r>
            <a:r>
              <a:rPr sz="2200" spc="-65" dirty="0">
                <a:latin typeface="Arial"/>
                <a:cs typeface="Arial"/>
              </a:rPr>
              <a:t> </a:t>
            </a:r>
            <a:r>
              <a:rPr sz="2200" dirty="0">
                <a:latin typeface="Arial"/>
                <a:cs typeface="Arial"/>
              </a:rPr>
              <a:t>Hence,</a:t>
            </a:r>
            <a:r>
              <a:rPr sz="2200" spc="-70" dirty="0">
                <a:latin typeface="Arial"/>
                <a:cs typeface="Arial"/>
              </a:rPr>
              <a:t> </a:t>
            </a:r>
            <a:r>
              <a:rPr sz="2200" dirty="0">
                <a:latin typeface="Arial"/>
                <a:cs typeface="Arial"/>
              </a:rPr>
              <a:t>people</a:t>
            </a:r>
            <a:r>
              <a:rPr sz="2200" spc="-65" dirty="0">
                <a:latin typeface="Arial"/>
                <a:cs typeface="Arial"/>
              </a:rPr>
              <a:t> </a:t>
            </a:r>
            <a:r>
              <a:rPr sz="2200" dirty="0">
                <a:latin typeface="Arial"/>
                <a:cs typeface="Arial"/>
              </a:rPr>
              <a:t>think</a:t>
            </a:r>
            <a:r>
              <a:rPr sz="2200" spc="-60" dirty="0">
                <a:latin typeface="Arial"/>
                <a:cs typeface="Arial"/>
              </a:rPr>
              <a:t> </a:t>
            </a:r>
            <a:r>
              <a:rPr sz="2200" spc="-10" dirty="0">
                <a:latin typeface="Arial"/>
                <a:cs typeface="Arial"/>
              </a:rPr>
              <a:t>differently, </a:t>
            </a:r>
            <a:r>
              <a:rPr sz="2200" dirty="0">
                <a:latin typeface="Arial"/>
                <a:cs typeface="Arial"/>
              </a:rPr>
              <a:t>approach</a:t>
            </a:r>
            <a:r>
              <a:rPr sz="2200" spc="-85" dirty="0">
                <a:latin typeface="Arial"/>
                <a:cs typeface="Arial"/>
              </a:rPr>
              <a:t> </a:t>
            </a:r>
            <a:r>
              <a:rPr sz="2200" dirty="0">
                <a:latin typeface="Arial"/>
                <a:cs typeface="Arial"/>
              </a:rPr>
              <a:t>business</a:t>
            </a:r>
            <a:r>
              <a:rPr sz="2200" spc="-100" dirty="0">
                <a:latin typeface="Arial"/>
                <a:cs typeface="Arial"/>
              </a:rPr>
              <a:t> </a:t>
            </a:r>
            <a:r>
              <a:rPr sz="2200" dirty="0">
                <a:latin typeface="Arial"/>
                <a:cs typeface="Arial"/>
              </a:rPr>
              <a:t>problems</a:t>
            </a:r>
            <a:r>
              <a:rPr sz="2200" spc="-85" dirty="0">
                <a:latin typeface="Arial"/>
                <a:cs typeface="Arial"/>
              </a:rPr>
              <a:t> </a:t>
            </a:r>
            <a:r>
              <a:rPr sz="2200" spc="-20" dirty="0">
                <a:latin typeface="Arial"/>
                <a:cs typeface="Arial"/>
              </a:rPr>
              <a:t>differently,</a:t>
            </a:r>
            <a:r>
              <a:rPr sz="2200" spc="-90" dirty="0">
                <a:latin typeface="Arial"/>
                <a:cs typeface="Arial"/>
              </a:rPr>
              <a:t> </a:t>
            </a:r>
            <a:r>
              <a:rPr sz="2200" dirty="0">
                <a:latin typeface="Arial"/>
                <a:cs typeface="Arial"/>
              </a:rPr>
              <a:t>and</a:t>
            </a:r>
            <a:r>
              <a:rPr sz="2200" spc="-90" dirty="0">
                <a:latin typeface="Arial"/>
                <a:cs typeface="Arial"/>
              </a:rPr>
              <a:t> </a:t>
            </a:r>
            <a:r>
              <a:rPr sz="2200" dirty="0">
                <a:latin typeface="Arial"/>
                <a:cs typeface="Arial"/>
              </a:rPr>
              <a:t>communicate</a:t>
            </a:r>
            <a:r>
              <a:rPr sz="2200" spc="-75" dirty="0">
                <a:latin typeface="Arial"/>
                <a:cs typeface="Arial"/>
              </a:rPr>
              <a:t> </a:t>
            </a:r>
            <a:r>
              <a:rPr sz="2200" spc="-10" dirty="0">
                <a:latin typeface="Arial"/>
                <a:cs typeface="Arial"/>
              </a:rPr>
              <a:t>differently.</a:t>
            </a:r>
            <a:endParaRPr sz="2200">
              <a:latin typeface="Arial"/>
              <a:cs typeface="Arial"/>
            </a:endParaRPr>
          </a:p>
          <a:p>
            <a:pPr>
              <a:lnSpc>
                <a:spcPct val="100000"/>
              </a:lnSpc>
              <a:spcBef>
                <a:spcPts val="5"/>
              </a:spcBef>
            </a:pPr>
            <a:endParaRPr sz="2150">
              <a:latin typeface="Arial"/>
              <a:cs typeface="Arial"/>
            </a:endParaRPr>
          </a:p>
          <a:p>
            <a:pPr marL="12700">
              <a:lnSpc>
                <a:spcPts val="2510"/>
              </a:lnSpc>
            </a:pPr>
            <a:r>
              <a:rPr sz="2200" dirty="0">
                <a:latin typeface="Arial"/>
                <a:cs typeface="Arial"/>
              </a:rPr>
              <a:t>The</a:t>
            </a:r>
            <a:r>
              <a:rPr sz="2200" spc="-40" dirty="0">
                <a:latin typeface="Arial"/>
                <a:cs typeface="Arial"/>
              </a:rPr>
              <a:t> </a:t>
            </a:r>
            <a:r>
              <a:rPr sz="2200" dirty="0">
                <a:latin typeface="Arial"/>
                <a:cs typeface="Arial"/>
              </a:rPr>
              <a:t>channels,</a:t>
            </a:r>
            <a:r>
              <a:rPr sz="2200" spc="-60" dirty="0">
                <a:latin typeface="Arial"/>
                <a:cs typeface="Arial"/>
              </a:rPr>
              <a:t> </a:t>
            </a:r>
            <a:r>
              <a:rPr sz="2200" dirty="0">
                <a:latin typeface="Arial"/>
                <a:cs typeface="Arial"/>
              </a:rPr>
              <a:t>levels</a:t>
            </a:r>
            <a:r>
              <a:rPr sz="2200" spc="-50" dirty="0">
                <a:latin typeface="Arial"/>
                <a:cs typeface="Arial"/>
              </a:rPr>
              <a:t> </a:t>
            </a:r>
            <a:r>
              <a:rPr sz="2200" dirty="0">
                <a:latin typeface="Arial"/>
                <a:cs typeface="Arial"/>
              </a:rPr>
              <a:t>of</a:t>
            </a:r>
            <a:r>
              <a:rPr sz="2200" spc="-50" dirty="0">
                <a:latin typeface="Arial"/>
                <a:cs typeface="Arial"/>
              </a:rPr>
              <a:t> </a:t>
            </a:r>
            <a:r>
              <a:rPr sz="2200" spc="-20" dirty="0">
                <a:latin typeface="Arial"/>
                <a:cs typeface="Arial"/>
              </a:rPr>
              <a:t>formality,</a:t>
            </a:r>
            <a:r>
              <a:rPr sz="2200" spc="-30" dirty="0">
                <a:latin typeface="Arial"/>
                <a:cs typeface="Arial"/>
              </a:rPr>
              <a:t> </a:t>
            </a:r>
            <a:r>
              <a:rPr sz="2200" dirty="0">
                <a:latin typeface="Arial"/>
                <a:cs typeface="Arial"/>
              </a:rPr>
              <a:t>use</a:t>
            </a:r>
            <a:r>
              <a:rPr sz="2200" spc="-55" dirty="0">
                <a:latin typeface="Arial"/>
                <a:cs typeface="Arial"/>
              </a:rPr>
              <a:t> </a:t>
            </a:r>
            <a:r>
              <a:rPr sz="2200" dirty="0">
                <a:latin typeface="Arial"/>
                <a:cs typeface="Arial"/>
              </a:rPr>
              <a:t>of</a:t>
            </a:r>
            <a:r>
              <a:rPr sz="2200" spc="-50" dirty="0">
                <a:latin typeface="Arial"/>
                <a:cs typeface="Arial"/>
              </a:rPr>
              <a:t> </a:t>
            </a:r>
            <a:r>
              <a:rPr sz="2200" spc="-20" dirty="0">
                <a:latin typeface="Arial"/>
                <a:cs typeface="Arial"/>
              </a:rPr>
              <a:t>technology,</a:t>
            </a:r>
            <a:r>
              <a:rPr sz="2200" spc="-40" dirty="0">
                <a:latin typeface="Arial"/>
                <a:cs typeface="Arial"/>
              </a:rPr>
              <a:t> </a:t>
            </a:r>
            <a:r>
              <a:rPr sz="2200" dirty="0">
                <a:latin typeface="Arial"/>
                <a:cs typeface="Arial"/>
              </a:rPr>
              <a:t>content</a:t>
            </a:r>
            <a:r>
              <a:rPr sz="2200" spc="-55" dirty="0">
                <a:latin typeface="Arial"/>
                <a:cs typeface="Arial"/>
              </a:rPr>
              <a:t> </a:t>
            </a:r>
            <a:r>
              <a:rPr sz="2200" dirty="0">
                <a:latin typeface="Arial"/>
                <a:cs typeface="Arial"/>
              </a:rPr>
              <a:t>and</a:t>
            </a:r>
            <a:r>
              <a:rPr sz="2200" spc="-35" dirty="0">
                <a:latin typeface="Arial"/>
                <a:cs typeface="Arial"/>
              </a:rPr>
              <a:t> </a:t>
            </a:r>
            <a:r>
              <a:rPr sz="2200" dirty="0">
                <a:latin typeface="Arial"/>
                <a:cs typeface="Arial"/>
              </a:rPr>
              <a:t>style</a:t>
            </a:r>
            <a:r>
              <a:rPr sz="2200" spc="-55" dirty="0">
                <a:latin typeface="Arial"/>
                <a:cs typeface="Arial"/>
              </a:rPr>
              <a:t> </a:t>
            </a:r>
            <a:r>
              <a:rPr sz="2200" dirty="0">
                <a:latin typeface="Arial"/>
                <a:cs typeface="Arial"/>
              </a:rPr>
              <a:t>of</a:t>
            </a:r>
            <a:r>
              <a:rPr sz="2200" spc="-50" dirty="0">
                <a:latin typeface="Arial"/>
                <a:cs typeface="Arial"/>
              </a:rPr>
              <a:t> </a:t>
            </a:r>
            <a:r>
              <a:rPr sz="2200" spc="-10" dirty="0">
                <a:latin typeface="Arial"/>
                <a:cs typeface="Arial"/>
              </a:rPr>
              <a:t>delivery</a:t>
            </a:r>
            <a:endParaRPr sz="2200">
              <a:latin typeface="Arial"/>
              <a:cs typeface="Arial"/>
            </a:endParaRPr>
          </a:p>
          <a:p>
            <a:pPr marL="12700">
              <a:lnSpc>
                <a:spcPts val="2510"/>
              </a:lnSpc>
            </a:pPr>
            <a:r>
              <a:rPr sz="2200" dirty="0">
                <a:latin typeface="Arial"/>
                <a:cs typeface="Arial"/>
              </a:rPr>
              <a:t>are</a:t>
            </a:r>
            <a:r>
              <a:rPr sz="2200" spc="-60" dirty="0">
                <a:latin typeface="Arial"/>
                <a:cs typeface="Arial"/>
              </a:rPr>
              <a:t> </a:t>
            </a:r>
            <a:r>
              <a:rPr sz="2200" dirty="0">
                <a:latin typeface="Arial"/>
                <a:cs typeface="Arial"/>
              </a:rPr>
              <a:t>influenced</a:t>
            </a:r>
            <a:r>
              <a:rPr sz="2200" spc="-80" dirty="0">
                <a:latin typeface="Arial"/>
                <a:cs typeface="Arial"/>
              </a:rPr>
              <a:t> </a:t>
            </a:r>
            <a:r>
              <a:rPr sz="2200" dirty="0">
                <a:latin typeface="Arial"/>
                <a:cs typeface="Arial"/>
              </a:rPr>
              <a:t>by</a:t>
            </a:r>
            <a:r>
              <a:rPr sz="2200" spc="-65" dirty="0">
                <a:latin typeface="Arial"/>
                <a:cs typeface="Arial"/>
              </a:rPr>
              <a:t> </a:t>
            </a:r>
            <a:r>
              <a:rPr sz="2200" dirty="0">
                <a:latin typeface="Arial"/>
                <a:cs typeface="Arial"/>
              </a:rPr>
              <a:t>cultural</a:t>
            </a:r>
            <a:r>
              <a:rPr sz="2200" spc="-65" dirty="0">
                <a:latin typeface="Arial"/>
                <a:cs typeface="Arial"/>
              </a:rPr>
              <a:t> </a:t>
            </a:r>
            <a:r>
              <a:rPr sz="2200" dirty="0">
                <a:latin typeface="Arial"/>
                <a:cs typeface="Arial"/>
              </a:rPr>
              <a:t>and</a:t>
            </a:r>
            <a:r>
              <a:rPr sz="2200" spc="-70" dirty="0">
                <a:latin typeface="Arial"/>
                <a:cs typeface="Arial"/>
              </a:rPr>
              <a:t> </a:t>
            </a:r>
            <a:r>
              <a:rPr sz="2200" dirty="0">
                <a:latin typeface="Arial"/>
                <a:cs typeface="Arial"/>
              </a:rPr>
              <a:t>business</a:t>
            </a:r>
            <a:r>
              <a:rPr sz="2200" spc="-70" dirty="0">
                <a:latin typeface="Arial"/>
                <a:cs typeface="Arial"/>
              </a:rPr>
              <a:t> </a:t>
            </a:r>
            <a:r>
              <a:rPr sz="2200" spc="-10" dirty="0">
                <a:latin typeface="Arial"/>
                <a:cs typeface="Arial"/>
              </a:rPr>
              <a:t>considerations.</a:t>
            </a:r>
            <a:endParaRPr sz="2200">
              <a:latin typeface="Arial"/>
              <a:cs typeface="Arial"/>
            </a:endParaRPr>
          </a:p>
          <a:p>
            <a:pPr>
              <a:lnSpc>
                <a:spcPct val="100000"/>
              </a:lnSpc>
              <a:spcBef>
                <a:spcPts val="45"/>
              </a:spcBef>
            </a:pPr>
            <a:endParaRPr sz="2400">
              <a:latin typeface="Arial"/>
              <a:cs typeface="Arial"/>
            </a:endParaRPr>
          </a:p>
          <a:p>
            <a:pPr marL="12700" marR="725805">
              <a:lnSpc>
                <a:spcPts val="2380"/>
              </a:lnSpc>
            </a:pPr>
            <a:r>
              <a:rPr sz="2200" dirty="0">
                <a:latin typeface="Arial"/>
                <a:cs typeface="Arial"/>
              </a:rPr>
              <a:t>The</a:t>
            </a:r>
            <a:r>
              <a:rPr sz="2200" spc="-35" dirty="0">
                <a:latin typeface="Arial"/>
                <a:cs typeface="Arial"/>
              </a:rPr>
              <a:t> </a:t>
            </a:r>
            <a:r>
              <a:rPr sz="2200" dirty="0">
                <a:latin typeface="Arial"/>
                <a:cs typeface="Arial"/>
              </a:rPr>
              <a:t>objectives</a:t>
            </a:r>
            <a:r>
              <a:rPr sz="2200" spc="-45" dirty="0">
                <a:latin typeface="Arial"/>
                <a:cs typeface="Arial"/>
              </a:rPr>
              <a:t> </a:t>
            </a:r>
            <a:r>
              <a:rPr sz="2200" dirty="0">
                <a:latin typeface="Arial"/>
                <a:cs typeface="Arial"/>
              </a:rPr>
              <a:t>of</a:t>
            </a:r>
            <a:r>
              <a:rPr sz="2200" spc="-35" dirty="0">
                <a:latin typeface="Arial"/>
                <a:cs typeface="Arial"/>
              </a:rPr>
              <a:t> </a:t>
            </a:r>
            <a:r>
              <a:rPr sz="2200" dirty="0">
                <a:latin typeface="Arial"/>
                <a:cs typeface="Arial"/>
              </a:rPr>
              <a:t>the</a:t>
            </a:r>
            <a:r>
              <a:rPr sz="2200" spc="-45" dirty="0">
                <a:latin typeface="Arial"/>
                <a:cs typeface="Arial"/>
              </a:rPr>
              <a:t> </a:t>
            </a:r>
            <a:r>
              <a:rPr sz="2200" dirty="0">
                <a:latin typeface="Arial"/>
                <a:cs typeface="Arial"/>
              </a:rPr>
              <a:t>business,</a:t>
            </a:r>
            <a:r>
              <a:rPr sz="2200" spc="-55" dirty="0">
                <a:latin typeface="Arial"/>
                <a:cs typeface="Arial"/>
              </a:rPr>
              <a:t> </a:t>
            </a:r>
            <a:r>
              <a:rPr sz="2200" dirty="0">
                <a:latin typeface="Arial"/>
                <a:cs typeface="Arial"/>
              </a:rPr>
              <a:t>the</a:t>
            </a:r>
            <a:r>
              <a:rPr sz="2200" spc="-45" dirty="0">
                <a:latin typeface="Arial"/>
                <a:cs typeface="Arial"/>
              </a:rPr>
              <a:t> </a:t>
            </a:r>
            <a:r>
              <a:rPr sz="2200" dirty="0">
                <a:latin typeface="Arial"/>
                <a:cs typeface="Arial"/>
              </a:rPr>
              <a:t>level</a:t>
            </a:r>
            <a:r>
              <a:rPr sz="2200" spc="-45" dirty="0">
                <a:latin typeface="Arial"/>
                <a:cs typeface="Arial"/>
              </a:rPr>
              <a:t> </a:t>
            </a:r>
            <a:r>
              <a:rPr sz="2200" dirty="0">
                <a:latin typeface="Arial"/>
                <a:cs typeface="Arial"/>
              </a:rPr>
              <a:t>of</a:t>
            </a:r>
            <a:r>
              <a:rPr sz="2200" spc="-45" dirty="0">
                <a:latin typeface="Arial"/>
                <a:cs typeface="Arial"/>
              </a:rPr>
              <a:t> </a:t>
            </a:r>
            <a:r>
              <a:rPr sz="2200" spc="-10" dirty="0">
                <a:latin typeface="Arial"/>
                <a:cs typeface="Arial"/>
              </a:rPr>
              <a:t>internationalization,</a:t>
            </a:r>
            <a:r>
              <a:rPr sz="2200" spc="-50" dirty="0">
                <a:latin typeface="Arial"/>
                <a:cs typeface="Arial"/>
              </a:rPr>
              <a:t> </a:t>
            </a:r>
            <a:r>
              <a:rPr sz="2200" dirty="0">
                <a:latin typeface="Arial"/>
                <a:cs typeface="Arial"/>
              </a:rPr>
              <a:t>the</a:t>
            </a:r>
            <a:r>
              <a:rPr sz="2200" spc="-45" dirty="0">
                <a:latin typeface="Arial"/>
                <a:cs typeface="Arial"/>
              </a:rPr>
              <a:t> </a:t>
            </a:r>
            <a:r>
              <a:rPr sz="2200" dirty="0">
                <a:latin typeface="Arial"/>
                <a:cs typeface="Arial"/>
              </a:rPr>
              <a:t>structure</a:t>
            </a:r>
            <a:r>
              <a:rPr sz="2200" spc="-30" dirty="0">
                <a:latin typeface="Arial"/>
                <a:cs typeface="Arial"/>
              </a:rPr>
              <a:t> </a:t>
            </a:r>
            <a:r>
              <a:rPr sz="2200" spc="-25" dirty="0">
                <a:latin typeface="Arial"/>
                <a:cs typeface="Arial"/>
              </a:rPr>
              <a:t>of </a:t>
            </a:r>
            <a:r>
              <a:rPr sz="2200" dirty="0">
                <a:latin typeface="Arial"/>
                <a:cs typeface="Arial"/>
              </a:rPr>
              <a:t>the</a:t>
            </a:r>
            <a:r>
              <a:rPr sz="2200" spc="-80" dirty="0">
                <a:latin typeface="Arial"/>
                <a:cs typeface="Arial"/>
              </a:rPr>
              <a:t> </a:t>
            </a:r>
            <a:r>
              <a:rPr sz="2200" dirty="0">
                <a:latin typeface="Arial"/>
                <a:cs typeface="Arial"/>
              </a:rPr>
              <a:t>organization</a:t>
            </a:r>
            <a:r>
              <a:rPr sz="2200" spc="-75" dirty="0">
                <a:latin typeface="Arial"/>
                <a:cs typeface="Arial"/>
              </a:rPr>
              <a:t> </a:t>
            </a:r>
            <a:r>
              <a:rPr sz="2200" dirty="0">
                <a:latin typeface="Arial"/>
                <a:cs typeface="Arial"/>
              </a:rPr>
              <a:t>will</a:t>
            </a:r>
            <a:r>
              <a:rPr sz="2200" spc="-75" dirty="0">
                <a:latin typeface="Arial"/>
                <a:cs typeface="Arial"/>
              </a:rPr>
              <a:t> </a:t>
            </a:r>
            <a:r>
              <a:rPr sz="2200" dirty="0">
                <a:latin typeface="Arial"/>
                <a:cs typeface="Arial"/>
              </a:rPr>
              <a:t>help</a:t>
            </a:r>
            <a:r>
              <a:rPr sz="2200" spc="-80" dirty="0">
                <a:latin typeface="Arial"/>
                <a:cs typeface="Arial"/>
              </a:rPr>
              <a:t> </a:t>
            </a:r>
            <a:r>
              <a:rPr sz="2200" dirty="0">
                <a:latin typeface="Arial"/>
                <a:cs typeface="Arial"/>
              </a:rPr>
              <a:t>determine</a:t>
            </a:r>
            <a:r>
              <a:rPr sz="2200" spc="-55" dirty="0">
                <a:latin typeface="Arial"/>
                <a:cs typeface="Arial"/>
              </a:rPr>
              <a:t> </a:t>
            </a:r>
            <a:r>
              <a:rPr sz="2200" dirty="0">
                <a:latin typeface="Arial"/>
                <a:cs typeface="Arial"/>
              </a:rPr>
              <a:t>the</a:t>
            </a:r>
            <a:r>
              <a:rPr sz="2200" spc="-75" dirty="0">
                <a:latin typeface="Arial"/>
                <a:cs typeface="Arial"/>
              </a:rPr>
              <a:t> </a:t>
            </a:r>
            <a:r>
              <a:rPr sz="2200" dirty="0">
                <a:latin typeface="Arial"/>
                <a:cs typeface="Arial"/>
              </a:rPr>
              <a:t>intercultural</a:t>
            </a:r>
            <a:r>
              <a:rPr sz="2200" spc="-80" dirty="0">
                <a:latin typeface="Arial"/>
                <a:cs typeface="Arial"/>
              </a:rPr>
              <a:t> </a:t>
            </a:r>
            <a:r>
              <a:rPr sz="2200" dirty="0">
                <a:latin typeface="Arial"/>
                <a:cs typeface="Arial"/>
              </a:rPr>
              <a:t>business</a:t>
            </a:r>
            <a:r>
              <a:rPr sz="2200" spc="-80" dirty="0">
                <a:latin typeface="Arial"/>
                <a:cs typeface="Arial"/>
              </a:rPr>
              <a:t> </a:t>
            </a:r>
            <a:r>
              <a:rPr sz="2200" spc="-10" dirty="0">
                <a:latin typeface="Arial"/>
                <a:cs typeface="Arial"/>
              </a:rPr>
              <a:t>communication strategy.</a:t>
            </a:r>
            <a:endParaRPr sz="2200">
              <a:latin typeface="Arial"/>
              <a:cs typeface="Arial"/>
            </a:endParaRPr>
          </a:p>
          <a:p>
            <a:pPr>
              <a:lnSpc>
                <a:spcPct val="100000"/>
              </a:lnSpc>
            </a:pPr>
            <a:endParaRPr sz="2400">
              <a:latin typeface="Arial"/>
              <a:cs typeface="Arial"/>
            </a:endParaRPr>
          </a:p>
          <a:p>
            <a:pPr marL="12700" marR="757555">
              <a:lnSpc>
                <a:spcPts val="2380"/>
              </a:lnSpc>
              <a:spcBef>
                <a:spcPts val="5"/>
              </a:spcBef>
            </a:pPr>
            <a:r>
              <a:rPr sz="2200" dirty="0">
                <a:latin typeface="Arial"/>
                <a:cs typeface="Arial"/>
              </a:rPr>
              <a:t>A</a:t>
            </a:r>
            <a:r>
              <a:rPr sz="2200" spc="-155" dirty="0">
                <a:latin typeface="Arial"/>
                <a:cs typeface="Arial"/>
              </a:rPr>
              <a:t> </a:t>
            </a:r>
            <a:r>
              <a:rPr sz="2200" spc="-10" dirty="0">
                <a:latin typeface="Arial"/>
                <a:cs typeface="Arial"/>
              </a:rPr>
              <a:t>communication</a:t>
            </a:r>
            <a:r>
              <a:rPr sz="2200" spc="-60" dirty="0">
                <a:latin typeface="Arial"/>
                <a:cs typeface="Arial"/>
              </a:rPr>
              <a:t> </a:t>
            </a:r>
            <a:r>
              <a:rPr sz="2200" dirty="0">
                <a:latin typeface="Arial"/>
                <a:cs typeface="Arial"/>
              </a:rPr>
              <a:t>strategy</a:t>
            </a:r>
            <a:r>
              <a:rPr sz="2200" spc="-45" dirty="0">
                <a:latin typeface="Arial"/>
                <a:cs typeface="Arial"/>
              </a:rPr>
              <a:t> </a:t>
            </a:r>
            <a:r>
              <a:rPr sz="2200" dirty="0">
                <a:latin typeface="Arial"/>
                <a:cs typeface="Arial"/>
              </a:rPr>
              <a:t>that</a:t>
            </a:r>
            <a:r>
              <a:rPr sz="2200" spc="-45" dirty="0">
                <a:latin typeface="Arial"/>
                <a:cs typeface="Arial"/>
              </a:rPr>
              <a:t> </a:t>
            </a:r>
            <a:r>
              <a:rPr sz="2200" dirty="0">
                <a:latin typeface="Arial"/>
                <a:cs typeface="Arial"/>
              </a:rPr>
              <a:t>does</a:t>
            </a:r>
            <a:r>
              <a:rPr sz="2200" spc="-50" dirty="0">
                <a:latin typeface="Arial"/>
                <a:cs typeface="Arial"/>
              </a:rPr>
              <a:t> </a:t>
            </a:r>
            <a:r>
              <a:rPr sz="2200" dirty="0">
                <a:latin typeface="Arial"/>
                <a:cs typeface="Arial"/>
              </a:rPr>
              <a:t>not</a:t>
            </a:r>
            <a:r>
              <a:rPr sz="2200" spc="-55" dirty="0">
                <a:latin typeface="Arial"/>
                <a:cs typeface="Arial"/>
              </a:rPr>
              <a:t> </a:t>
            </a:r>
            <a:r>
              <a:rPr sz="2200" dirty="0">
                <a:latin typeface="Arial"/>
                <a:cs typeface="Arial"/>
              </a:rPr>
              <a:t>take</a:t>
            </a:r>
            <a:r>
              <a:rPr sz="2200" spc="-55" dirty="0">
                <a:latin typeface="Arial"/>
                <a:cs typeface="Arial"/>
              </a:rPr>
              <a:t> </a:t>
            </a:r>
            <a:r>
              <a:rPr sz="2200" dirty="0">
                <a:latin typeface="Arial"/>
                <a:cs typeface="Arial"/>
              </a:rPr>
              <a:t>the</a:t>
            </a:r>
            <a:r>
              <a:rPr sz="2200" spc="-60" dirty="0">
                <a:latin typeface="Arial"/>
                <a:cs typeface="Arial"/>
              </a:rPr>
              <a:t> </a:t>
            </a:r>
            <a:r>
              <a:rPr sz="2200" dirty="0">
                <a:latin typeface="Arial"/>
                <a:cs typeface="Arial"/>
              </a:rPr>
              <a:t>specific</a:t>
            </a:r>
            <a:r>
              <a:rPr sz="2200" spc="-55" dirty="0">
                <a:latin typeface="Arial"/>
                <a:cs typeface="Arial"/>
              </a:rPr>
              <a:t> </a:t>
            </a:r>
            <a:r>
              <a:rPr sz="2200" dirty="0">
                <a:latin typeface="Arial"/>
                <a:cs typeface="Arial"/>
              </a:rPr>
              <a:t>business</a:t>
            </a:r>
            <a:r>
              <a:rPr sz="2200" spc="-60" dirty="0">
                <a:latin typeface="Arial"/>
                <a:cs typeface="Arial"/>
              </a:rPr>
              <a:t> </a:t>
            </a:r>
            <a:r>
              <a:rPr sz="2200" dirty="0">
                <a:latin typeface="Arial"/>
                <a:cs typeface="Arial"/>
              </a:rPr>
              <a:t>context</a:t>
            </a:r>
            <a:r>
              <a:rPr sz="2200" spc="-50" dirty="0">
                <a:latin typeface="Arial"/>
                <a:cs typeface="Arial"/>
              </a:rPr>
              <a:t> </a:t>
            </a:r>
            <a:r>
              <a:rPr sz="2200" spc="-20" dirty="0">
                <a:latin typeface="Arial"/>
                <a:cs typeface="Arial"/>
              </a:rPr>
              <a:t>into </a:t>
            </a:r>
            <a:r>
              <a:rPr sz="2200" dirty="0">
                <a:latin typeface="Arial"/>
                <a:cs typeface="Arial"/>
              </a:rPr>
              <a:t>consideration</a:t>
            </a:r>
            <a:r>
              <a:rPr sz="2200" spc="-70" dirty="0">
                <a:latin typeface="Arial"/>
                <a:cs typeface="Arial"/>
              </a:rPr>
              <a:t> </a:t>
            </a:r>
            <a:r>
              <a:rPr sz="2200" dirty="0">
                <a:latin typeface="Arial"/>
                <a:cs typeface="Arial"/>
              </a:rPr>
              <a:t>will</a:t>
            </a:r>
            <a:r>
              <a:rPr sz="2200" spc="-70" dirty="0">
                <a:latin typeface="Arial"/>
                <a:cs typeface="Arial"/>
              </a:rPr>
              <a:t> </a:t>
            </a:r>
            <a:r>
              <a:rPr sz="2200" dirty="0">
                <a:latin typeface="Arial"/>
                <a:cs typeface="Arial"/>
              </a:rPr>
              <a:t>not</a:t>
            </a:r>
            <a:r>
              <a:rPr sz="2200" spc="-60" dirty="0">
                <a:latin typeface="Arial"/>
                <a:cs typeface="Arial"/>
              </a:rPr>
              <a:t> </a:t>
            </a:r>
            <a:r>
              <a:rPr sz="2200" dirty="0">
                <a:latin typeface="Arial"/>
                <a:cs typeface="Arial"/>
              </a:rPr>
              <a:t>be</a:t>
            </a:r>
            <a:r>
              <a:rPr sz="2200" spc="-65" dirty="0">
                <a:latin typeface="Arial"/>
                <a:cs typeface="Arial"/>
              </a:rPr>
              <a:t> </a:t>
            </a:r>
            <a:r>
              <a:rPr sz="2200" spc="-10" dirty="0">
                <a:latin typeface="Arial"/>
                <a:cs typeface="Arial"/>
              </a:rPr>
              <a:t>effective.</a:t>
            </a:r>
            <a:endParaRPr sz="2200">
              <a:latin typeface="Arial"/>
              <a:cs typeface="Arial"/>
            </a:endParaRPr>
          </a:p>
          <a:p>
            <a:pPr marR="5080" algn="r">
              <a:lnSpc>
                <a:spcPct val="100000"/>
              </a:lnSpc>
              <a:spcBef>
                <a:spcPts val="1475"/>
              </a:spcBef>
            </a:pPr>
            <a:r>
              <a:rPr sz="2000" spc="-20" dirty="0">
                <a:latin typeface="Arial"/>
                <a:cs typeface="Arial"/>
              </a:rPr>
              <a:t>Varner</a:t>
            </a:r>
            <a:r>
              <a:rPr sz="2000" spc="-90" dirty="0">
                <a:latin typeface="Arial"/>
                <a:cs typeface="Arial"/>
              </a:rPr>
              <a:t> </a:t>
            </a:r>
            <a:r>
              <a:rPr sz="2000" spc="-10" dirty="0">
                <a:latin typeface="Arial"/>
                <a:cs typeface="Arial"/>
              </a:rPr>
              <a:t>(2000)</a:t>
            </a:r>
            <a:endParaRPr sz="2000">
              <a:latin typeface="Arial"/>
              <a:cs typeface="Arial"/>
            </a:endParaRPr>
          </a:p>
        </p:txBody>
      </p:sp>
      <p:sp>
        <p:nvSpPr>
          <p:cNvPr id="3" name="object 3"/>
          <p:cNvSpPr txBox="1">
            <a:spLocks noGrp="1"/>
          </p:cNvSpPr>
          <p:nvPr>
            <p:ph type="title"/>
          </p:nvPr>
        </p:nvSpPr>
        <p:spPr>
          <a:xfrm>
            <a:off x="574240" y="357188"/>
            <a:ext cx="9716916" cy="673646"/>
          </a:xfrm>
          <a:prstGeom prst="rect">
            <a:avLst/>
          </a:prstGeom>
        </p:spPr>
        <p:txBody>
          <a:bodyPr vert="horz" wrap="square" lIns="0" tIns="240411" rIns="0" bIns="0" rtlCol="0">
            <a:spAutoFit/>
          </a:bodyPr>
          <a:lstStyle/>
          <a:p>
            <a:pPr marL="443865" algn="ctr">
              <a:lnSpc>
                <a:spcPct val="100000"/>
              </a:lnSpc>
              <a:spcBef>
                <a:spcPts val="95"/>
              </a:spcBef>
            </a:pPr>
            <a:r>
              <a:rPr lang="en-GB" sz="2800" dirty="0"/>
              <a:t>INTERCULTURAL</a:t>
            </a:r>
            <a:r>
              <a:rPr lang="en-GB" sz="2800" spc="-140" dirty="0"/>
              <a:t> </a:t>
            </a:r>
            <a:r>
              <a:rPr lang="en-GB" sz="2800" dirty="0"/>
              <a:t>BUSINESS</a:t>
            </a:r>
            <a:r>
              <a:rPr lang="en-GB" sz="2800" spc="-120" dirty="0"/>
              <a:t> </a:t>
            </a:r>
            <a:r>
              <a:rPr lang="en-GB" sz="2800" spc="-10" dirty="0"/>
              <a:t>COMMUNICATION STRATEGY</a:t>
            </a:r>
            <a:endParaRPr lang="en-GB"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558E-F427-4C4C-8CC3-5765E8F17729}"/>
              </a:ext>
            </a:extLst>
          </p:cNvPr>
          <p:cNvSpPr>
            <a:spLocks noGrp="1"/>
          </p:cNvSpPr>
          <p:nvPr>
            <p:ph type="title"/>
          </p:nvPr>
        </p:nvSpPr>
        <p:spPr/>
        <p:txBody>
          <a:bodyPr/>
          <a:lstStyle/>
          <a:p>
            <a:r>
              <a:rPr lang="en-GB" sz="3600" dirty="0"/>
              <a:t>DRIVING FORCES OF INTERCULTURAL COMMUNICATION</a:t>
            </a:r>
          </a:p>
        </p:txBody>
      </p:sp>
      <p:sp>
        <p:nvSpPr>
          <p:cNvPr id="3" name="Text Placeholder 2">
            <a:extLst>
              <a:ext uri="{FF2B5EF4-FFF2-40B4-BE49-F238E27FC236}">
                <a16:creationId xmlns:a16="http://schemas.microsoft.com/office/drawing/2014/main" id="{3C9CF2B3-F002-47E1-9074-4A05658CD7F0}"/>
              </a:ext>
            </a:extLst>
          </p:cNvPr>
          <p:cNvSpPr>
            <a:spLocks noGrp="1"/>
          </p:cNvSpPr>
          <p:nvPr>
            <p:ph idx="14"/>
          </p:nvPr>
        </p:nvSpPr>
        <p:spPr>
          <a:xfrm>
            <a:off x="574240" y="939800"/>
            <a:ext cx="10980451" cy="4263967"/>
          </a:xfrm>
        </p:spPr>
        <p:txBody>
          <a:bodyPr/>
          <a:lstStyle/>
          <a:p>
            <a:pPr marL="342900" indent="-342900">
              <a:buFont typeface="Arial" panose="020B0604020202020204" pitchFamily="34" charset="0"/>
              <a:buChar char="•"/>
            </a:pPr>
            <a:r>
              <a:rPr lang="en-GB" sz="2600" dirty="0"/>
              <a:t>Globalisation</a:t>
            </a:r>
          </a:p>
          <a:p>
            <a:pPr marL="342900" indent="-342900">
              <a:buFont typeface="Arial" panose="020B0604020202020204" pitchFamily="34" charset="0"/>
              <a:buChar char="•"/>
            </a:pPr>
            <a:r>
              <a:rPr lang="en-GB" sz="2600" dirty="0"/>
              <a:t>Continuous organisational change</a:t>
            </a:r>
          </a:p>
          <a:p>
            <a:pPr marL="342900" indent="-342900">
              <a:buFont typeface="Arial" panose="020B0604020202020204" pitchFamily="34" charset="0"/>
              <a:buChar char="•"/>
            </a:pPr>
            <a:r>
              <a:rPr lang="en-GB" sz="2600" dirty="0"/>
              <a:t>Communication technology</a:t>
            </a:r>
          </a:p>
        </p:txBody>
      </p:sp>
      <p:sp>
        <p:nvSpPr>
          <p:cNvPr id="5" name="TextBox 4">
            <a:extLst>
              <a:ext uri="{FF2B5EF4-FFF2-40B4-BE49-F238E27FC236}">
                <a16:creationId xmlns:a16="http://schemas.microsoft.com/office/drawing/2014/main" id="{783FBA9A-D4A4-4EC3-BF0F-165754C9DB5E}"/>
              </a:ext>
            </a:extLst>
          </p:cNvPr>
          <p:cNvSpPr txBox="1"/>
          <p:nvPr/>
        </p:nvSpPr>
        <p:spPr>
          <a:xfrm>
            <a:off x="1208227" y="2349500"/>
            <a:ext cx="10158273" cy="3293209"/>
          </a:xfrm>
          <a:prstGeom prst="rect">
            <a:avLst/>
          </a:prstGeom>
          <a:noFill/>
        </p:spPr>
        <p:txBody>
          <a:bodyPr wrap="square" rtlCol="0">
            <a:spAutoFit/>
          </a:bodyPr>
          <a:lstStyle/>
          <a:p>
            <a:r>
              <a:rPr lang="en-GB" sz="2600" dirty="0"/>
              <a:t>Language is a driving force of Globalisation together with technology.</a:t>
            </a:r>
            <a:r>
              <a:rPr lang="en-GB" sz="2600" dirty="0">
                <a:solidFill>
                  <a:srgbClr val="FF0000"/>
                </a:solidFill>
              </a:rPr>
              <a:t> Language is an Enabler!</a:t>
            </a:r>
          </a:p>
          <a:p>
            <a:endParaRPr lang="en-GB" sz="2600" dirty="0"/>
          </a:p>
          <a:p>
            <a:r>
              <a:rPr lang="en-GB" sz="2600" dirty="0"/>
              <a:t>Research shows that more business is done between non-native speakers of English than between native speakers of English. </a:t>
            </a:r>
          </a:p>
          <a:p>
            <a:endParaRPr lang="en-GB" sz="2600" dirty="0">
              <a:solidFill>
                <a:srgbClr val="FF0000"/>
              </a:solidFill>
            </a:endParaRPr>
          </a:p>
          <a:p>
            <a:r>
              <a:rPr lang="en-GB" sz="2600" dirty="0">
                <a:solidFill>
                  <a:schemeClr val="tx1"/>
                </a:solidFill>
              </a:rPr>
              <a:t>Research also shows that Verbal Communication plays a primordial role in intercultural communication</a:t>
            </a:r>
          </a:p>
        </p:txBody>
      </p:sp>
    </p:spTree>
    <p:extLst>
      <p:ext uri="{BB962C8B-B14F-4D97-AF65-F5344CB8AC3E}">
        <p14:creationId xmlns:p14="http://schemas.microsoft.com/office/powerpoint/2010/main" val="1990918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7B58-99C2-5CD8-09CE-F2A880E84DB6}"/>
              </a:ext>
            </a:extLst>
          </p:cNvPr>
          <p:cNvSpPr>
            <a:spLocks noGrp="1"/>
          </p:cNvSpPr>
          <p:nvPr>
            <p:ph type="title"/>
          </p:nvPr>
        </p:nvSpPr>
        <p:spPr/>
        <p:txBody>
          <a:bodyPr/>
          <a:lstStyle/>
          <a:p>
            <a:r>
              <a:rPr lang="en-GB" sz="4400" dirty="0"/>
              <a:t>Summary of communication across cultures Part 2.</a:t>
            </a:r>
          </a:p>
        </p:txBody>
      </p:sp>
      <p:sp>
        <p:nvSpPr>
          <p:cNvPr id="3" name="Content Placeholder 2">
            <a:extLst>
              <a:ext uri="{FF2B5EF4-FFF2-40B4-BE49-F238E27FC236}">
                <a16:creationId xmlns:a16="http://schemas.microsoft.com/office/drawing/2014/main" id="{1869CE27-B9EB-37C2-427C-9EF35AF941D7}"/>
              </a:ext>
            </a:extLst>
          </p:cNvPr>
          <p:cNvSpPr>
            <a:spLocks noGrp="1"/>
          </p:cNvSpPr>
          <p:nvPr>
            <p:ph idx="13"/>
          </p:nvPr>
        </p:nvSpPr>
        <p:spPr/>
        <p:txBody>
          <a:bodyPr/>
          <a:lstStyle/>
          <a:p>
            <a:r>
              <a:rPr lang="en-GB" dirty="0"/>
              <a:t>The role of language in global business</a:t>
            </a:r>
          </a:p>
          <a:p>
            <a:r>
              <a:rPr lang="en-GB" dirty="0"/>
              <a:t>English as Lingua France (ELF &amp; BELF)</a:t>
            </a:r>
          </a:p>
          <a:p>
            <a:r>
              <a:rPr lang="en-GB" dirty="0"/>
              <a:t>Intercultural Business Communication strategy</a:t>
            </a:r>
          </a:p>
        </p:txBody>
      </p:sp>
    </p:spTree>
    <p:extLst>
      <p:ext uri="{BB962C8B-B14F-4D97-AF65-F5344CB8AC3E}">
        <p14:creationId xmlns:p14="http://schemas.microsoft.com/office/powerpoint/2010/main" val="15921233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9C858-3C3D-2BD7-2A5E-1F9D3E7CD7BC}"/>
              </a:ext>
            </a:extLst>
          </p:cNvPr>
          <p:cNvSpPr>
            <a:spLocks noGrp="1"/>
          </p:cNvSpPr>
          <p:nvPr>
            <p:ph type="title"/>
          </p:nvPr>
        </p:nvSpPr>
        <p:spPr/>
        <p:txBody>
          <a:bodyPr/>
          <a:lstStyle/>
          <a:p>
            <a:r>
              <a:rPr lang="en-GB" dirty="0"/>
              <a:t>Seminar questions</a:t>
            </a:r>
          </a:p>
        </p:txBody>
      </p:sp>
      <p:sp>
        <p:nvSpPr>
          <p:cNvPr id="3" name="Content Placeholder 2">
            <a:extLst>
              <a:ext uri="{FF2B5EF4-FFF2-40B4-BE49-F238E27FC236}">
                <a16:creationId xmlns:a16="http://schemas.microsoft.com/office/drawing/2014/main" id="{38F690F4-3ACD-30C9-9444-CF1712C58AAF}"/>
              </a:ext>
            </a:extLst>
          </p:cNvPr>
          <p:cNvSpPr>
            <a:spLocks noGrp="1"/>
          </p:cNvSpPr>
          <p:nvPr>
            <p:ph idx="13"/>
          </p:nvPr>
        </p:nvSpPr>
        <p:spPr/>
        <p:txBody>
          <a:bodyPr/>
          <a:lstStyle/>
          <a:p>
            <a:pPr marL="457200" indent="-457200">
              <a:buFont typeface="Arial" panose="020B0604020202020204" pitchFamily="34" charset="0"/>
              <a:buChar char="•"/>
            </a:pPr>
            <a:r>
              <a:rPr lang="en-GB" dirty="0"/>
              <a:t>Why should companies adopt a common corporate language?</a:t>
            </a:r>
          </a:p>
          <a:p>
            <a:pPr marL="457200" indent="-457200">
              <a:buFont typeface="Arial" panose="020B0604020202020204" pitchFamily="34" charset="0"/>
              <a:buChar char="•"/>
            </a:pPr>
            <a:r>
              <a:rPr lang="en-GB" dirty="0"/>
              <a:t>Why English? Why not Mandarin?</a:t>
            </a:r>
          </a:p>
          <a:p>
            <a:pPr marL="457200" indent="-457200">
              <a:buFont typeface="Arial" panose="020B0604020202020204" pitchFamily="34" charset="0"/>
              <a:buChar char="•"/>
            </a:pPr>
            <a:r>
              <a:rPr lang="en-GB" dirty="0"/>
              <a:t>What can go wrong when companies introduce a single corporate language?</a:t>
            </a:r>
          </a:p>
          <a:p>
            <a:pPr marL="457200" indent="-457200">
              <a:buFont typeface="Arial" panose="020B0604020202020204" pitchFamily="34" charset="0"/>
              <a:buChar char="•"/>
            </a:pPr>
            <a:r>
              <a:rPr lang="en-GB" dirty="0"/>
              <a:t>What should companies do in order to get buy-in from employees</a:t>
            </a:r>
          </a:p>
          <a:p>
            <a:pPr marL="457200" indent="-457200">
              <a:buFont typeface="Arial" panose="020B0604020202020204" pitchFamily="34" charset="0"/>
              <a:buChar char="•"/>
            </a:pPr>
            <a:r>
              <a:rPr lang="en-GB" dirty="0"/>
              <a:t>What should native/proficient speakers do to help?</a:t>
            </a:r>
          </a:p>
          <a:p>
            <a:pPr marL="457200" indent="-457200">
              <a:buFont typeface="Arial" panose="020B0604020202020204" pitchFamily="34" charset="0"/>
              <a:buChar char="•"/>
            </a:pPr>
            <a:endParaRPr lang="en-GB" dirty="0"/>
          </a:p>
          <a:p>
            <a:pPr marL="457200" indent="-457200">
              <a:buFont typeface="Arial" panose="020B0604020202020204" pitchFamily="34" charset="0"/>
              <a:buChar char="•"/>
            </a:pPr>
            <a:r>
              <a:rPr lang="en-GB" dirty="0"/>
              <a:t>Have a look at the HBR article: Global Business Speaks English.</a:t>
            </a:r>
          </a:p>
        </p:txBody>
      </p:sp>
    </p:spTree>
    <p:extLst>
      <p:ext uri="{BB962C8B-B14F-4D97-AF65-F5344CB8AC3E}">
        <p14:creationId xmlns:p14="http://schemas.microsoft.com/office/powerpoint/2010/main" val="2297673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E179-1FF7-5D67-DE20-07FCF3142CB9}"/>
              </a:ext>
            </a:extLst>
          </p:cNvPr>
          <p:cNvSpPr>
            <a:spLocks noGrp="1"/>
          </p:cNvSpPr>
          <p:nvPr>
            <p:ph type="title"/>
          </p:nvPr>
        </p:nvSpPr>
        <p:spPr/>
        <p:txBody>
          <a:bodyPr/>
          <a:lstStyle/>
          <a:p>
            <a:r>
              <a:rPr lang="en-GB" dirty="0"/>
              <a:t>Seminar activity 2.</a:t>
            </a:r>
          </a:p>
        </p:txBody>
      </p:sp>
      <p:sp>
        <p:nvSpPr>
          <p:cNvPr id="3" name="Content Placeholder 2">
            <a:extLst>
              <a:ext uri="{FF2B5EF4-FFF2-40B4-BE49-F238E27FC236}">
                <a16:creationId xmlns:a16="http://schemas.microsoft.com/office/drawing/2014/main" id="{E38FC967-C8C0-E26F-DE19-6AB8EBABC11E}"/>
              </a:ext>
            </a:extLst>
          </p:cNvPr>
          <p:cNvSpPr>
            <a:spLocks noGrp="1"/>
          </p:cNvSpPr>
          <p:nvPr>
            <p:ph idx="13"/>
          </p:nvPr>
        </p:nvSpPr>
        <p:spPr/>
        <p:txBody>
          <a:bodyPr/>
          <a:lstStyle/>
          <a:p>
            <a:r>
              <a:rPr lang="en-GB" dirty="0"/>
              <a:t>Using the country cultures we have chosen for the assignment</a:t>
            </a:r>
          </a:p>
          <a:p>
            <a:pPr marL="457200" indent="-457200">
              <a:buFont typeface="Arial" panose="020B0604020202020204" pitchFamily="34" charset="0"/>
              <a:buChar char="•"/>
            </a:pPr>
            <a:r>
              <a:rPr lang="en-GB" dirty="0"/>
              <a:t>Think about the communication issues the group may experience</a:t>
            </a:r>
          </a:p>
          <a:p>
            <a:pPr marL="457200" indent="-457200">
              <a:buFont typeface="Arial" panose="020B0604020202020204" pitchFamily="34" charset="0"/>
              <a:buChar char="•"/>
            </a:pPr>
            <a:r>
              <a:rPr lang="en-GB" dirty="0"/>
              <a:t>What could happen when there is a disagreement, or negative feedback needs to be given shared?</a:t>
            </a:r>
          </a:p>
          <a:p>
            <a:pPr marL="457200" indent="-457200">
              <a:buFont typeface="Arial" panose="020B0604020202020204" pitchFamily="34" charset="0"/>
              <a:buChar char="•"/>
            </a:pPr>
            <a:r>
              <a:rPr lang="en-GB" dirty="0">
                <a:hlinkClick r:id="rId3"/>
              </a:rPr>
              <a:t>Link to Padlet </a:t>
            </a:r>
            <a:endParaRPr lang="en-GB" dirty="0"/>
          </a:p>
        </p:txBody>
      </p:sp>
      <p:pic>
        <p:nvPicPr>
          <p:cNvPr id="5" name="Picture 4">
            <a:extLst>
              <a:ext uri="{FF2B5EF4-FFF2-40B4-BE49-F238E27FC236}">
                <a16:creationId xmlns:a16="http://schemas.microsoft.com/office/drawing/2014/main" id="{695AB34B-2DF4-A056-1FC6-6F6AA0BD92F8}"/>
              </a:ext>
            </a:extLst>
          </p:cNvPr>
          <p:cNvPicPr>
            <a:picLocks noChangeAspect="1"/>
          </p:cNvPicPr>
          <p:nvPr/>
        </p:nvPicPr>
        <p:blipFill>
          <a:blip r:embed="rId4"/>
          <a:stretch>
            <a:fillRect/>
          </a:stretch>
        </p:blipFill>
        <p:spPr>
          <a:xfrm>
            <a:off x="5875237" y="0"/>
            <a:ext cx="6316763" cy="6316763"/>
          </a:xfrm>
          <a:prstGeom prst="rect">
            <a:avLst/>
          </a:prstGeom>
        </p:spPr>
      </p:pic>
    </p:spTree>
    <p:extLst>
      <p:ext uri="{BB962C8B-B14F-4D97-AF65-F5344CB8AC3E}">
        <p14:creationId xmlns:p14="http://schemas.microsoft.com/office/powerpoint/2010/main" val="3920618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EEBC0-6269-C096-9949-5640397D3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DDE61-5BF5-B85F-EE28-80D8B43533EC}"/>
              </a:ext>
            </a:extLst>
          </p:cNvPr>
          <p:cNvSpPr>
            <a:spLocks noGrp="1"/>
          </p:cNvSpPr>
          <p:nvPr>
            <p:ph type="title"/>
          </p:nvPr>
        </p:nvSpPr>
        <p:spPr>
          <a:xfrm>
            <a:off x="388744" y="642887"/>
            <a:ext cx="7858273" cy="625843"/>
          </a:xfrm>
        </p:spPr>
        <p:txBody>
          <a:bodyPr/>
          <a:lstStyle/>
          <a:p>
            <a:r>
              <a:rPr lang="en-GB" dirty="0"/>
              <a:t>QUESTIONS ABOUT ASSESSMENT</a:t>
            </a:r>
          </a:p>
        </p:txBody>
      </p:sp>
      <p:sp>
        <p:nvSpPr>
          <p:cNvPr id="3" name="Content Placeholder 2">
            <a:extLst>
              <a:ext uri="{FF2B5EF4-FFF2-40B4-BE49-F238E27FC236}">
                <a16:creationId xmlns:a16="http://schemas.microsoft.com/office/drawing/2014/main" id="{39512254-A7C3-69EB-07A4-E9CAB616E6CA}"/>
              </a:ext>
            </a:extLst>
          </p:cNvPr>
          <p:cNvSpPr>
            <a:spLocks noGrp="1"/>
          </p:cNvSpPr>
          <p:nvPr>
            <p:ph idx="13"/>
          </p:nvPr>
        </p:nvSpPr>
        <p:spPr/>
        <p:txBody>
          <a:bodyPr/>
          <a:lstStyle/>
          <a:p>
            <a:pPr marL="457200" indent="-457200">
              <a:buFont typeface="Arial" panose="020B0604020202020204" pitchFamily="34" charset="0"/>
              <a:buChar char="•"/>
            </a:pPr>
            <a:r>
              <a:rPr lang="en-GB" dirty="0"/>
              <a:t>If you have any questions about Assessments. You can post them at the link below and the MT can respond to them.</a:t>
            </a:r>
          </a:p>
          <a:p>
            <a:pPr marL="457200" indent="-457200">
              <a:buFont typeface="Arial" panose="020B0604020202020204" pitchFamily="34" charset="0"/>
              <a:buChar char="•"/>
            </a:pPr>
            <a:endParaRPr lang="en-GB" dirty="0"/>
          </a:p>
          <a:p>
            <a:pPr marL="457200" indent="-457200">
              <a:buFont typeface="Arial" panose="020B0604020202020204" pitchFamily="34" charset="0"/>
              <a:buChar char="•"/>
            </a:pPr>
            <a:r>
              <a:rPr lang="en-GB" dirty="0">
                <a:hlinkClick r:id="rId3"/>
              </a:rPr>
              <a:t>Link</a:t>
            </a:r>
            <a:r>
              <a:rPr lang="en-GB" dirty="0"/>
              <a:t> </a:t>
            </a:r>
          </a:p>
        </p:txBody>
      </p:sp>
      <p:pic>
        <p:nvPicPr>
          <p:cNvPr id="6" name="Picture 5">
            <a:extLst>
              <a:ext uri="{FF2B5EF4-FFF2-40B4-BE49-F238E27FC236}">
                <a16:creationId xmlns:a16="http://schemas.microsoft.com/office/drawing/2014/main" id="{F53AAF50-715F-71C7-A855-B898F72DFDF2}"/>
              </a:ext>
            </a:extLst>
          </p:cNvPr>
          <p:cNvPicPr>
            <a:picLocks noChangeAspect="1"/>
          </p:cNvPicPr>
          <p:nvPr/>
        </p:nvPicPr>
        <p:blipFill>
          <a:blip r:embed="rId4"/>
          <a:stretch>
            <a:fillRect/>
          </a:stretch>
        </p:blipFill>
        <p:spPr>
          <a:xfrm>
            <a:off x="6350726" y="1268730"/>
            <a:ext cx="5290458" cy="5290458"/>
          </a:xfrm>
          <a:prstGeom prst="rect">
            <a:avLst/>
          </a:prstGeom>
        </p:spPr>
      </p:pic>
    </p:spTree>
    <p:extLst>
      <p:ext uri="{BB962C8B-B14F-4D97-AF65-F5344CB8AC3E}">
        <p14:creationId xmlns:p14="http://schemas.microsoft.com/office/powerpoint/2010/main" val="3482846156"/>
      </p:ext>
    </p:extLst>
  </p:cSld>
  <p:clrMapOvr>
    <a:masterClrMapping/>
  </p:clrMapOvr>
</p:sld>
</file>

<file path=ppt/theme/theme1.xml><?xml version="1.0" encoding="utf-8"?>
<a:theme xmlns:a="http://schemas.openxmlformats.org/drawingml/2006/main" name="Logo 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le + Text /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 Text +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84380d3-b1f4-4bf6-bdd3-5e699005c33b">
      <Terms xmlns="http://schemas.microsoft.com/office/infopath/2007/PartnerControls"/>
    </lcf76f155ced4ddcb4097134ff3c332f>
    <TaxCatchAll xmlns="9296bcf7-f7b2-4004-b6a3-d27e747f2bab" xsi:nil="true"/>
    <ImageCreateDate xmlns="184380D3-B1F4-4BF6-BDD3-5E699005C33B" xsi:nil="true"/>
    <PublishingExpirationDate xmlns="http://schemas.microsoft.com/sharepoint/v3" xsi:nil="true"/>
    <PublishingStartDate xmlns="http://schemas.microsoft.com/sharepoint/v3" xsi:nil="true"/>
    <wic_System_Copyright xmlns="http://schemas.microsoft.com/sharepoint/v3/fields" xsi:nil="true"/>
    <_dlc_DocId xmlns="9296bcf7-f7b2-4004-b6a3-d27e747f2bab">TAFXHH6S76DC-1259033518-99</_dlc_DocId>
    <_dlc_DocIdUrl xmlns="9296bcf7-f7b2-4004-b6a3-d27e747f2bab">
      <Url>https://connectglosac.sharepoint.com/sites/staffnet/cmsr/_layouts/15/DocIdRedir.aspx?ID=TAFXHH6S76DC-1259033518-99</Url>
      <Description>TAFXHH6S76DC-1259033518-99</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122952C63813C74B823E456627F557FD" ma:contentTypeVersion="11" ma:contentTypeDescription="Upload an image." ma:contentTypeScope="" ma:versionID="15aaeb137f7df85f828f790d62f34bbf">
  <xsd:schema xmlns:xsd="http://www.w3.org/2001/XMLSchema" xmlns:xs="http://www.w3.org/2001/XMLSchema" xmlns:p="http://schemas.microsoft.com/office/2006/metadata/properties" xmlns:ns1="http://schemas.microsoft.com/sharepoint/v3" xmlns:ns2="184380D3-B1F4-4BF6-BDD3-5E699005C33B" xmlns:ns3="http://schemas.microsoft.com/sharepoint/v3/fields" xmlns:ns4="9296bcf7-f7b2-4004-b6a3-d27e747f2bab" xmlns:ns5="184380d3-b1f4-4bf6-bdd3-5e699005c33b" targetNamespace="http://schemas.microsoft.com/office/2006/metadata/properties" ma:root="true" ma:fieldsID="e29b7e4e23d7aa2f905ae6417251a131" ns1:_="" ns2:_="" ns3:_="" ns4:_="" ns5:_="">
    <xsd:import namespace="http://schemas.microsoft.com/sharepoint/v3"/>
    <xsd:import namespace="184380D3-B1F4-4BF6-BDD3-5E699005C33B"/>
    <xsd:import namespace="http://schemas.microsoft.com/sharepoint/v3/fields"/>
    <xsd:import namespace="9296bcf7-f7b2-4004-b6a3-d27e747f2bab"/>
    <xsd:import namespace="184380d3-b1f4-4bf6-bdd3-5e699005c33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4:_dlc_DocId" minOccurs="0"/>
                <xsd:element ref="ns4:_dlc_DocIdUrl" minOccurs="0"/>
                <xsd:element ref="ns4:_dlc_DocIdPersistId" minOccurs="0"/>
                <xsd:element ref="ns1:PublishingStartDate" minOccurs="0"/>
                <xsd:element ref="ns1:PublishingExpirationDate" minOccurs="0"/>
                <xsd:element ref="ns5:MediaServiceMetadata" minOccurs="0"/>
                <xsd:element ref="ns5:MediaServiceFastMetadata" minOccurs="0"/>
                <xsd:element ref="ns5:MediaServiceDateTaken" minOccurs="0"/>
                <xsd:element ref="ns5:MediaServiceAutoTags" minOccurs="0"/>
                <xsd:element ref="ns5:MediaServiceOCR" minOccurs="0"/>
                <xsd:element ref="ns5:MediaServiceGenerationTime" minOccurs="0"/>
                <xsd:element ref="ns5:MediaServiceEventHashCode" minOccurs="0"/>
                <xsd:element ref="ns5:lcf76f155ced4ddcb4097134ff3c332f" minOccurs="0"/>
                <xsd:element ref="ns4:TaxCatchAll" minOccurs="0"/>
                <xsd:element ref="ns5: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30" nillable="true" ma:displayName="Scheduling Start Date" ma:description="" ma:hidden="true" ma:internalName="PublishingStartDate">
      <xsd:simpleType>
        <xsd:restriction base="dms:Unknown"/>
      </xsd:simpleType>
    </xsd:element>
    <xsd:element name="PublishingExpirationDate" ma:index="31"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6bcf7-f7b2-4004-b6a3-d27e747f2bab" elementFormDefault="qualified">
    <xsd:import namespace="http://schemas.microsoft.com/office/2006/documentManagement/types"/>
    <xsd:import namespace="http://schemas.microsoft.com/office/infopath/2007/PartnerControls"/>
    <xsd:element name="_dlc_DocId" ma:index="27" nillable="true" ma:displayName="Document ID Value" ma:description="The value of the document ID assigned to this item." ma:internalName="_dlc_DocId" ma:readOnly="true">
      <xsd:simpleType>
        <xsd:restriction base="dms:Text"/>
      </xsd:simpleType>
    </xsd:element>
    <xsd:element name="_dlc_DocIdUrl" ma:index="2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element name="TaxCatchAll" ma:index="41" nillable="true" ma:displayName="Taxonomy Catch All Column" ma:hidden="true" ma:list="{ac9252a4-f71c-4d26-b614-14265013b1b1}" ma:internalName="TaxCatchAll" ma:showField="CatchAllData" ma:web="9296bcf7-f7b2-4004-b6a3-d27e747f2ba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MediaServiceMetadata" ma:index="32" nillable="true" ma:displayName="MediaServiceMetadata" ma:hidden="true" ma:internalName="MediaServiceMetadata" ma:readOnly="true">
      <xsd:simpleType>
        <xsd:restriction base="dms:Note"/>
      </xsd:simpleType>
    </xsd:element>
    <xsd:element name="MediaServiceFastMetadata" ma:index="33" nillable="true" ma:displayName="MediaServiceFastMetadata" ma:hidden="true" ma:internalName="MediaServiceFastMetadata" ma:readOnly="true">
      <xsd:simpleType>
        <xsd:restriction base="dms:Note"/>
      </xsd:simpleType>
    </xsd:element>
    <xsd:element name="MediaServiceDateTaken" ma:index="34" nillable="true" ma:displayName="MediaServiceDateTaken" ma:hidden="true" ma:internalName="MediaServiceDateTaken" ma:readOnly="true">
      <xsd:simpleType>
        <xsd:restriction base="dms:Text"/>
      </xsd:simpleType>
    </xsd:element>
    <xsd:element name="MediaServiceAutoTags" ma:index="35" nillable="true" ma:displayName="Tags" ma:internalName="MediaServiceAutoTags"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d6c6c170-7366-48ed-88e6-2840e021297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3E0513-1EB6-44C4-AED3-E329FEC1642A}">
  <ds:schemaRefs>
    <ds:schemaRef ds:uri="184380d3-b1f4-4bf6-bdd3-5e699005c33b"/>
    <ds:schemaRef ds:uri="http://purl.org/dc/terms/"/>
    <ds:schemaRef ds:uri="184380D3-B1F4-4BF6-BDD3-5E699005C33B"/>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9296bcf7-f7b2-4004-b6a3-d27e747f2bab"/>
    <ds:schemaRef ds:uri="http://purl.org/dc/elements/1.1/"/>
    <ds:schemaRef ds:uri="http://purl.org/dc/dcmitype/"/>
    <ds:schemaRef ds:uri="http://schemas.openxmlformats.org/package/2006/metadata/core-properties"/>
    <ds:schemaRef ds:uri="http://schemas.microsoft.com/sharepoint/v3/fields"/>
    <ds:schemaRef ds:uri="http://schemas.microsoft.com/sharepoint/v3"/>
  </ds:schemaRefs>
</ds:datastoreItem>
</file>

<file path=customXml/itemProps2.xml><?xml version="1.0" encoding="utf-8"?>
<ds:datastoreItem xmlns:ds="http://schemas.openxmlformats.org/officeDocument/2006/customXml" ds:itemID="{2BBBC34D-5163-4DE0-B1B4-340B6D9145D3}">
  <ds:schemaRefs>
    <ds:schemaRef ds:uri="http://schemas.microsoft.com/sharepoint/events"/>
  </ds:schemaRefs>
</ds:datastoreItem>
</file>

<file path=customXml/itemProps3.xml><?xml version="1.0" encoding="utf-8"?>
<ds:datastoreItem xmlns:ds="http://schemas.openxmlformats.org/officeDocument/2006/customXml" ds:itemID="{63CBCD9E-ACAC-4D3F-8BAD-35A915F76B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84380D3-B1F4-4BF6-BDD3-5E699005C33B"/>
    <ds:schemaRef ds:uri="http://schemas.microsoft.com/sharepoint/v3/fields"/>
    <ds:schemaRef ds:uri="9296bcf7-f7b2-4004-b6a3-d27e747f2bab"/>
    <ds:schemaRef ds:uri="184380d3-b1f4-4bf6-bdd3-5e699005c3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D0A6366-8B3A-427D-8B2B-B54AD2C58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13674</TotalTime>
  <Words>3694</Words>
  <Application>Microsoft Office PowerPoint</Application>
  <PresentationFormat>Widescreen</PresentationFormat>
  <Paragraphs>397</Paragraphs>
  <Slides>41</Slides>
  <Notes>41</Notes>
  <HiddenSlides>0</HiddenSlides>
  <MMClips>1</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41</vt:i4>
      </vt:variant>
    </vt:vector>
  </HeadingPairs>
  <TitlesOfParts>
    <vt:vector size="57" baseType="lpstr">
      <vt:lpstr>Arial</vt:lpstr>
      <vt:lpstr>ArialNarrow</vt:lpstr>
      <vt:lpstr>Calibri</vt:lpstr>
      <vt:lpstr>Georgia</vt:lpstr>
      <vt:lpstr>Helvetica</vt:lpstr>
      <vt:lpstr>Impact</vt:lpstr>
      <vt:lpstr>Open Sans</vt:lpstr>
      <vt:lpstr>robotoregular</vt:lpstr>
      <vt:lpstr>Segoe UI</vt:lpstr>
      <vt:lpstr>System Font Regular</vt:lpstr>
      <vt:lpstr>Times New Roman</vt:lpstr>
      <vt:lpstr>Wingdings</vt:lpstr>
      <vt:lpstr>Logo Intro</vt:lpstr>
      <vt:lpstr>Title</vt:lpstr>
      <vt:lpstr>Title + Text / Image</vt:lpstr>
      <vt:lpstr>Title, Text + Image</vt:lpstr>
      <vt:lpstr>BM7703 Cross-cultural Issues in international business  SESSION 4 Communicating across cultures Part 2  Sara hooke</vt:lpstr>
      <vt:lpstr>Communicating across cultures Part 2</vt:lpstr>
      <vt:lpstr>Why are we looking at this?</vt:lpstr>
      <vt:lpstr>Why are we looking at this?</vt:lpstr>
      <vt:lpstr>SESSION AGENDA</vt:lpstr>
      <vt:lpstr>Recap: DEFINITIONS OF COMMUNICATION</vt:lpstr>
      <vt:lpstr>IMPORTANCE OF COMMUNICATION IN BUSINESS</vt:lpstr>
      <vt:lpstr>PowerPoint Presentation</vt:lpstr>
      <vt:lpstr>Recap: DEFINITIONS OF COMMUNICATION</vt:lpstr>
      <vt:lpstr>MODEL OF CROSS CULTURAL COMMUNICATION</vt:lpstr>
      <vt:lpstr>CULTURAL VARIABLES IN THE BUSINESS COMMUNICATION PROCESS</vt:lpstr>
      <vt:lpstr>Lingua Franca</vt:lpstr>
      <vt:lpstr>SOURCES OF TROUBLE IN BUSINESS ENGLISH AS A LINGUA FRANCA</vt:lpstr>
      <vt:lpstr>Accents…</vt:lpstr>
      <vt:lpstr>LANGUAGE IN BUSINESS ENCOUNTERS</vt:lpstr>
      <vt:lpstr>DIFFERENT MEANING US                                             UK</vt:lpstr>
      <vt:lpstr>SPOKEN LANGUAGE IN HIGH AND LOW CONTEXT CULTURES</vt:lpstr>
      <vt:lpstr>PowerPoint Presentation</vt:lpstr>
      <vt:lpstr>HIGH/LOW CONTEXT CULTURES COMPARISON</vt:lpstr>
      <vt:lpstr>PowerPoint Presentation</vt:lpstr>
      <vt:lpstr>PowerPoint Presentation</vt:lpstr>
      <vt:lpstr>COMMUNICATION AND COLLABORATION</vt:lpstr>
      <vt:lpstr>Is miscommunication most likely between:</vt:lpstr>
      <vt:lpstr>THE ROLE OF LANGUAGE IN GLOBAL BUSINESS </vt:lpstr>
      <vt:lpstr>LANGUAGE &amp; RELATIONSHIPS</vt:lpstr>
      <vt:lpstr>COMMUNICATION CHANNEL &amp; CULTURE</vt:lpstr>
      <vt:lpstr>COMPUTER MEDIATED COMMUNICATION</vt:lpstr>
      <vt:lpstr>CAUSES OF COMMUNICATION PROBLEMS</vt:lpstr>
      <vt:lpstr>CAUSES OF COMMUNICATION PROBLEMS</vt:lpstr>
      <vt:lpstr>The Role of Silence in Verbal Communication</vt:lpstr>
      <vt:lpstr>GUIDELINES FOR BUILDING TRUST GLOBALLY</vt:lpstr>
      <vt:lpstr>INTERCULTURAL BUSINESS COMMUNICATION (IBC)</vt:lpstr>
      <vt:lpstr>INTERCULTURAL BUSINESS COMMUNICATION IS A DYNAMIC PROCESS </vt:lpstr>
      <vt:lpstr>INTERCULTURAL BUSINESS COMMUNICATION MODEL</vt:lpstr>
      <vt:lpstr>INTERCULTURAL BUSINESS COMMUNICATION</vt:lpstr>
      <vt:lpstr>INTERCULTURAL BUSINESS COMMUNICATION STRATEGY</vt:lpstr>
      <vt:lpstr>DRIVING FORCES OF INTERCULTURAL COMMUNICATION</vt:lpstr>
      <vt:lpstr>Summary of communication across cultures Part 2.</vt:lpstr>
      <vt:lpstr>Seminar questions</vt:lpstr>
      <vt:lpstr>Seminar activity 2.</vt:lpstr>
      <vt:lpstr>QUESTIONS ABOUT ASSESSMENT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RCA_PowerPoint_Template</dc:title>
  <dc:subject/>
  <dc:creator>Bond&amp;Coyne</dc:creator>
  <cp:keywords/>
  <dc:description/>
  <cp:lastModifiedBy>Anyogo, Ene</cp:lastModifiedBy>
  <cp:revision>412</cp:revision>
  <cp:lastPrinted>2024-10-23T09:18:17Z</cp:lastPrinted>
  <dcterms:created xsi:type="dcterms:W3CDTF">2020-09-16T11:14:25Z</dcterms:created>
  <dcterms:modified xsi:type="dcterms:W3CDTF">2025-10-13T23:55:13Z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0x0101009148F5A04DDD49CBA7127AADA5FB792B00AADE34325A8B49CDA8BB4DB53328F21400122952C63813C74B823E456627F557FD</vt:lpwstr>
  </property>
  <property fmtid="{D5CDD505-2E9C-101B-9397-08002B2CF9AE}" pid="3" name="_dlc_DocIdItemGuid">
    <vt:lpwstr>96d1798d-d796-4f1d-8532-6a33cd226651</vt:lpwstr>
  </property>
  <property fmtid="{D5CDD505-2E9C-101B-9397-08002B2CF9AE}" pid="4" name="MediaServiceImageTags">
    <vt:lpwstr/>
  </property>
</Properties>
</file>